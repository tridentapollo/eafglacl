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media/image8.jp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3" r:id="rId8"/>
    <p:sldId id="264" r:id="rId9"/>
    <p:sldId id="265" r:id="rId10"/>
    <p:sldId id="266" r:id="rId11"/>
    <p:sldId id="267" r:id="rId12"/>
    <p:sldId id="268" r:id="rId13"/>
    <p:sldId id="269" r:id="rId14"/>
    <p:sldId id="278" r:id="rId15"/>
    <p:sldId id="272" r:id="rId16"/>
    <p:sldId id="273" r:id="rId17"/>
    <p:sldId id="275" r:id="rId18"/>
    <p:sldId id="276" r:id="rId19"/>
    <p:sldId id="277" r:id="rId20"/>
  </p:sldIdLst>
  <p:sldSz cx="14401800" cy="8096250"/>
  <p:notesSz cx="14401800" cy="80962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0808"/>
    <a:srgbClr val="646464"/>
    <a:srgbClr val="E5F3DB"/>
    <a:srgbClr val="EBEEE0"/>
    <a:srgbClr val="99FF99"/>
    <a:srgbClr val="EBECE2"/>
    <a:srgbClr val="EBEAE3"/>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0" d="100"/>
          <a:sy n="50" d="100"/>
        </p:scale>
        <p:origin x="60" y="103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jp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609600" y="6791325"/>
            <a:ext cx="542925" cy="428625"/>
          </a:xfrm>
          <a:prstGeom prst="rect">
            <a:avLst/>
          </a:prstGeom>
        </p:spPr>
      </p:pic>
      <p:pic>
        <p:nvPicPr>
          <p:cNvPr id="17" name="bg object 17"/>
          <p:cNvPicPr/>
          <p:nvPr/>
        </p:nvPicPr>
        <p:blipFill>
          <a:blip r:embed="rId3" cstate="print"/>
          <a:stretch>
            <a:fillRect/>
          </a:stretch>
        </p:blipFill>
        <p:spPr>
          <a:xfrm>
            <a:off x="647700" y="2381250"/>
            <a:ext cx="4648200" cy="1276350"/>
          </a:xfrm>
          <a:prstGeom prst="rect">
            <a:avLst/>
          </a:prstGeom>
        </p:spPr>
      </p:pic>
      <p:pic>
        <p:nvPicPr>
          <p:cNvPr id="18" name="bg object 18"/>
          <p:cNvPicPr/>
          <p:nvPr/>
        </p:nvPicPr>
        <p:blipFill>
          <a:blip r:embed="rId4" cstate="print"/>
          <a:stretch>
            <a:fillRect/>
          </a:stretch>
        </p:blipFill>
        <p:spPr>
          <a:xfrm>
            <a:off x="638175" y="1123950"/>
            <a:ext cx="3419475" cy="933450"/>
          </a:xfrm>
          <a:prstGeom prst="rect">
            <a:avLst/>
          </a:prstGeom>
        </p:spPr>
      </p:pic>
      <p:pic>
        <p:nvPicPr>
          <p:cNvPr id="19" name="bg object 19"/>
          <p:cNvPicPr/>
          <p:nvPr/>
        </p:nvPicPr>
        <p:blipFill>
          <a:blip r:embed="rId5" cstate="print"/>
          <a:stretch>
            <a:fillRect/>
          </a:stretch>
        </p:blipFill>
        <p:spPr>
          <a:xfrm>
            <a:off x="9215437" y="1514475"/>
            <a:ext cx="4633912" cy="4933950"/>
          </a:xfrm>
          <a:prstGeom prst="rect">
            <a:avLst/>
          </a:prstGeom>
        </p:spPr>
      </p:pic>
      <p:sp>
        <p:nvSpPr>
          <p:cNvPr id="2" name="Holder 2"/>
          <p:cNvSpPr>
            <a:spLocks noGrp="1"/>
          </p:cNvSpPr>
          <p:nvPr>
            <p:ph type="ctrTitle"/>
          </p:nvPr>
        </p:nvSpPr>
        <p:spPr>
          <a:xfrm>
            <a:off x="1469156" y="909637"/>
            <a:ext cx="2621279" cy="1358900"/>
          </a:xfrm>
          <a:prstGeom prst="rect">
            <a:avLst/>
          </a:prstGeom>
        </p:spPr>
        <p:txBody>
          <a:bodyPr wrap="square" lIns="0" tIns="0" rIns="0" bIns="0">
            <a:spAutoFit/>
          </a:bodyPr>
          <a:lstStyle>
            <a:lvl1pPr>
              <a:defRPr sz="4350" b="0" i="0">
                <a:solidFill>
                  <a:srgbClr val="131313"/>
                </a:solidFill>
                <a:latin typeface="Cambria"/>
                <a:cs typeface="Cambria"/>
              </a:defRPr>
            </a:lvl1pPr>
          </a:lstStyle>
          <a:p>
            <a:endParaRPr/>
          </a:p>
        </p:txBody>
      </p:sp>
      <p:sp>
        <p:nvSpPr>
          <p:cNvPr id="3" name="Holder 3"/>
          <p:cNvSpPr>
            <a:spLocks noGrp="1"/>
          </p:cNvSpPr>
          <p:nvPr>
            <p:ph type="subTitle" idx="4"/>
          </p:nvPr>
        </p:nvSpPr>
        <p:spPr>
          <a:xfrm>
            <a:off x="2160270" y="4533900"/>
            <a:ext cx="10081260" cy="2024062"/>
          </a:xfrm>
          <a:prstGeom prst="rect">
            <a:avLst/>
          </a:prstGeom>
        </p:spPr>
        <p:txBody>
          <a:bodyPr wrap="square" lIns="0" tIns="0" rIns="0" bIns="0">
            <a:spAutoFit/>
          </a:bodyPr>
          <a:lstStyle>
            <a:lvl1pPr>
              <a:defRPr sz="175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5/13/2026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350" b="0" i="0">
                <a:solidFill>
                  <a:srgbClr val="131313"/>
                </a:solidFill>
                <a:latin typeface="Cambria"/>
                <a:cs typeface="Cambria"/>
              </a:defRPr>
            </a:lvl1pPr>
          </a:lstStyle>
          <a:p>
            <a:endParaRPr/>
          </a:p>
        </p:txBody>
      </p:sp>
      <p:sp>
        <p:nvSpPr>
          <p:cNvPr id="3" name="Holder 3"/>
          <p:cNvSpPr>
            <a:spLocks noGrp="1"/>
          </p:cNvSpPr>
          <p:nvPr>
            <p:ph type="body" idx="1"/>
          </p:nvPr>
        </p:nvSpPr>
        <p:spPr/>
        <p:txBody>
          <a:bodyPr lIns="0" tIns="0" rIns="0" bIns="0"/>
          <a:lstStyle>
            <a:lvl1pPr>
              <a:defRPr sz="175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5/13/2026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350" b="0" i="0">
                <a:solidFill>
                  <a:srgbClr val="131313"/>
                </a:solidFill>
                <a:latin typeface="Cambria"/>
                <a:cs typeface="Cambria"/>
              </a:defRPr>
            </a:lvl1pPr>
          </a:lstStyle>
          <a:p>
            <a:endParaRPr/>
          </a:p>
        </p:txBody>
      </p:sp>
      <p:sp>
        <p:nvSpPr>
          <p:cNvPr id="3" name="Holder 3"/>
          <p:cNvSpPr>
            <a:spLocks noGrp="1"/>
          </p:cNvSpPr>
          <p:nvPr>
            <p:ph sz="half" idx="2"/>
          </p:nvPr>
        </p:nvSpPr>
        <p:spPr>
          <a:xfrm>
            <a:off x="720090" y="1862137"/>
            <a:ext cx="6264783" cy="534352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7416927" y="1862137"/>
            <a:ext cx="6264783" cy="5343525"/>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5/13/2026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350" b="0" i="0">
                <a:solidFill>
                  <a:srgbClr val="131313"/>
                </a:solidFill>
                <a:latin typeface="Cambria"/>
                <a:cs typeface="Cambri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5/13/2026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5/13/2026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509933" y="2324364"/>
            <a:ext cx="462915" cy="684530"/>
          </a:xfrm>
          <a:prstGeom prst="rect">
            <a:avLst/>
          </a:prstGeom>
        </p:spPr>
        <p:txBody>
          <a:bodyPr wrap="square" lIns="0" tIns="0" rIns="0" bIns="0">
            <a:spAutoFit/>
          </a:bodyPr>
          <a:lstStyle>
            <a:lvl1pPr>
              <a:defRPr sz="4350" b="0" i="0">
                <a:solidFill>
                  <a:srgbClr val="131313"/>
                </a:solidFill>
                <a:latin typeface="Cambria"/>
                <a:cs typeface="Cambria"/>
              </a:defRPr>
            </a:lvl1pPr>
          </a:lstStyle>
          <a:p>
            <a:endParaRPr/>
          </a:p>
        </p:txBody>
      </p:sp>
      <p:sp>
        <p:nvSpPr>
          <p:cNvPr id="3" name="Holder 3"/>
          <p:cNvSpPr>
            <a:spLocks noGrp="1"/>
          </p:cNvSpPr>
          <p:nvPr>
            <p:ph type="body" idx="1"/>
          </p:nvPr>
        </p:nvSpPr>
        <p:spPr>
          <a:xfrm>
            <a:off x="657134" y="1967441"/>
            <a:ext cx="6635115" cy="3222625"/>
          </a:xfrm>
          <a:prstGeom prst="rect">
            <a:avLst/>
          </a:prstGeom>
        </p:spPr>
        <p:txBody>
          <a:bodyPr wrap="square" lIns="0" tIns="0" rIns="0" bIns="0">
            <a:spAutoFit/>
          </a:bodyPr>
          <a:lstStyle>
            <a:lvl1pPr>
              <a:defRPr sz="1750" b="0" i="0">
                <a:solidFill>
                  <a:schemeClr val="tx1"/>
                </a:solidFill>
                <a:latin typeface="Arial MT"/>
                <a:cs typeface="Arial MT"/>
              </a:defRPr>
            </a:lvl1pPr>
          </a:lstStyle>
          <a:p>
            <a:endParaRPr/>
          </a:p>
        </p:txBody>
      </p:sp>
      <p:sp>
        <p:nvSpPr>
          <p:cNvPr id="4" name="Holder 4"/>
          <p:cNvSpPr>
            <a:spLocks noGrp="1"/>
          </p:cNvSpPr>
          <p:nvPr>
            <p:ph type="ftr" sz="quarter" idx="5"/>
          </p:nvPr>
        </p:nvSpPr>
        <p:spPr>
          <a:xfrm>
            <a:off x="4896612" y="7529512"/>
            <a:ext cx="4608576" cy="404812"/>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720090" y="7529512"/>
            <a:ext cx="3312414" cy="40481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5/13/2026</a:t>
            </a:fld>
            <a:endParaRPr lang="en-US"/>
          </a:p>
        </p:txBody>
      </p:sp>
      <p:sp>
        <p:nvSpPr>
          <p:cNvPr id="6" name="Holder 6"/>
          <p:cNvSpPr>
            <a:spLocks noGrp="1"/>
          </p:cNvSpPr>
          <p:nvPr>
            <p:ph type="sldNum" sz="quarter" idx="7"/>
          </p:nvPr>
        </p:nvSpPr>
        <p:spPr>
          <a:xfrm>
            <a:off x="10369296" y="7529512"/>
            <a:ext cx="3312414" cy="40481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5.xml"/><Relationship Id="rId4" Type="http://schemas.openxmlformats.org/officeDocument/2006/relationships/image" Target="../media/image15.jp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175" y="5657850"/>
            <a:ext cx="14395450" cy="0"/>
          </a:xfrm>
          <a:custGeom>
            <a:avLst/>
            <a:gdLst/>
            <a:ahLst/>
            <a:cxnLst/>
            <a:rect l="l" t="t" r="r" b="b"/>
            <a:pathLst>
              <a:path w="14395450">
                <a:moveTo>
                  <a:pt x="0" y="0"/>
                </a:moveTo>
                <a:lnTo>
                  <a:pt x="14395454" y="0"/>
                </a:lnTo>
              </a:path>
            </a:pathLst>
          </a:custGeom>
          <a:ln w="19050">
            <a:solidFill>
              <a:srgbClr val="000000"/>
            </a:solidFill>
          </a:ln>
        </p:spPr>
        <p:txBody>
          <a:bodyPr wrap="square" lIns="0" tIns="0" rIns="0" bIns="0" rtlCol="0"/>
          <a:lstStyle/>
          <a:p>
            <a:endParaRPr>
              <a:solidFill>
                <a:srgbClr val="080808"/>
              </a:solidFill>
              <a:latin typeface="Times New Roman" panose="02020603050405020304" pitchFamily="18" charset="0"/>
              <a:cs typeface="Times New Roman" panose="02020603050405020304" pitchFamily="18" charset="0"/>
            </a:endParaRPr>
          </a:p>
        </p:txBody>
      </p:sp>
      <p:sp>
        <p:nvSpPr>
          <p:cNvPr id="4" name="object 4"/>
          <p:cNvSpPr txBox="1">
            <a:spLocks noGrp="1"/>
          </p:cNvSpPr>
          <p:nvPr>
            <p:ph type="title"/>
          </p:nvPr>
        </p:nvSpPr>
        <p:spPr>
          <a:xfrm>
            <a:off x="616790" y="492654"/>
            <a:ext cx="13161010" cy="990600"/>
          </a:xfrm>
          <a:prstGeom prst="rect">
            <a:avLst/>
          </a:prstGeom>
        </p:spPr>
        <p:txBody>
          <a:bodyPr vert="horz" wrap="square" lIns="0" tIns="69850" rIns="0" bIns="0" rtlCol="0">
            <a:spAutoFit/>
          </a:bodyPr>
          <a:lstStyle/>
          <a:p>
            <a:pPr marL="2628900" marR="5080" indent="-2616835">
              <a:lnSpc>
                <a:spcPts val="3600"/>
              </a:lnSpc>
              <a:spcBef>
                <a:spcPts val="550"/>
              </a:spcBef>
            </a:pPr>
            <a:r>
              <a:rPr sz="3300" dirty="0">
                <a:solidFill>
                  <a:srgbClr val="080808"/>
                </a:solidFill>
                <a:latin typeface="Times New Roman" panose="02020603050405020304" pitchFamily="18" charset="0"/>
                <a:cs typeface="Times New Roman" panose="02020603050405020304" pitchFamily="18" charset="0"/>
              </a:rPr>
              <a:t>Emotion-Aware,</a:t>
            </a:r>
            <a:r>
              <a:rPr sz="3300" spc="80" dirty="0">
                <a:solidFill>
                  <a:srgbClr val="080808"/>
                </a:solidFill>
                <a:latin typeface="Times New Roman" panose="02020603050405020304" pitchFamily="18" charset="0"/>
                <a:cs typeface="Times New Roman" panose="02020603050405020304" pitchFamily="18" charset="0"/>
              </a:rPr>
              <a:t> </a:t>
            </a:r>
            <a:r>
              <a:rPr sz="3300" dirty="0">
                <a:solidFill>
                  <a:srgbClr val="080808"/>
                </a:solidFill>
                <a:latin typeface="Times New Roman" panose="02020603050405020304" pitchFamily="18" charset="0"/>
                <a:cs typeface="Times New Roman" panose="02020603050405020304" pitchFamily="18" charset="0"/>
              </a:rPr>
              <a:t>Fact-Grounded</a:t>
            </a:r>
            <a:r>
              <a:rPr sz="3300" spc="525" dirty="0">
                <a:solidFill>
                  <a:srgbClr val="080808"/>
                </a:solidFill>
                <a:latin typeface="Times New Roman" panose="02020603050405020304" pitchFamily="18" charset="0"/>
                <a:cs typeface="Times New Roman" panose="02020603050405020304" pitchFamily="18" charset="0"/>
              </a:rPr>
              <a:t> </a:t>
            </a:r>
            <a:r>
              <a:rPr sz="3300" spc="60" dirty="0">
                <a:solidFill>
                  <a:srgbClr val="080808"/>
                </a:solidFill>
                <a:latin typeface="Times New Roman" panose="02020603050405020304" pitchFamily="18" charset="0"/>
                <a:cs typeface="Times New Roman" panose="02020603050405020304" pitchFamily="18" charset="0"/>
              </a:rPr>
              <a:t>LLM-</a:t>
            </a:r>
            <a:r>
              <a:rPr sz="3300" spc="50" dirty="0">
                <a:solidFill>
                  <a:srgbClr val="080808"/>
                </a:solidFill>
                <a:latin typeface="Times New Roman" panose="02020603050405020304" pitchFamily="18" charset="0"/>
                <a:cs typeface="Times New Roman" panose="02020603050405020304" pitchFamily="18" charset="0"/>
              </a:rPr>
              <a:t>Augmented</a:t>
            </a:r>
            <a:r>
              <a:rPr sz="3300" spc="590" dirty="0">
                <a:solidFill>
                  <a:srgbClr val="080808"/>
                </a:solidFill>
                <a:latin typeface="Times New Roman" panose="02020603050405020304" pitchFamily="18" charset="0"/>
                <a:cs typeface="Times New Roman" panose="02020603050405020304" pitchFamily="18" charset="0"/>
              </a:rPr>
              <a:t> </a:t>
            </a:r>
            <a:r>
              <a:rPr sz="3300" dirty="0">
                <a:solidFill>
                  <a:srgbClr val="080808"/>
                </a:solidFill>
                <a:latin typeface="Times New Roman" panose="02020603050405020304" pitchFamily="18" charset="0"/>
                <a:cs typeface="Times New Roman" panose="02020603050405020304" pitchFamily="18" charset="0"/>
              </a:rPr>
              <a:t>Contrastive</a:t>
            </a:r>
            <a:r>
              <a:rPr sz="3300" spc="555" dirty="0">
                <a:solidFill>
                  <a:srgbClr val="080808"/>
                </a:solidFill>
                <a:latin typeface="Times New Roman" panose="02020603050405020304" pitchFamily="18" charset="0"/>
                <a:cs typeface="Times New Roman" panose="02020603050405020304" pitchFamily="18" charset="0"/>
              </a:rPr>
              <a:t> </a:t>
            </a:r>
            <a:r>
              <a:rPr sz="3300" dirty="0">
                <a:solidFill>
                  <a:srgbClr val="080808"/>
                </a:solidFill>
                <a:latin typeface="Times New Roman" panose="02020603050405020304" pitchFamily="18" charset="0"/>
                <a:cs typeface="Times New Roman" panose="02020603050405020304" pitchFamily="18" charset="0"/>
              </a:rPr>
              <a:t>Learning</a:t>
            </a:r>
            <a:r>
              <a:rPr sz="3300" spc="270" dirty="0">
                <a:solidFill>
                  <a:srgbClr val="080808"/>
                </a:solidFill>
                <a:latin typeface="Times New Roman" panose="02020603050405020304" pitchFamily="18" charset="0"/>
                <a:cs typeface="Times New Roman" panose="02020603050405020304" pitchFamily="18" charset="0"/>
              </a:rPr>
              <a:t> </a:t>
            </a:r>
            <a:r>
              <a:rPr sz="3300" spc="-25" dirty="0">
                <a:solidFill>
                  <a:srgbClr val="080808"/>
                </a:solidFill>
                <a:latin typeface="Times New Roman" panose="02020603050405020304" pitchFamily="18" charset="0"/>
                <a:cs typeface="Times New Roman" panose="02020603050405020304" pitchFamily="18" charset="0"/>
              </a:rPr>
              <a:t>for </a:t>
            </a:r>
            <a:r>
              <a:rPr sz="3300" spc="70" dirty="0">
                <a:solidFill>
                  <a:srgbClr val="080808"/>
                </a:solidFill>
                <a:latin typeface="Times New Roman" panose="02020603050405020304" pitchFamily="18" charset="0"/>
                <a:cs typeface="Times New Roman" panose="02020603050405020304" pitchFamily="18" charset="0"/>
              </a:rPr>
              <a:t>Misinformation</a:t>
            </a:r>
            <a:r>
              <a:rPr sz="3300" spc="-45" dirty="0">
                <a:solidFill>
                  <a:srgbClr val="080808"/>
                </a:solidFill>
                <a:latin typeface="Times New Roman" panose="02020603050405020304" pitchFamily="18" charset="0"/>
                <a:cs typeface="Times New Roman" panose="02020603050405020304" pitchFamily="18" charset="0"/>
              </a:rPr>
              <a:t> </a:t>
            </a:r>
            <a:r>
              <a:rPr sz="3300" dirty="0">
                <a:solidFill>
                  <a:srgbClr val="080808"/>
                </a:solidFill>
                <a:latin typeface="Times New Roman" panose="02020603050405020304" pitchFamily="18" charset="0"/>
                <a:cs typeface="Times New Roman" panose="02020603050405020304" pitchFamily="18" charset="0"/>
              </a:rPr>
              <a:t>Detection</a:t>
            </a:r>
            <a:r>
              <a:rPr sz="3300" spc="270" dirty="0">
                <a:solidFill>
                  <a:srgbClr val="080808"/>
                </a:solidFill>
                <a:latin typeface="Times New Roman" panose="02020603050405020304" pitchFamily="18" charset="0"/>
                <a:cs typeface="Times New Roman" panose="02020603050405020304" pitchFamily="18" charset="0"/>
              </a:rPr>
              <a:t> </a:t>
            </a:r>
            <a:r>
              <a:rPr sz="3300" dirty="0">
                <a:solidFill>
                  <a:srgbClr val="080808"/>
                </a:solidFill>
                <a:latin typeface="Times New Roman" panose="02020603050405020304" pitchFamily="18" charset="0"/>
                <a:cs typeface="Times New Roman" panose="02020603050405020304" pitchFamily="18" charset="0"/>
              </a:rPr>
              <a:t>in</a:t>
            </a:r>
            <a:r>
              <a:rPr sz="3300" spc="-45" dirty="0">
                <a:solidFill>
                  <a:srgbClr val="080808"/>
                </a:solidFill>
                <a:latin typeface="Times New Roman" panose="02020603050405020304" pitchFamily="18" charset="0"/>
                <a:cs typeface="Times New Roman" panose="02020603050405020304" pitchFamily="18" charset="0"/>
              </a:rPr>
              <a:t> </a:t>
            </a:r>
            <a:r>
              <a:rPr sz="3300" spc="-10" dirty="0">
                <a:solidFill>
                  <a:srgbClr val="080808"/>
                </a:solidFill>
                <a:latin typeface="Times New Roman" panose="02020603050405020304" pitchFamily="18" charset="0"/>
                <a:cs typeface="Times New Roman" panose="02020603050405020304" pitchFamily="18" charset="0"/>
              </a:rPr>
              <a:t>Social</a:t>
            </a:r>
            <a:r>
              <a:rPr sz="3300" spc="170" dirty="0">
                <a:solidFill>
                  <a:srgbClr val="080808"/>
                </a:solidFill>
                <a:latin typeface="Times New Roman" panose="02020603050405020304" pitchFamily="18" charset="0"/>
                <a:cs typeface="Times New Roman" panose="02020603050405020304" pitchFamily="18" charset="0"/>
              </a:rPr>
              <a:t> </a:t>
            </a:r>
            <a:r>
              <a:rPr sz="3300" spc="-10" dirty="0">
                <a:solidFill>
                  <a:srgbClr val="080808"/>
                </a:solidFill>
                <a:latin typeface="Times New Roman" panose="02020603050405020304" pitchFamily="18" charset="0"/>
                <a:cs typeface="Times New Roman" panose="02020603050405020304" pitchFamily="18" charset="0"/>
              </a:rPr>
              <a:t>Networks</a:t>
            </a:r>
            <a:endParaRPr sz="3300" dirty="0">
              <a:solidFill>
                <a:srgbClr val="080808"/>
              </a:solidFill>
              <a:latin typeface="Times New Roman" panose="02020603050405020304" pitchFamily="18" charset="0"/>
              <a:cs typeface="Times New Roman" panose="02020603050405020304" pitchFamily="18" charset="0"/>
            </a:endParaRPr>
          </a:p>
        </p:txBody>
      </p:sp>
      <p:sp>
        <p:nvSpPr>
          <p:cNvPr id="5" name="object 5"/>
          <p:cNvSpPr txBox="1"/>
          <p:nvPr/>
        </p:nvSpPr>
        <p:spPr>
          <a:xfrm>
            <a:off x="434580" y="6038585"/>
            <a:ext cx="2034448" cy="869469"/>
          </a:xfrm>
          <a:prstGeom prst="rect">
            <a:avLst/>
          </a:prstGeom>
        </p:spPr>
        <p:txBody>
          <a:bodyPr vert="horz" wrap="square" lIns="0" tIns="35560" rIns="0" bIns="0" rtlCol="0">
            <a:spAutoFit/>
          </a:bodyPr>
          <a:lstStyle/>
          <a:p>
            <a:pPr marL="12700" marR="893444" indent="5715">
              <a:lnSpc>
                <a:spcPts val="2180"/>
              </a:lnSpc>
              <a:spcBef>
                <a:spcPts val="280"/>
              </a:spcBef>
            </a:pPr>
            <a:r>
              <a:rPr sz="1900" spc="45" dirty="0">
                <a:solidFill>
                  <a:srgbClr val="080808"/>
                </a:solidFill>
                <a:latin typeface="Times New Roman" panose="02020603050405020304" pitchFamily="18" charset="0"/>
                <a:cs typeface="Times New Roman" panose="02020603050405020304" pitchFamily="18" charset="0"/>
              </a:rPr>
              <a:t>Group</a:t>
            </a:r>
            <a:r>
              <a:rPr lang="en-US" sz="1900" spc="45" dirty="0">
                <a:solidFill>
                  <a:srgbClr val="080808"/>
                </a:solidFill>
                <a:latin typeface="Times New Roman" panose="02020603050405020304" pitchFamily="18" charset="0"/>
                <a:cs typeface="Times New Roman" panose="02020603050405020304" pitchFamily="18" charset="0"/>
              </a:rPr>
              <a:t> - 9 </a:t>
            </a:r>
            <a:r>
              <a:rPr sz="1900" spc="45" dirty="0">
                <a:solidFill>
                  <a:srgbClr val="080808"/>
                </a:solidFill>
                <a:latin typeface="Times New Roman" panose="02020603050405020304" pitchFamily="18" charset="0"/>
                <a:cs typeface="Times New Roman" panose="02020603050405020304" pitchFamily="18" charset="0"/>
              </a:rPr>
              <a:t> </a:t>
            </a:r>
            <a:r>
              <a:rPr sz="1900" dirty="0">
                <a:solidFill>
                  <a:srgbClr val="080808"/>
                </a:solidFill>
                <a:latin typeface="Times New Roman" panose="02020603050405020304" pitchFamily="18" charset="0"/>
                <a:cs typeface="Times New Roman" panose="02020603050405020304" pitchFamily="18" charset="0"/>
              </a:rPr>
              <a:t>3rd</a:t>
            </a:r>
            <a:r>
              <a:rPr sz="1900" spc="110" dirty="0">
                <a:solidFill>
                  <a:srgbClr val="080808"/>
                </a:solidFill>
                <a:latin typeface="Times New Roman" panose="02020603050405020304" pitchFamily="18" charset="0"/>
                <a:cs typeface="Times New Roman" panose="02020603050405020304" pitchFamily="18" charset="0"/>
              </a:rPr>
              <a:t> </a:t>
            </a:r>
            <a:r>
              <a:rPr sz="1900" spc="-20" dirty="0">
                <a:solidFill>
                  <a:srgbClr val="080808"/>
                </a:solidFill>
                <a:latin typeface="Times New Roman" panose="02020603050405020304" pitchFamily="18" charset="0"/>
                <a:cs typeface="Times New Roman" panose="02020603050405020304" pitchFamily="18" charset="0"/>
              </a:rPr>
              <a:t>Year</a:t>
            </a:r>
            <a:endParaRPr sz="1900" dirty="0">
              <a:solidFill>
                <a:srgbClr val="080808"/>
              </a:solidFill>
              <a:latin typeface="Times New Roman" panose="02020603050405020304" pitchFamily="18" charset="0"/>
              <a:cs typeface="Times New Roman" panose="02020603050405020304" pitchFamily="18" charset="0"/>
            </a:endParaRPr>
          </a:p>
          <a:p>
            <a:pPr marL="27940">
              <a:lnSpc>
                <a:spcPts val="2125"/>
              </a:lnSpc>
            </a:pPr>
            <a:r>
              <a:rPr sz="1950" dirty="0">
                <a:solidFill>
                  <a:srgbClr val="080808"/>
                </a:solidFill>
                <a:latin typeface="Times New Roman" panose="02020603050405020304" pitchFamily="18" charset="0"/>
                <a:cs typeface="Times New Roman" panose="02020603050405020304" pitchFamily="18" charset="0"/>
              </a:rPr>
              <a:t>Batch</a:t>
            </a:r>
            <a:r>
              <a:rPr sz="1950" spc="-5" dirty="0">
                <a:solidFill>
                  <a:srgbClr val="080808"/>
                </a:solidFill>
                <a:latin typeface="Times New Roman" panose="02020603050405020304" pitchFamily="18" charset="0"/>
                <a:cs typeface="Times New Roman" panose="02020603050405020304" pitchFamily="18" charset="0"/>
              </a:rPr>
              <a:t> </a:t>
            </a:r>
            <a:r>
              <a:rPr sz="1950" spc="-90" dirty="0">
                <a:solidFill>
                  <a:srgbClr val="080808"/>
                </a:solidFill>
                <a:latin typeface="Times New Roman" panose="02020603050405020304" pitchFamily="18" charset="0"/>
                <a:cs typeface="Times New Roman" panose="02020603050405020304" pitchFamily="18" charset="0"/>
              </a:rPr>
              <a:t>2023</a:t>
            </a:r>
            <a:r>
              <a:rPr lang="en-US" sz="1950" spc="-90" dirty="0">
                <a:solidFill>
                  <a:srgbClr val="080808"/>
                </a:solidFill>
                <a:latin typeface="Times New Roman" panose="02020603050405020304" pitchFamily="18" charset="0"/>
                <a:cs typeface="Times New Roman" panose="02020603050405020304" pitchFamily="18" charset="0"/>
              </a:rPr>
              <a:t> - </a:t>
            </a:r>
            <a:r>
              <a:rPr sz="1950" spc="-45" dirty="0">
                <a:solidFill>
                  <a:srgbClr val="080808"/>
                </a:solidFill>
                <a:latin typeface="Times New Roman" panose="02020603050405020304" pitchFamily="18" charset="0"/>
                <a:cs typeface="Times New Roman" panose="02020603050405020304" pitchFamily="18" charset="0"/>
              </a:rPr>
              <a:t>2027</a:t>
            </a:r>
            <a:endParaRPr sz="1950" dirty="0">
              <a:solidFill>
                <a:srgbClr val="080808"/>
              </a:solidFill>
              <a:latin typeface="Times New Roman" panose="02020603050405020304" pitchFamily="18" charset="0"/>
              <a:cs typeface="Times New Roman" panose="02020603050405020304" pitchFamily="18" charset="0"/>
            </a:endParaRPr>
          </a:p>
        </p:txBody>
      </p:sp>
      <p:sp>
        <p:nvSpPr>
          <p:cNvPr id="6" name="object 6"/>
          <p:cNvSpPr txBox="1"/>
          <p:nvPr/>
        </p:nvSpPr>
        <p:spPr>
          <a:xfrm>
            <a:off x="2469382" y="2633397"/>
            <a:ext cx="3477260" cy="319405"/>
          </a:xfrm>
          <a:prstGeom prst="rect">
            <a:avLst/>
          </a:prstGeom>
        </p:spPr>
        <p:txBody>
          <a:bodyPr vert="horz" wrap="square" lIns="0" tIns="15875" rIns="0" bIns="0" rtlCol="0">
            <a:spAutoFit/>
          </a:bodyPr>
          <a:lstStyle/>
          <a:p>
            <a:pPr marL="12700">
              <a:lnSpc>
                <a:spcPct val="100000"/>
              </a:lnSpc>
              <a:spcBef>
                <a:spcPts val="125"/>
              </a:spcBef>
            </a:pPr>
            <a:r>
              <a:rPr sz="1900" dirty="0">
                <a:solidFill>
                  <a:srgbClr val="080808"/>
                </a:solidFill>
                <a:latin typeface="Times New Roman" panose="02020603050405020304" pitchFamily="18" charset="0"/>
                <a:cs typeface="Times New Roman" panose="02020603050405020304" pitchFamily="18" charset="0"/>
              </a:rPr>
              <a:t>Faishal</a:t>
            </a:r>
            <a:r>
              <a:rPr sz="1900" spc="80" dirty="0">
                <a:solidFill>
                  <a:srgbClr val="080808"/>
                </a:solidFill>
                <a:latin typeface="Times New Roman" panose="02020603050405020304" pitchFamily="18" charset="0"/>
                <a:cs typeface="Times New Roman" panose="02020603050405020304" pitchFamily="18" charset="0"/>
              </a:rPr>
              <a:t> </a:t>
            </a:r>
            <a:r>
              <a:rPr sz="1900" dirty="0">
                <a:solidFill>
                  <a:srgbClr val="080808"/>
                </a:solidFill>
                <a:latin typeface="Times New Roman" panose="02020603050405020304" pitchFamily="18" charset="0"/>
                <a:cs typeface="Times New Roman" panose="02020603050405020304" pitchFamily="18" charset="0"/>
              </a:rPr>
              <a:t>Abrar</a:t>
            </a:r>
            <a:r>
              <a:rPr sz="1900" spc="30" dirty="0">
                <a:solidFill>
                  <a:srgbClr val="080808"/>
                </a:solidFill>
                <a:latin typeface="Times New Roman" panose="02020603050405020304" pitchFamily="18" charset="0"/>
                <a:cs typeface="Times New Roman" panose="02020603050405020304" pitchFamily="18" charset="0"/>
              </a:rPr>
              <a:t> </a:t>
            </a:r>
            <a:r>
              <a:rPr sz="1900" spc="-60" dirty="0">
                <a:solidFill>
                  <a:srgbClr val="080808"/>
                </a:solidFill>
                <a:latin typeface="Times New Roman" panose="02020603050405020304" pitchFamily="18" charset="0"/>
                <a:cs typeface="Times New Roman" panose="02020603050405020304" pitchFamily="18" charset="0"/>
              </a:rPr>
              <a:t>(12O23OO2O29O5O)</a:t>
            </a:r>
            <a:endParaRPr sz="1900">
              <a:solidFill>
                <a:srgbClr val="080808"/>
              </a:solidFill>
              <a:latin typeface="Times New Roman" panose="02020603050405020304" pitchFamily="18" charset="0"/>
              <a:cs typeface="Times New Roman" panose="02020603050405020304" pitchFamily="18" charset="0"/>
            </a:endParaRPr>
          </a:p>
        </p:txBody>
      </p:sp>
      <p:sp>
        <p:nvSpPr>
          <p:cNvPr id="7" name="object 7"/>
          <p:cNvSpPr txBox="1"/>
          <p:nvPr/>
        </p:nvSpPr>
        <p:spPr>
          <a:xfrm>
            <a:off x="6604901" y="1967970"/>
            <a:ext cx="972819" cy="374650"/>
          </a:xfrm>
          <a:prstGeom prst="rect">
            <a:avLst/>
          </a:prstGeom>
        </p:spPr>
        <p:txBody>
          <a:bodyPr vert="horz" wrap="square" lIns="0" tIns="11430" rIns="0" bIns="0" rtlCol="0">
            <a:spAutoFit/>
          </a:bodyPr>
          <a:lstStyle/>
          <a:p>
            <a:pPr marL="12700">
              <a:lnSpc>
                <a:spcPct val="100000"/>
              </a:lnSpc>
              <a:spcBef>
                <a:spcPts val="90"/>
              </a:spcBef>
            </a:pPr>
            <a:r>
              <a:rPr sz="2300" spc="-10" dirty="0">
                <a:solidFill>
                  <a:srgbClr val="080808"/>
                </a:solidFill>
                <a:latin typeface="Times New Roman" panose="02020603050405020304" pitchFamily="18" charset="0"/>
                <a:cs typeface="Times New Roman" panose="02020603050405020304" pitchFamily="18" charset="0"/>
              </a:rPr>
              <a:t>Authors</a:t>
            </a:r>
            <a:endParaRPr sz="2300">
              <a:solidFill>
                <a:srgbClr val="080808"/>
              </a:solidFill>
              <a:latin typeface="Times New Roman" panose="02020603050405020304" pitchFamily="18" charset="0"/>
              <a:cs typeface="Times New Roman" panose="02020603050405020304" pitchFamily="18" charset="0"/>
            </a:endParaRPr>
          </a:p>
        </p:txBody>
      </p:sp>
      <p:sp>
        <p:nvSpPr>
          <p:cNvPr id="8" name="object 8"/>
          <p:cNvSpPr txBox="1"/>
          <p:nvPr/>
        </p:nvSpPr>
        <p:spPr>
          <a:xfrm>
            <a:off x="7274732" y="2640012"/>
            <a:ext cx="3735070" cy="311150"/>
          </a:xfrm>
          <a:prstGeom prst="rect">
            <a:avLst/>
          </a:prstGeom>
        </p:spPr>
        <p:txBody>
          <a:bodyPr vert="horz" wrap="square" lIns="0" tIns="15875" rIns="0" bIns="0" rtlCol="0">
            <a:spAutoFit/>
          </a:bodyPr>
          <a:lstStyle/>
          <a:p>
            <a:pPr marL="12700">
              <a:lnSpc>
                <a:spcPct val="100000"/>
              </a:lnSpc>
              <a:spcBef>
                <a:spcPts val="125"/>
              </a:spcBef>
            </a:pPr>
            <a:r>
              <a:rPr sz="1850" spc="-10" dirty="0">
                <a:solidFill>
                  <a:srgbClr val="080808"/>
                </a:solidFill>
                <a:latin typeface="Times New Roman" panose="02020603050405020304" pitchFamily="18" charset="0"/>
                <a:cs typeface="Times New Roman" panose="02020603050405020304" pitchFamily="18" charset="0"/>
              </a:rPr>
              <a:t>Kislay</a:t>
            </a:r>
            <a:r>
              <a:rPr sz="1850" spc="120" dirty="0">
                <a:solidFill>
                  <a:srgbClr val="080808"/>
                </a:solidFill>
                <a:latin typeface="Times New Roman" panose="02020603050405020304" pitchFamily="18" charset="0"/>
                <a:cs typeface="Times New Roman" panose="02020603050405020304" pitchFamily="18" charset="0"/>
              </a:rPr>
              <a:t> </a:t>
            </a:r>
            <a:r>
              <a:rPr sz="1850" dirty="0">
                <a:solidFill>
                  <a:srgbClr val="080808"/>
                </a:solidFill>
                <a:latin typeface="Times New Roman" panose="02020603050405020304" pitchFamily="18" charset="0"/>
                <a:cs typeface="Times New Roman" panose="02020603050405020304" pitchFamily="18" charset="0"/>
              </a:rPr>
              <a:t>Bhardwaj</a:t>
            </a:r>
            <a:r>
              <a:rPr sz="1850" spc="35" dirty="0">
                <a:solidFill>
                  <a:srgbClr val="080808"/>
                </a:solidFill>
                <a:latin typeface="Times New Roman" panose="02020603050405020304" pitchFamily="18" charset="0"/>
                <a:cs typeface="Times New Roman" panose="02020603050405020304" pitchFamily="18" charset="0"/>
              </a:rPr>
              <a:t> </a:t>
            </a:r>
            <a:r>
              <a:rPr sz="1850" spc="-10" dirty="0">
                <a:solidFill>
                  <a:srgbClr val="080808"/>
                </a:solidFill>
                <a:latin typeface="Times New Roman" panose="02020603050405020304" pitchFamily="18" charset="0"/>
                <a:cs typeface="Times New Roman" panose="02020603050405020304" pitchFamily="18" charset="0"/>
              </a:rPr>
              <a:t>(12023OO2O29042)</a:t>
            </a:r>
            <a:endParaRPr sz="1850">
              <a:solidFill>
                <a:srgbClr val="080808"/>
              </a:solidFill>
              <a:latin typeface="Times New Roman" panose="02020603050405020304" pitchFamily="18" charset="0"/>
              <a:cs typeface="Times New Roman" panose="02020603050405020304" pitchFamily="18" charset="0"/>
            </a:endParaRPr>
          </a:p>
        </p:txBody>
      </p:sp>
      <p:sp>
        <p:nvSpPr>
          <p:cNvPr id="9" name="object 9"/>
          <p:cNvSpPr txBox="1"/>
          <p:nvPr/>
        </p:nvSpPr>
        <p:spPr>
          <a:xfrm>
            <a:off x="2469028" y="3179233"/>
            <a:ext cx="4233545" cy="327025"/>
          </a:xfrm>
          <a:prstGeom prst="rect">
            <a:avLst/>
          </a:prstGeom>
        </p:spPr>
        <p:txBody>
          <a:bodyPr vert="horz" wrap="square" lIns="0" tIns="16510" rIns="0" bIns="0" rtlCol="0">
            <a:spAutoFit/>
          </a:bodyPr>
          <a:lstStyle/>
          <a:p>
            <a:pPr marL="12700">
              <a:lnSpc>
                <a:spcPct val="100000"/>
              </a:lnSpc>
              <a:spcBef>
                <a:spcPts val="130"/>
              </a:spcBef>
            </a:pPr>
            <a:r>
              <a:rPr sz="1950" dirty="0">
                <a:solidFill>
                  <a:srgbClr val="080808"/>
                </a:solidFill>
                <a:latin typeface="Times New Roman" panose="02020603050405020304" pitchFamily="18" charset="0"/>
                <a:cs typeface="Times New Roman" panose="02020603050405020304" pitchFamily="18" charset="0"/>
              </a:rPr>
              <a:t>Debrup</a:t>
            </a:r>
            <a:r>
              <a:rPr sz="1950" spc="325" dirty="0">
                <a:solidFill>
                  <a:srgbClr val="080808"/>
                </a:solidFill>
                <a:latin typeface="Times New Roman" panose="02020603050405020304" pitchFamily="18" charset="0"/>
                <a:cs typeface="Times New Roman" panose="02020603050405020304" pitchFamily="18" charset="0"/>
              </a:rPr>
              <a:t> </a:t>
            </a:r>
            <a:r>
              <a:rPr sz="1950" dirty="0">
                <a:solidFill>
                  <a:srgbClr val="080808"/>
                </a:solidFill>
                <a:latin typeface="Times New Roman" panose="02020603050405020304" pitchFamily="18" charset="0"/>
                <a:cs typeface="Times New Roman" panose="02020603050405020304" pitchFamily="18" charset="0"/>
              </a:rPr>
              <a:t>Chakraborty</a:t>
            </a:r>
            <a:r>
              <a:rPr sz="1950" spc="445" dirty="0">
                <a:solidFill>
                  <a:srgbClr val="080808"/>
                </a:solidFill>
                <a:latin typeface="Times New Roman" panose="02020603050405020304" pitchFamily="18" charset="0"/>
                <a:cs typeface="Times New Roman" panose="02020603050405020304" pitchFamily="18" charset="0"/>
              </a:rPr>
              <a:t> </a:t>
            </a:r>
            <a:r>
              <a:rPr sz="1950" spc="-10" dirty="0">
                <a:solidFill>
                  <a:srgbClr val="080808"/>
                </a:solidFill>
                <a:latin typeface="Times New Roman" panose="02020603050405020304" pitchFamily="18" charset="0"/>
                <a:cs typeface="Times New Roman" panose="02020603050405020304" pitchFamily="18" charset="0"/>
              </a:rPr>
              <a:t>(12023002029041)</a:t>
            </a:r>
            <a:endParaRPr sz="1950">
              <a:solidFill>
                <a:srgbClr val="080808"/>
              </a:solidFill>
              <a:latin typeface="Times New Roman" panose="02020603050405020304" pitchFamily="18" charset="0"/>
              <a:cs typeface="Times New Roman" panose="02020603050405020304" pitchFamily="18" charset="0"/>
            </a:endParaRPr>
          </a:p>
        </p:txBody>
      </p:sp>
      <p:sp>
        <p:nvSpPr>
          <p:cNvPr id="10" name="object 10"/>
          <p:cNvSpPr txBox="1"/>
          <p:nvPr/>
        </p:nvSpPr>
        <p:spPr>
          <a:xfrm>
            <a:off x="7457699" y="3179233"/>
            <a:ext cx="3136900" cy="327025"/>
          </a:xfrm>
          <a:prstGeom prst="rect">
            <a:avLst/>
          </a:prstGeom>
        </p:spPr>
        <p:txBody>
          <a:bodyPr vert="horz" wrap="square" lIns="0" tIns="16510" rIns="0" bIns="0" rtlCol="0">
            <a:spAutoFit/>
          </a:bodyPr>
          <a:lstStyle/>
          <a:p>
            <a:pPr marL="12700">
              <a:lnSpc>
                <a:spcPct val="100000"/>
              </a:lnSpc>
              <a:spcBef>
                <a:spcPts val="130"/>
              </a:spcBef>
            </a:pPr>
            <a:r>
              <a:rPr sz="1950" spc="-35" dirty="0">
                <a:solidFill>
                  <a:srgbClr val="080808"/>
                </a:solidFill>
                <a:latin typeface="Times New Roman" panose="02020603050405020304" pitchFamily="18" charset="0"/>
                <a:cs typeface="Times New Roman" panose="02020603050405020304" pitchFamily="18" charset="0"/>
              </a:rPr>
              <a:t>Adrija </a:t>
            </a:r>
            <a:r>
              <a:rPr sz="1950" spc="-20" dirty="0">
                <a:solidFill>
                  <a:srgbClr val="080808"/>
                </a:solidFill>
                <a:latin typeface="Times New Roman" panose="02020603050405020304" pitchFamily="18" charset="0"/>
                <a:cs typeface="Times New Roman" panose="02020603050405020304" pitchFamily="18" charset="0"/>
              </a:rPr>
              <a:t>Pal</a:t>
            </a:r>
            <a:r>
              <a:rPr sz="1950" spc="-95" dirty="0">
                <a:solidFill>
                  <a:srgbClr val="080808"/>
                </a:solidFill>
                <a:latin typeface="Times New Roman" panose="02020603050405020304" pitchFamily="18" charset="0"/>
                <a:cs typeface="Times New Roman" panose="02020603050405020304" pitchFamily="18" charset="0"/>
              </a:rPr>
              <a:t> </a:t>
            </a:r>
            <a:r>
              <a:rPr sz="1950" spc="70" dirty="0">
                <a:solidFill>
                  <a:srgbClr val="080808"/>
                </a:solidFill>
                <a:latin typeface="Times New Roman" panose="02020603050405020304" pitchFamily="18" charset="0"/>
                <a:cs typeface="Times New Roman" panose="02020603050405020304" pitchFamily="18" charset="0"/>
              </a:rPr>
              <a:t>(12023002029008)</a:t>
            </a:r>
            <a:endParaRPr sz="1950">
              <a:solidFill>
                <a:srgbClr val="080808"/>
              </a:solidFill>
              <a:latin typeface="Times New Roman" panose="02020603050405020304" pitchFamily="18" charset="0"/>
              <a:cs typeface="Times New Roman" panose="02020603050405020304" pitchFamily="18" charset="0"/>
            </a:endParaRPr>
          </a:p>
        </p:txBody>
      </p:sp>
      <p:sp>
        <p:nvSpPr>
          <p:cNvPr id="11" name="object 11"/>
          <p:cNvSpPr txBox="1"/>
          <p:nvPr/>
        </p:nvSpPr>
        <p:spPr>
          <a:xfrm>
            <a:off x="2455428" y="3735387"/>
            <a:ext cx="4243705" cy="311150"/>
          </a:xfrm>
          <a:prstGeom prst="rect">
            <a:avLst/>
          </a:prstGeom>
        </p:spPr>
        <p:txBody>
          <a:bodyPr vert="horz" wrap="square" lIns="0" tIns="15875" rIns="0" bIns="0" rtlCol="0">
            <a:spAutoFit/>
          </a:bodyPr>
          <a:lstStyle/>
          <a:p>
            <a:pPr marL="12700">
              <a:lnSpc>
                <a:spcPct val="100000"/>
              </a:lnSpc>
              <a:spcBef>
                <a:spcPts val="125"/>
              </a:spcBef>
            </a:pPr>
            <a:r>
              <a:rPr sz="1850" dirty="0">
                <a:solidFill>
                  <a:srgbClr val="080808"/>
                </a:solidFill>
                <a:latin typeface="Times New Roman" panose="02020603050405020304" pitchFamily="18" charset="0"/>
                <a:cs typeface="Times New Roman" panose="02020603050405020304" pitchFamily="18" charset="0"/>
              </a:rPr>
              <a:t>Gairick</a:t>
            </a:r>
            <a:r>
              <a:rPr sz="1850" spc="155" dirty="0">
                <a:solidFill>
                  <a:srgbClr val="080808"/>
                </a:solidFill>
                <a:latin typeface="Times New Roman" panose="02020603050405020304" pitchFamily="18" charset="0"/>
                <a:cs typeface="Times New Roman" panose="02020603050405020304" pitchFamily="18" charset="0"/>
              </a:rPr>
              <a:t> </a:t>
            </a:r>
            <a:r>
              <a:rPr sz="1850" spc="65" dirty="0">
                <a:solidFill>
                  <a:srgbClr val="080808"/>
                </a:solidFill>
                <a:latin typeface="Times New Roman" panose="02020603050405020304" pitchFamily="18" charset="0"/>
                <a:cs typeface="Times New Roman" panose="02020603050405020304" pitchFamily="18" charset="0"/>
              </a:rPr>
              <a:t>Purakayastha</a:t>
            </a:r>
            <a:r>
              <a:rPr sz="1850" spc="270" dirty="0">
                <a:solidFill>
                  <a:srgbClr val="080808"/>
                </a:solidFill>
                <a:latin typeface="Times New Roman" panose="02020603050405020304" pitchFamily="18" charset="0"/>
                <a:cs typeface="Times New Roman" panose="02020603050405020304" pitchFamily="18" charset="0"/>
              </a:rPr>
              <a:t> </a:t>
            </a:r>
            <a:r>
              <a:rPr sz="1850" spc="-10" dirty="0">
                <a:solidFill>
                  <a:srgbClr val="080808"/>
                </a:solidFill>
                <a:latin typeface="Times New Roman" panose="02020603050405020304" pitchFamily="18" charset="0"/>
                <a:cs typeface="Times New Roman" panose="02020603050405020304" pitchFamily="18" charset="0"/>
              </a:rPr>
              <a:t>(12O23OO2O29127)</a:t>
            </a:r>
            <a:endParaRPr sz="1850">
              <a:solidFill>
                <a:srgbClr val="080808"/>
              </a:solidFill>
              <a:latin typeface="Times New Roman" panose="02020603050405020304" pitchFamily="18" charset="0"/>
              <a:cs typeface="Times New Roman" panose="02020603050405020304" pitchFamily="18" charset="0"/>
            </a:endParaRPr>
          </a:p>
        </p:txBody>
      </p:sp>
      <p:sp>
        <p:nvSpPr>
          <p:cNvPr id="12" name="object 12"/>
          <p:cNvSpPr txBox="1"/>
          <p:nvPr/>
        </p:nvSpPr>
        <p:spPr>
          <a:xfrm>
            <a:off x="7392392" y="3735387"/>
            <a:ext cx="3722370" cy="311150"/>
          </a:xfrm>
          <a:prstGeom prst="rect">
            <a:avLst/>
          </a:prstGeom>
        </p:spPr>
        <p:txBody>
          <a:bodyPr vert="horz" wrap="square" lIns="0" tIns="15875" rIns="0" bIns="0" rtlCol="0">
            <a:spAutoFit/>
          </a:bodyPr>
          <a:lstStyle/>
          <a:p>
            <a:pPr marL="12700">
              <a:lnSpc>
                <a:spcPct val="100000"/>
              </a:lnSpc>
              <a:spcBef>
                <a:spcPts val="125"/>
              </a:spcBef>
            </a:pPr>
            <a:r>
              <a:rPr sz="1850" spc="85" dirty="0">
                <a:solidFill>
                  <a:srgbClr val="080808"/>
                </a:solidFill>
                <a:latin typeface="Times New Roman" panose="02020603050405020304" pitchFamily="18" charset="0"/>
                <a:cs typeface="Times New Roman" panose="02020603050405020304" pitchFamily="18" charset="0"/>
              </a:rPr>
              <a:t>Subhradwip</a:t>
            </a:r>
            <a:r>
              <a:rPr sz="1850" spc="135" dirty="0">
                <a:solidFill>
                  <a:srgbClr val="080808"/>
                </a:solidFill>
                <a:latin typeface="Times New Roman" panose="02020603050405020304" pitchFamily="18" charset="0"/>
                <a:cs typeface="Times New Roman" panose="02020603050405020304" pitchFamily="18" charset="0"/>
              </a:rPr>
              <a:t> </a:t>
            </a:r>
            <a:r>
              <a:rPr sz="1850" spc="70" dirty="0">
                <a:solidFill>
                  <a:srgbClr val="080808"/>
                </a:solidFill>
                <a:latin typeface="Times New Roman" panose="02020603050405020304" pitchFamily="18" charset="0"/>
                <a:cs typeface="Times New Roman" panose="02020603050405020304" pitchFamily="18" charset="0"/>
              </a:rPr>
              <a:t>Das(12023002029147)</a:t>
            </a:r>
            <a:endParaRPr sz="1850">
              <a:solidFill>
                <a:srgbClr val="080808"/>
              </a:solidFill>
              <a:latin typeface="Times New Roman" panose="02020603050405020304" pitchFamily="18" charset="0"/>
              <a:cs typeface="Times New Roman" panose="02020603050405020304" pitchFamily="18" charset="0"/>
            </a:endParaRPr>
          </a:p>
        </p:txBody>
      </p:sp>
      <p:sp>
        <p:nvSpPr>
          <p:cNvPr id="13" name="object 13"/>
          <p:cNvSpPr txBox="1"/>
          <p:nvPr/>
        </p:nvSpPr>
        <p:spPr>
          <a:xfrm>
            <a:off x="3458950" y="4667424"/>
            <a:ext cx="6485150" cy="356508"/>
          </a:xfrm>
          <a:prstGeom prst="rect">
            <a:avLst/>
          </a:prstGeom>
        </p:spPr>
        <p:txBody>
          <a:bodyPr vert="horz" wrap="square" lIns="0" tIns="17780" rIns="0" bIns="0" rtlCol="0">
            <a:spAutoFit/>
          </a:bodyPr>
          <a:lstStyle/>
          <a:p>
            <a:pPr marL="12700">
              <a:lnSpc>
                <a:spcPct val="100000"/>
              </a:lnSpc>
              <a:spcBef>
                <a:spcPts val="140"/>
              </a:spcBef>
            </a:pPr>
            <a:r>
              <a:rPr sz="2200" dirty="0">
                <a:solidFill>
                  <a:srgbClr val="080808"/>
                </a:solidFill>
                <a:latin typeface="Times New Roman" panose="02020603050405020304" pitchFamily="18" charset="0"/>
                <a:cs typeface="Times New Roman" panose="02020603050405020304" pitchFamily="18" charset="0"/>
              </a:rPr>
              <a:t>Supervisor: Prof. Sangita Dutta &amp; </a:t>
            </a:r>
            <a:r>
              <a:rPr lang="en-US" sz="2200" dirty="0">
                <a:solidFill>
                  <a:srgbClr val="080808"/>
                </a:solidFill>
                <a:latin typeface="Times New Roman" panose="02020603050405020304" pitchFamily="18" charset="0"/>
                <a:cs typeface="Times New Roman" panose="02020603050405020304" pitchFamily="18" charset="0"/>
              </a:rPr>
              <a:t>Prof. Dr. </a:t>
            </a:r>
            <a:r>
              <a:rPr sz="2200" dirty="0">
                <a:solidFill>
                  <a:srgbClr val="080808"/>
                </a:solidFill>
                <a:latin typeface="Times New Roman" panose="02020603050405020304" pitchFamily="18" charset="0"/>
                <a:cs typeface="Times New Roman" panose="02020603050405020304" pitchFamily="18" charset="0"/>
              </a:rPr>
              <a:t>Arijit Ghosh</a:t>
            </a:r>
          </a:p>
        </p:txBody>
      </p:sp>
      <p:sp>
        <p:nvSpPr>
          <p:cNvPr id="14" name="object 14"/>
          <p:cNvSpPr txBox="1"/>
          <p:nvPr/>
        </p:nvSpPr>
        <p:spPr>
          <a:xfrm>
            <a:off x="8223530" y="6038585"/>
            <a:ext cx="6216370" cy="927176"/>
          </a:xfrm>
          <a:prstGeom prst="rect">
            <a:avLst/>
          </a:prstGeom>
        </p:spPr>
        <p:txBody>
          <a:bodyPr vert="horz" wrap="square" lIns="0" tIns="29209" rIns="0" bIns="0" rtlCol="0">
            <a:spAutoFit/>
          </a:bodyPr>
          <a:lstStyle/>
          <a:p>
            <a:pPr marL="16510" marR="5080" indent="-4445">
              <a:lnSpc>
                <a:spcPts val="2180"/>
              </a:lnSpc>
              <a:spcBef>
                <a:spcPts val="229"/>
              </a:spcBef>
            </a:pPr>
            <a:r>
              <a:rPr sz="1850" dirty="0">
                <a:solidFill>
                  <a:srgbClr val="080808"/>
                </a:solidFill>
                <a:latin typeface="Times New Roman" panose="02020603050405020304" pitchFamily="18" charset="0"/>
                <a:cs typeface="Times New Roman" panose="02020603050405020304" pitchFamily="18" charset="0"/>
              </a:rPr>
              <a:t>Department</a:t>
            </a:r>
            <a:r>
              <a:rPr sz="1850" spc="140" dirty="0">
                <a:solidFill>
                  <a:srgbClr val="080808"/>
                </a:solidFill>
                <a:latin typeface="Times New Roman" panose="02020603050405020304" pitchFamily="18" charset="0"/>
                <a:cs typeface="Times New Roman" panose="02020603050405020304" pitchFamily="18" charset="0"/>
              </a:rPr>
              <a:t> </a:t>
            </a:r>
            <a:r>
              <a:rPr sz="1850" dirty="0">
                <a:solidFill>
                  <a:srgbClr val="080808"/>
                </a:solidFill>
                <a:latin typeface="Times New Roman" panose="02020603050405020304" pitchFamily="18" charset="0"/>
                <a:cs typeface="Times New Roman" panose="02020603050405020304" pitchFamily="18" charset="0"/>
              </a:rPr>
              <a:t>of</a:t>
            </a:r>
            <a:r>
              <a:rPr sz="1850" spc="20" dirty="0">
                <a:solidFill>
                  <a:srgbClr val="080808"/>
                </a:solidFill>
                <a:latin typeface="Times New Roman" panose="02020603050405020304" pitchFamily="18" charset="0"/>
                <a:cs typeface="Times New Roman" panose="02020603050405020304" pitchFamily="18" charset="0"/>
              </a:rPr>
              <a:t> </a:t>
            </a:r>
            <a:r>
              <a:rPr sz="1850" dirty="0">
                <a:solidFill>
                  <a:srgbClr val="080808"/>
                </a:solidFill>
                <a:latin typeface="Times New Roman" panose="02020603050405020304" pitchFamily="18" charset="0"/>
                <a:cs typeface="Times New Roman" panose="02020603050405020304" pitchFamily="18" charset="0"/>
              </a:rPr>
              <a:t>Computer</a:t>
            </a:r>
            <a:r>
              <a:rPr sz="1850" spc="114" dirty="0">
                <a:solidFill>
                  <a:srgbClr val="080808"/>
                </a:solidFill>
                <a:latin typeface="Times New Roman" panose="02020603050405020304" pitchFamily="18" charset="0"/>
                <a:cs typeface="Times New Roman" panose="02020603050405020304" pitchFamily="18" charset="0"/>
              </a:rPr>
              <a:t> </a:t>
            </a:r>
            <a:r>
              <a:rPr sz="1850" spc="-20" dirty="0">
                <a:solidFill>
                  <a:srgbClr val="080808"/>
                </a:solidFill>
                <a:latin typeface="Times New Roman" panose="02020603050405020304" pitchFamily="18" charset="0"/>
                <a:cs typeface="Times New Roman" panose="02020603050405020304" pitchFamily="18" charset="0"/>
              </a:rPr>
              <a:t>Science</a:t>
            </a:r>
            <a:r>
              <a:rPr sz="1850" spc="45" dirty="0">
                <a:solidFill>
                  <a:srgbClr val="080808"/>
                </a:solidFill>
                <a:latin typeface="Times New Roman" panose="02020603050405020304" pitchFamily="18" charset="0"/>
                <a:cs typeface="Times New Roman" panose="02020603050405020304" pitchFamily="18" charset="0"/>
              </a:rPr>
              <a:t> </a:t>
            </a:r>
            <a:r>
              <a:rPr sz="1850" spc="-10" dirty="0">
                <a:solidFill>
                  <a:srgbClr val="080808"/>
                </a:solidFill>
                <a:latin typeface="Times New Roman" panose="02020603050405020304" pitchFamily="18" charset="0"/>
                <a:cs typeface="Times New Roman" panose="02020603050405020304" pitchFamily="18" charset="0"/>
              </a:rPr>
              <a:t>and</a:t>
            </a:r>
            <a:r>
              <a:rPr sz="1850" spc="-30" dirty="0">
                <a:solidFill>
                  <a:srgbClr val="080808"/>
                </a:solidFill>
                <a:latin typeface="Times New Roman" panose="02020603050405020304" pitchFamily="18" charset="0"/>
                <a:cs typeface="Times New Roman" panose="02020603050405020304" pitchFamily="18" charset="0"/>
              </a:rPr>
              <a:t> </a:t>
            </a:r>
            <a:r>
              <a:rPr sz="1850" spc="-10" dirty="0">
                <a:solidFill>
                  <a:srgbClr val="080808"/>
                </a:solidFill>
                <a:latin typeface="Times New Roman" panose="02020603050405020304" pitchFamily="18" charset="0"/>
                <a:cs typeface="Times New Roman" panose="02020603050405020304" pitchFamily="18" charset="0"/>
              </a:rPr>
              <a:t>Engineering</a:t>
            </a:r>
            <a:endParaRPr lang="en-US" sz="1850" spc="-10" dirty="0">
              <a:solidFill>
                <a:srgbClr val="080808"/>
              </a:solidFill>
              <a:latin typeface="Times New Roman" panose="02020603050405020304" pitchFamily="18" charset="0"/>
              <a:cs typeface="Times New Roman" panose="02020603050405020304" pitchFamily="18" charset="0"/>
            </a:endParaRPr>
          </a:p>
          <a:p>
            <a:pPr marL="16510" marR="5080" indent="-4445">
              <a:lnSpc>
                <a:spcPts val="2180"/>
              </a:lnSpc>
              <a:spcBef>
                <a:spcPts val="229"/>
              </a:spcBef>
            </a:pPr>
            <a:r>
              <a:rPr sz="1850" dirty="0">
                <a:solidFill>
                  <a:srgbClr val="080808"/>
                </a:solidFill>
                <a:latin typeface="Times New Roman" panose="02020603050405020304" pitchFamily="18" charset="0"/>
                <a:cs typeface="Times New Roman" panose="02020603050405020304" pitchFamily="18" charset="0"/>
              </a:rPr>
              <a:t>(Internet</a:t>
            </a:r>
            <a:r>
              <a:rPr sz="1850" spc="55" dirty="0">
                <a:solidFill>
                  <a:srgbClr val="080808"/>
                </a:solidFill>
                <a:latin typeface="Times New Roman" panose="02020603050405020304" pitchFamily="18" charset="0"/>
                <a:cs typeface="Times New Roman" panose="02020603050405020304" pitchFamily="18" charset="0"/>
              </a:rPr>
              <a:t> </a:t>
            </a:r>
            <a:r>
              <a:rPr sz="1850" dirty="0">
                <a:solidFill>
                  <a:srgbClr val="080808"/>
                </a:solidFill>
                <a:latin typeface="Times New Roman" panose="02020603050405020304" pitchFamily="18" charset="0"/>
                <a:cs typeface="Times New Roman" panose="02020603050405020304" pitchFamily="18" charset="0"/>
              </a:rPr>
              <a:t>of</a:t>
            </a:r>
            <a:r>
              <a:rPr sz="1850" spc="5" dirty="0">
                <a:solidFill>
                  <a:srgbClr val="080808"/>
                </a:solidFill>
                <a:latin typeface="Times New Roman" panose="02020603050405020304" pitchFamily="18" charset="0"/>
                <a:cs typeface="Times New Roman" panose="02020603050405020304" pitchFamily="18" charset="0"/>
              </a:rPr>
              <a:t> </a:t>
            </a:r>
            <a:r>
              <a:rPr sz="1850" spc="-10" dirty="0">
                <a:solidFill>
                  <a:srgbClr val="080808"/>
                </a:solidFill>
                <a:latin typeface="Times New Roman" panose="02020603050405020304" pitchFamily="18" charset="0"/>
                <a:cs typeface="Times New Roman" panose="02020603050405020304" pitchFamily="18" charset="0"/>
              </a:rPr>
              <a:t>Things,</a:t>
            </a:r>
            <a:r>
              <a:rPr sz="1850" spc="-50" dirty="0">
                <a:solidFill>
                  <a:srgbClr val="080808"/>
                </a:solidFill>
                <a:latin typeface="Times New Roman" panose="02020603050405020304" pitchFamily="18" charset="0"/>
                <a:cs typeface="Times New Roman" panose="02020603050405020304" pitchFamily="18" charset="0"/>
              </a:rPr>
              <a:t> </a:t>
            </a:r>
            <a:r>
              <a:rPr sz="1850" dirty="0">
                <a:solidFill>
                  <a:srgbClr val="080808"/>
                </a:solidFill>
                <a:latin typeface="Times New Roman" panose="02020603050405020304" pitchFamily="18" charset="0"/>
                <a:cs typeface="Times New Roman" panose="02020603050405020304" pitchFamily="18" charset="0"/>
              </a:rPr>
              <a:t>Cyber</a:t>
            </a:r>
            <a:r>
              <a:rPr sz="1850" spc="-25" dirty="0">
                <a:solidFill>
                  <a:srgbClr val="080808"/>
                </a:solidFill>
                <a:latin typeface="Times New Roman" panose="02020603050405020304" pitchFamily="18" charset="0"/>
                <a:cs typeface="Times New Roman" panose="02020603050405020304" pitchFamily="18" charset="0"/>
              </a:rPr>
              <a:t> </a:t>
            </a:r>
            <a:r>
              <a:rPr sz="1850" spc="-20" dirty="0">
                <a:solidFill>
                  <a:srgbClr val="080808"/>
                </a:solidFill>
                <a:latin typeface="Times New Roman" panose="02020603050405020304" pitchFamily="18" charset="0"/>
                <a:cs typeface="Times New Roman" panose="02020603050405020304" pitchFamily="18" charset="0"/>
              </a:rPr>
              <a:t>Security,</a:t>
            </a:r>
            <a:r>
              <a:rPr sz="1850" spc="-5" dirty="0">
                <a:solidFill>
                  <a:srgbClr val="080808"/>
                </a:solidFill>
                <a:latin typeface="Times New Roman" panose="02020603050405020304" pitchFamily="18" charset="0"/>
                <a:cs typeface="Times New Roman" panose="02020603050405020304" pitchFamily="18" charset="0"/>
              </a:rPr>
              <a:t> </a:t>
            </a:r>
            <a:r>
              <a:rPr sz="1850" spc="-10" dirty="0">
                <a:solidFill>
                  <a:srgbClr val="080808"/>
                </a:solidFill>
                <a:latin typeface="Times New Roman" panose="02020603050405020304" pitchFamily="18" charset="0"/>
                <a:cs typeface="Times New Roman" panose="02020603050405020304" pitchFamily="18" charset="0"/>
              </a:rPr>
              <a:t>Blockchain</a:t>
            </a:r>
            <a:r>
              <a:rPr lang="en-US" sz="1850" spc="-10" dirty="0">
                <a:solidFill>
                  <a:srgbClr val="080808"/>
                </a:solidFill>
                <a:latin typeface="Times New Roman" panose="02020603050405020304" pitchFamily="18" charset="0"/>
                <a:cs typeface="Times New Roman" panose="02020603050405020304" pitchFamily="18" charset="0"/>
              </a:rPr>
              <a:t> Technology</a:t>
            </a:r>
            <a:r>
              <a:rPr sz="1850" spc="-10" dirty="0">
                <a:solidFill>
                  <a:srgbClr val="080808"/>
                </a:solidFill>
                <a:latin typeface="Times New Roman" panose="02020603050405020304" pitchFamily="18" charset="0"/>
                <a:cs typeface="Times New Roman" panose="02020603050405020304" pitchFamily="18" charset="0"/>
              </a:rPr>
              <a:t>)</a:t>
            </a:r>
            <a:endParaRPr lang="en-US" sz="1850" spc="-10" dirty="0">
              <a:solidFill>
                <a:srgbClr val="080808"/>
              </a:solidFill>
              <a:latin typeface="Times New Roman" panose="02020603050405020304" pitchFamily="18" charset="0"/>
              <a:cs typeface="Times New Roman" panose="02020603050405020304" pitchFamily="18" charset="0"/>
            </a:endParaRPr>
          </a:p>
          <a:p>
            <a:pPr marL="16510" marR="5080" indent="-4445">
              <a:lnSpc>
                <a:spcPts val="2180"/>
              </a:lnSpc>
              <a:spcBef>
                <a:spcPts val="229"/>
              </a:spcBef>
            </a:pPr>
            <a:r>
              <a:rPr lang="en-US" sz="1850" dirty="0">
                <a:solidFill>
                  <a:srgbClr val="080808"/>
                </a:solidFill>
                <a:latin typeface="Times New Roman" panose="02020603050405020304" pitchFamily="18" charset="0"/>
                <a:cs typeface="Times New Roman" panose="02020603050405020304" pitchFamily="18" charset="0"/>
              </a:rPr>
              <a:t>University</a:t>
            </a:r>
            <a:r>
              <a:rPr lang="en-US" sz="1850" spc="50" dirty="0">
                <a:solidFill>
                  <a:srgbClr val="080808"/>
                </a:solidFill>
                <a:latin typeface="Times New Roman" panose="02020603050405020304" pitchFamily="18" charset="0"/>
                <a:cs typeface="Times New Roman" panose="02020603050405020304" pitchFamily="18" charset="0"/>
              </a:rPr>
              <a:t> </a:t>
            </a:r>
            <a:r>
              <a:rPr lang="en-US" sz="1850" dirty="0">
                <a:solidFill>
                  <a:srgbClr val="080808"/>
                </a:solidFill>
                <a:latin typeface="Times New Roman" panose="02020603050405020304" pitchFamily="18" charset="0"/>
                <a:cs typeface="Times New Roman" panose="02020603050405020304" pitchFamily="18" charset="0"/>
              </a:rPr>
              <a:t>of</a:t>
            </a:r>
            <a:r>
              <a:rPr lang="en-US" sz="1850" spc="-80" dirty="0">
                <a:solidFill>
                  <a:srgbClr val="080808"/>
                </a:solidFill>
                <a:latin typeface="Times New Roman" panose="02020603050405020304" pitchFamily="18" charset="0"/>
                <a:cs typeface="Times New Roman" panose="02020603050405020304" pitchFamily="18" charset="0"/>
              </a:rPr>
              <a:t> </a:t>
            </a:r>
            <a:r>
              <a:rPr lang="en-US" sz="1850" dirty="0">
                <a:solidFill>
                  <a:srgbClr val="080808"/>
                </a:solidFill>
                <a:latin typeface="Times New Roman" panose="02020603050405020304" pitchFamily="18" charset="0"/>
                <a:cs typeface="Times New Roman" panose="02020603050405020304" pitchFamily="18" charset="0"/>
              </a:rPr>
              <a:t>Engineering</a:t>
            </a:r>
            <a:r>
              <a:rPr lang="en-US" sz="1850" spc="5" dirty="0">
                <a:solidFill>
                  <a:srgbClr val="080808"/>
                </a:solidFill>
                <a:latin typeface="Times New Roman" panose="02020603050405020304" pitchFamily="18" charset="0"/>
                <a:cs typeface="Times New Roman" panose="02020603050405020304" pitchFamily="18" charset="0"/>
              </a:rPr>
              <a:t> </a:t>
            </a:r>
            <a:r>
              <a:rPr lang="en-US" sz="1850" dirty="0">
                <a:solidFill>
                  <a:srgbClr val="080808"/>
                </a:solidFill>
                <a:latin typeface="Times New Roman" panose="02020603050405020304" pitchFamily="18" charset="0"/>
                <a:cs typeface="Times New Roman" panose="02020603050405020304" pitchFamily="18" charset="0"/>
              </a:rPr>
              <a:t>&amp;</a:t>
            </a:r>
            <a:r>
              <a:rPr lang="en-US" sz="1850" spc="-30" dirty="0">
                <a:solidFill>
                  <a:srgbClr val="080808"/>
                </a:solidFill>
                <a:latin typeface="Times New Roman" panose="02020603050405020304" pitchFamily="18" charset="0"/>
                <a:cs typeface="Times New Roman" panose="02020603050405020304" pitchFamily="18" charset="0"/>
              </a:rPr>
              <a:t> </a:t>
            </a:r>
            <a:r>
              <a:rPr lang="en-US" sz="1850" dirty="0">
                <a:solidFill>
                  <a:srgbClr val="080808"/>
                </a:solidFill>
                <a:latin typeface="Times New Roman" panose="02020603050405020304" pitchFamily="18" charset="0"/>
                <a:cs typeface="Times New Roman" panose="02020603050405020304" pitchFamily="18" charset="0"/>
              </a:rPr>
              <a:t>Management, </a:t>
            </a:r>
            <a:r>
              <a:rPr lang="en-US" sz="1850" spc="-10" dirty="0">
                <a:solidFill>
                  <a:srgbClr val="080808"/>
                </a:solidFill>
                <a:latin typeface="Times New Roman" panose="02020603050405020304" pitchFamily="18" charset="0"/>
                <a:cs typeface="Times New Roman" panose="02020603050405020304" pitchFamily="18" charset="0"/>
              </a:rPr>
              <a:t>Kolkata</a:t>
            </a:r>
            <a:endParaRPr lang="en-US" sz="1850" dirty="0">
              <a:solidFill>
                <a:srgbClr val="080808"/>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215187" y="4032250"/>
            <a:ext cx="0" cy="4051300"/>
          </a:xfrm>
          <a:custGeom>
            <a:avLst/>
            <a:gdLst/>
            <a:ahLst/>
            <a:cxnLst/>
            <a:rect l="l" t="t" r="r" b="b"/>
            <a:pathLst>
              <a:path h="4051300">
                <a:moveTo>
                  <a:pt x="0" y="4051301"/>
                </a:moveTo>
                <a:lnTo>
                  <a:pt x="0" y="0"/>
                </a:lnTo>
              </a:path>
            </a:pathLst>
          </a:custGeom>
          <a:ln w="317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3" name="object 3"/>
          <p:cNvSpPr/>
          <p:nvPr/>
        </p:nvSpPr>
        <p:spPr>
          <a:xfrm>
            <a:off x="19050" y="4041775"/>
            <a:ext cx="14382750" cy="3175"/>
          </a:xfrm>
          <a:custGeom>
            <a:avLst/>
            <a:gdLst/>
            <a:ahLst/>
            <a:cxnLst/>
            <a:rect l="l" t="t" r="r" b="b"/>
            <a:pathLst>
              <a:path w="14382750" h="3175">
                <a:moveTo>
                  <a:pt x="14382749" y="3175"/>
                </a:moveTo>
                <a:lnTo>
                  <a:pt x="0" y="3175"/>
                </a:lnTo>
                <a:lnTo>
                  <a:pt x="0" y="0"/>
                </a:lnTo>
                <a:lnTo>
                  <a:pt x="14382749" y="0"/>
                </a:lnTo>
                <a:lnTo>
                  <a:pt x="14382749" y="3175"/>
                </a:lnTo>
                <a:close/>
              </a:path>
            </a:pathLst>
          </a:custGeom>
          <a:solidFill>
            <a:srgbClr val="000000"/>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5" name="object 5"/>
          <p:cNvSpPr txBox="1">
            <a:spLocks noGrp="1"/>
          </p:cNvSpPr>
          <p:nvPr>
            <p:ph type="title"/>
          </p:nvPr>
        </p:nvSpPr>
        <p:spPr>
          <a:xfrm>
            <a:off x="525283" y="947737"/>
            <a:ext cx="5304017" cy="936154"/>
          </a:xfrm>
          <a:prstGeom prst="rect">
            <a:avLst/>
          </a:prstGeom>
        </p:spPr>
        <p:txBody>
          <a:bodyPr vert="horz" wrap="square" lIns="0" tIns="12700" rIns="0" bIns="0" rtlCol="0">
            <a:spAutoFit/>
          </a:bodyPr>
          <a:lstStyle/>
          <a:p>
            <a:pPr marL="12700">
              <a:lnSpc>
                <a:spcPct val="100000"/>
              </a:lnSpc>
              <a:spcBef>
                <a:spcPts val="100"/>
              </a:spcBef>
            </a:pPr>
            <a:r>
              <a:rPr sz="6000" spc="-100" dirty="0">
                <a:solidFill>
                  <a:srgbClr val="0F0F0F"/>
                </a:solidFill>
                <a:latin typeface="Times New Roman" panose="02020603050405020304" pitchFamily="18" charset="0"/>
                <a:cs typeface="Times New Roman" panose="02020603050405020304" pitchFamily="18" charset="0"/>
              </a:rPr>
              <a:t>Table</a:t>
            </a:r>
            <a:r>
              <a:rPr sz="6000" spc="-60" dirty="0">
                <a:solidFill>
                  <a:srgbClr val="0F0F0F"/>
                </a:solidFill>
                <a:latin typeface="Times New Roman" panose="02020603050405020304" pitchFamily="18" charset="0"/>
                <a:cs typeface="Times New Roman" panose="02020603050405020304" pitchFamily="18" charset="0"/>
              </a:rPr>
              <a:t> </a:t>
            </a:r>
            <a:r>
              <a:rPr sz="6000" dirty="0">
                <a:latin typeface="Times New Roman" panose="02020603050405020304" pitchFamily="18" charset="0"/>
                <a:cs typeface="Times New Roman" panose="02020603050405020304" pitchFamily="18" charset="0"/>
              </a:rPr>
              <a:t>of</a:t>
            </a:r>
            <a:r>
              <a:rPr sz="6000" spc="-265" dirty="0">
                <a:latin typeface="Times New Roman" panose="02020603050405020304" pitchFamily="18" charset="0"/>
                <a:cs typeface="Times New Roman" panose="02020603050405020304" pitchFamily="18" charset="0"/>
              </a:rPr>
              <a:t> </a:t>
            </a:r>
            <a:r>
              <a:rPr sz="6000" spc="-10" dirty="0">
                <a:solidFill>
                  <a:srgbClr val="111111"/>
                </a:solidFill>
                <a:latin typeface="Times New Roman" panose="02020603050405020304" pitchFamily="18" charset="0"/>
                <a:cs typeface="Times New Roman" panose="02020603050405020304" pitchFamily="18" charset="0"/>
              </a:rPr>
              <a:t>contents</a:t>
            </a:r>
            <a:endParaRPr sz="6000" dirty="0">
              <a:latin typeface="Times New Roman" panose="02020603050405020304" pitchFamily="18" charset="0"/>
              <a:cs typeface="Times New Roman" panose="02020603050405020304" pitchFamily="18" charset="0"/>
            </a:endParaRPr>
          </a:p>
        </p:txBody>
      </p:sp>
      <p:graphicFrame>
        <p:nvGraphicFramePr>
          <p:cNvPr id="6" name="object 6"/>
          <p:cNvGraphicFramePr>
            <a:graphicFrameLocks noGrp="1"/>
          </p:cNvGraphicFramePr>
          <p:nvPr/>
        </p:nvGraphicFramePr>
        <p:xfrm>
          <a:off x="527014" y="4425369"/>
          <a:ext cx="10179684" cy="2911475"/>
        </p:xfrm>
        <a:graphic>
          <a:graphicData uri="http://schemas.openxmlformats.org/drawingml/2006/table">
            <a:tbl>
              <a:tblPr firstRow="1" bandRow="1">
                <a:tableStyleId>{2D5ABB26-0587-4C30-8999-92F81FD0307C}</a:tableStyleId>
              </a:tblPr>
              <a:tblGrid>
                <a:gridCol w="5155565">
                  <a:extLst>
                    <a:ext uri="{9D8B030D-6E8A-4147-A177-3AD203B41FA5}">
                      <a16:colId xmlns:a16="http://schemas.microsoft.com/office/drawing/2014/main" val="20000"/>
                    </a:ext>
                  </a:extLst>
                </a:gridCol>
                <a:gridCol w="2356485">
                  <a:extLst>
                    <a:ext uri="{9D8B030D-6E8A-4147-A177-3AD203B41FA5}">
                      <a16:colId xmlns:a16="http://schemas.microsoft.com/office/drawing/2014/main" val="20001"/>
                    </a:ext>
                  </a:extLst>
                </a:gridCol>
                <a:gridCol w="2667634">
                  <a:extLst>
                    <a:ext uri="{9D8B030D-6E8A-4147-A177-3AD203B41FA5}">
                      <a16:colId xmlns:a16="http://schemas.microsoft.com/office/drawing/2014/main" val="20002"/>
                    </a:ext>
                  </a:extLst>
                </a:gridCol>
              </a:tblGrid>
              <a:tr h="483870">
                <a:tc>
                  <a:txBody>
                    <a:bodyPr/>
                    <a:lstStyle/>
                    <a:p>
                      <a:pPr marL="32384">
                        <a:lnSpc>
                          <a:spcPts val="2390"/>
                        </a:lnSpc>
                        <a:tabLst>
                          <a:tab pos="547370" algn="l"/>
                        </a:tabLst>
                      </a:pPr>
                      <a:r>
                        <a:rPr sz="2050" spc="-430" dirty="0">
                          <a:solidFill>
                            <a:srgbClr val="707070"/>
                          </a:solidFill>
                          <a:latin typeface="Cambria"/>
                          <a:cs typeface="Cambria"/>
                        </a:rPr>
                        <a:t>01</a:t>
                      </a:r>
                      <a:r>
                        <a:rPr sz="2050" dirty="0">
                          <a:solidFill>
                            <a:srgbClr val="707070"/>
                          </a:solidFill>
                          <a:latin typeface="Cambria"/>
                          <a:cs typeface="Cambria"/>
                        </a:rPr>
                        <a:t>	</a:t>
                      </a:r>
                      <a:r>
                        <a:rPr sz="2050" spc="-10" dirty="0">
                          <a:solidFill>
                            <a:srgbClr val="0F0F0F"/>
                          </a:solidFill>
                          <a:latin typeface="Cambria"/>
                          <a:cs typeface="Cambria"/>
                        </a:rPr>
                        <a:t>Introduction</a:t>
                      </a:r>
                      <a:endParaRPr sz="2050" dirty="0">
                        <a:latin typeface="Cambria"/>
                        <a:cs typeface="Cambria"/>
                      </a:endParaRPr>
                    </a:p>
                  </a:txBody>
                  <a:tcPr marL="0" marR="0" marT="0" marB="0"/>
                </a:tc>
                <a:tc>
                  <a:txBody>
                    <a:bodyPr/>
                    <a:lstStyle/>
                    <a:p>
                      <a:pPr marR="127000" algn="r">
                        <a:lnSpc>
                          <a:spcPts val="2425"/>
                        </a:lnSpc>
                      </a:pPr>
                      <a:r>
                        <a:rPr sz="2050" spc="-25" dirty="0">
                          <a:solidFill>
                            <a:srgbClr val="6D6D6D"/>
                          </a:solidFill>
                          <a:latin typeface="Cambria"/>
                          <a:cs typeface="Cambria"/>
                        </a:rPr>
                        <a:t>06</a:t>
                      </a:r>
                      <a:endParaRPr sz="2050">
                        <a:latin typeface="Cambria"/>
                        <a:cs typeface="Cambria"/>
                      </a:endParaRPr>
                    </a:p>
                  </a:txBody>
                  <a:tcPr marL="0" marR="0" marT="0" marB="0"/>
                </a:tc>
                <a:tc>
                  <a:txBody>
                    <a:bodyPr/>
                    <a:lstStyle/>
                    <a:p>
                      <a:pPr marL="139065">
                        <a:lnSpc>
                          <a:spcPts val="2425"/>
                        </a:lnSpc>
                      </a:pPr>
                      <a:r>
                        <a:rPr sz="2050" dirty="0">
                          <a:solidFill>
                            <a:srgbClr val="0F0F0F"/>
                          </a:solidFill>
                          <a:latin typeface="Cambria"/>
                          <a:cs typeface="Cambria"/>
                        </a:rPr>
                        <a:t>Technical</a:t>
                      </a:r>
                      <a:r>
                        <a:rPr sz="2050" spc="125" dirty="0">
                          <a:solidFill>
                            <a:srgbClr val="0F0F0F"/>
                          </a:solidFill>
                          <a:latin typeface="Cambria"/>
                          <a:cs typeface="Cambria"/>
                        </a:rPr>
                        <a:t> </a:t>
                      </a:r>
                      <a:r>
                        <a:rPr sz="2050" spc="-10" dirty="0">
                          <a:solidFill>
                            <a:srgbClr val="0C0C0C"/>
                          </a:solidFill>
                          <a:latin typeface="Cambria"/>
                          <a:cs typeface="Cambria"/>
                        </a:rPr>
                        <a:t>architecture</a:t>
                      </a:r>
                      <a:endParaRPr sz="2050">
                        <a:latin typeface="Cambria"/>
                        <a:cs typeface="Cambria"/>
                      </a:endParaRPr>
                    </a:p>
                  </a:txBody>
                  <a:tcPr marL="0" marR="0" marT="0" marB="0"/>
                </a:tc>
                <a:extLst>
                  <a:ext uri="{0D108BD9-81ED-4DB2-BD59-A6C34878D82A}">
                    <a16:rowId xmlns:a16="http://schemas.microsoft.com/office/drawing/2014/main" val="10000"/>
                  </a:ext>
                </a:extLst>
              </a:tr>
              <a:tr h="652145">
                <a:tc>
                  <a:txBody>
                    <a:bodyPr/>
                    <a:lstStyle/>
                    <a:p>
                      <a:pPr marL="32384">
                        <a:lnSpc>
                          <a:spcPct val="100000"/>
                        </a:lnSpc>
                        <a:spcBef>
                          <a:spcPts val="1265"/>
                        </a:spcBef>
                        <a:tabLst>
                          <a:tab pos="548640" algn="l"/>
                        </a:tabLst>
                      </a:pPr>
                      <a:r>
                        <a:rPr sz="2000" spc="-25" dirty="0">
                          <a:solidFill>
                            <a:srgbClr val="6E6E6E"/>
                          </a:solidFill>
                          <a:latin typeface="Cambria"/>
                          <a:cs typeface="Cambria"/>
                        </a:rPr>
                        <a:t>02</a:t>
                      </a:r>
                      <a:r>
                        <a:rPr sz="2000" dirty="0">
                          <a:solidFill>
                            <a:srgbClr val="6E6E6E"/>
                          </a:solidFill>
                          <a:latin typeface="Cambria"/>
                          <a:cs typeface="Cambria"/>
                        </a:rPr>
                        <a:t>	</a:t>
                      </a:r>
                      <a:r>
                        <a:rPr sz="2000" spc="55" dirty="0">
                          <a:solidFill>
                            <a:srgbClr val="0C0C0C"/>
                          </a:solidFill>
                          <a:latin typeface="Cambria"/>
                          <a:cs typeface="Cambria"/>
                        </a:rPr>
                        <a:t>Motivation</a:t>
                      </a:r>
                      <a:endParaRPr sz="2000">
                        <a:latin typeface="Cambria"/>
                        <a:cs typeface="Cambria"/>
                      </a:endParaRPr>
                    </a:p>
                  </a:txBody>
                  <a:tcPr marL="0" marR="0" marT="160655" marB="0"/>
                </a:tc>
                <a:tc>
                  <a:txBody>
                    <a:bodyPr/>
                    <a:lstStyle/>
                    <a:p>
                      <a:pPr marR="146685" algn="r">
                        <a:lnSpc>
                          <a:spcPct val="100000"/>
                        </a:lnSpc>
                        <a:spcBef>
                          <a:spcPts val="1190"/>
                        </a:spcBef>
                      </a:pPr>
                      <a:r>
                        <a:rPr sz="2150" spc="-25" dirty="0">
                          <a:solidFill>
                            <a:srgbClr val="6E6E6E"/>
                          </a:solidFill>
                          <a:latin typeface="Times New Roman"/>
                          <a:cs typeface="Times New Roman"/>
                        </a:rPr>
                        <a:t>07</a:t>
                      </a:r>
                      <a:endParaRPr sz="2150">
                        <a:latin typeface="Times New Roman"/>
                        <a:cs typeface="Times New Roman"/>
                      </a:endParaRPr>
                    </a:p>
                  </a:txBody>
                  <a:tcPr marL="0" marR="0" marT="151130" marB="0"/>
                </a:tc>
                <a:tc>
                  <a:txBody>
                    <a:bodyPr/>
                    <a:lstStyle/>
                    <a:p>
                      <a:pPr marL="142875">
                        <a:lnSpc>
                          <a:spcPct val="100000"/>
                        </a:lnSpc>
                        <a:spcBef>
                          <a:spcPts val="1190"/>
                        </a:spcBef>
                      </a:pPr>
                      <a:r>
                        <a:rPr sz="2150" dirty="0">
                          <a:solidFill>
                            <a:srgbClr val="0F0F0F"/>
                          </a:solidFill>
                          <a:latin typeface="Times New Roman"/>
                          <a:cs typeface="Times New Roman"/>
                        </a:rPr>
                        <a:t>Results</a:t>
                      </a:r>
                      <a:r>
                        <a:rPr sz="2150" spc="95" dirty="0">
                          <a:solidFill>
                            <a:srgbClr val="0F0F0F"/>
                          </a:solidFill>
                          <a:latin typeface="Times New Roman"/>
                          <a:cs typeface="Times New Roman"/>
                        </a:rPr>
                        <a:t> </a:t>
                      </a:r>
                      <a:r>
                        <a:rPr sz="2150" spc="130" dirty="0">
                          <a:solidFill>
                            <a:srgbClr val="0E0E0E"/>
                          </a:solidFill>
                          <a:latin typeface="Times New Roman"/>
                          <a:cs typeface="Times New Roman"/>
                        </a:rPr>
                        <a:t>&amp;</a:t>
                      </a:r>
                      <a:r>
                        <a:rPr sz="2150" spc="-25" dirty="0">
                          <a:solidFill>
                            <a:srgbClr val="0E0E0E"/>
                          </a:solidFill>
                          <a:latin typeface="Times New Roman"/>
                          <a:cs typeface="Times New Roman"/>
                        </a:rPr>
                        <a:t> </a:t>
                      </a:r>
                      <a:r>
                        <a:rPr sz="2150" spc="-10" dirty="0">
                          <a:solidFill>
                            <a:srgbClr val="0E0E0E"/>
                          </a:solidFill>
                          <a:latin typeface="Times New Roman"/>
                          <a:cs typeface="Times New Roman"/>
                        </a:rPr>
                        <a:t>analysis</a:t>
                      </a:r>
                      <a:endParaRPr sz="2150" dirty="0">
                        <a:latin typeface="Times New Roman"/>
                        <a:cs typeface="Times New Roman"/>
                      </a:endParaRPr>
                    </a:p>
                  </a:txBody>
                  <a:tcPr marL="0" marR="0" marT="151130" marB="0"/>
                </a:tc>
                <a:extLst>
                  <a:ext uri="{0D108BD9-81ED-4DB2-BD59-A6C34878D82A}">
                    <a16:rowId xmlns:a16="http://schemas.microsoft.com/office/drawing/2014/main" val="10001"/>
                  </a:ext>
                </a:extLst>
              </a:tr>
              <a:tr h="651510">
                <a:tc>
                  <a:txBody>
                    <a:bodyPr/>
                    <a:lstStyle/>
                    <a:p>
                      <a:pPr marL="32384">
                        <a:lnSpc>
                          <a:spcPct val="100000"/>
                        </a:lnSpc>
                        <a:spcBef>
                          <a:spcPts val="1250"/>
                        </a:spcBef>
                        <a:tabLst>
                          <a:tab pos="547370" algn="l"/>
                        </a:tabLst>
                      </a:pPr>
                      <a:r>
                        <a:rPr sz="2050" spc="-25" dirty="0">
                          <a:solidFill>
                            <a:srgbClr val="6E6E6E"/>
                          </a:solidFill>
                          <a:latin typeface="Cambria"/>
                          <a:cs typeface="Cambria"/>
                        </a:rPr>
                        <a:t>03</a:t>
                      </a:r>
                      <a:r>
                        <a:rPr sz="2050" dirty="0">
                          <a:solidFill>
                            <a:srgbClr val="6E6E6E"/>
                          </a:solidFill>
                          <a:latin typeface="Cambria"/>
                          <a:cs typeface="Cambria"/>
                        </a:rPr>
                        <a:t>	</a:t>
                      </a:r>
                      <a:r>
                        <a:rPr sz="2050" dirty="0">
                          <a:solidFill>
                            <a:srgbClr val="0F0F0F"/>
                          </a:solidFill>
                          <a:latin typeface="Cambria"/>
                          <a:cs typeface="Cambria"/>
                        </a:rPr>
                        <a:t>Research</a:t>
                      </a:r>
                      <a:r>
                        <a:rPr sz="2050" spc="80" dirty="0">
                          <a:solidFill>
                            <a:srgbClr val="0F0F0F"/>
                          </a:solidFill>
                          <a:latin typeface="Cambria"/>
                          <a:cs typeface="Cambria"/>
                        </a:rPr>
                        <a:t> </a:t>
                      </a:r>
                      <a:r>
                        <a:rPr sz="2050" spc="-25" dirty="0">
                          <a:solidFill>
                            <a:srgbClr val="111111"/>
                          </a:solidFill>
                          <a:latin typeface="Cambria"/>
                          <a:cs typeface="Cambria"/>
                        </a:rPr>
                        <a:t>gap</a:t>
                      </a:r>
                      <a:endParaRPr sz="2050">
                        <a:latin typeface="Cambria"/>
                        <a:cs typeface="Cambria"/>
                      </a:endParaRPr>
                    </a:p>
                  </a:txBody>
                  <a:tcPr marL="0" marR="0" marT="158750" marB="0"/>
                </a:tc>
                <a:tc>
                  <a:txBody>
                    <a:bodyPr/>
                    <a:lstStyle/>
                    <a:p>
                      <a:pPr marR="127635" algn="r">
                        <a:lnSpc>
                          <a:spcPct val="100000"/>
                        </a:lnSpc>
                        <a:spcBef>
                          <a:spcPts val="1125"/>
                        </a:spcBef>
                      </a:pPr>
                      <a:r>
                        <a:rPr sz="2100" spc="-25" dirty="0">
                          <a:solidFill>
                            <a:srgbClr val="6E6E6E"/>
                          </a:solidFill>
                          <a:latin typeface="Times New Roman"/>
                          <a:cs typeface="Times New Roman"/>
                        </a:rPr>
                        <a:t>08</a:t>
                      </a:r>
                      <a:endParaRPr sz="2100">
                        <a:latin typeface="Times New Roman"/>
                        <a:cs typeface="Times New Roman"/>
                      </a:endParaRPr>
                    </a:p>
                  </a:txBody>
                  <a:tcPr marL="0" marR="0" marT="142875" marB="0"/>
                </a:tc>
                <a:tc>
                  <a:txBody>
                    <a:bodyPr/>
                    <a:lstStyle/>
                    <a:p>
                      <a:pPr marL="142875">
                        <a:lnSpc>
                          <a:spcPct val="100000"/>
                        </a:lnSpc>
                        <a:spcBef>
                          <a:spcPts val="1125"/>
                        </a:spcBef>
                      </a:pPr>
                      <a:r>
                        <a:rPr sz="2100" spc="65" dirty="0">
                          <a:solidFill>
                            <a:srgbClr val="0C0C0C"/>
                          </a:solidFill>
                          <a:latin typeface="Times New Roman"/>
                          <a:cs typeface="Times New Roman"/>
                        </a:rPr>
                        <a:t>Conclusion</a:t>
                      </a:r>
                      <a:endParaRPr sz="2100">
                        <a:latin typeface="Times New Roman"/>
                        <a:cs typeface="Times New Roman"/>
                      </a:endParaRPr>
                    </a:p>
                  </a:txBody>
                  <a:tcPr marL="0" marR="0" marT="142875" marB="0"/>
                </a:tc>
                <a:extLst>
                  <a:ext uri="{0D108BD9-81ED-4DB2-BD59-A6C34878D82A}">
                    <a16:rowId xmlns:a16="http://schemas.microsoft.com/office/drawing/2014/main" val="10002"/>
                  </a:ext>
                </a:extLst>
              </a:tr>
              <a:tr h="636270">
                <a:tc>
                  <a:txBody>
                    <a:bodyPr/>
                    <a:lstStyle/>
                    <a:p>
                      <a:pPr marL="39370">
                        <a:lnSpc>
                          <a:spcPct val="100000"/>
                        </a:lnSpc>
                        <a:spcBef>
                          <a:spcPts val="1170"/>
                        </a:spcBef>
                        <a:tabLst>
                          <a:tab pos="557530" algn="l"/>
                        </a:tabLst>
                      </a:pPr>
                      <a:r>
                        <a:rPr sz="2100" spc="-25" dirty="0">
                          <a:solidFill>
                            <a:srgbClr val="6E6E6E"/>
                          </a:solidFill>
                          <a:latin typeface="Times New Roman"/>
                          <a:cs typeface="Times New Roman"/>
                        </a:rPr>
                        <a:t>04</a:t>
                      </a:r>
                      <a:r>
                        <a:rPr sz="2100" dirty="0">
                          <a:solidFill>
                            <a:srgbClr val="6E6E6E"/>
                          </a:solidFill>
                          <a:latin typeface="Times New Roman"/>
                          <a:cs typeface="Times New Roman"/>
                        </a:rPr>
                        <a:t>	</a:t>
                      </a:r>
                      <a:r>
                        <a:rPr sz="2100" dirty="0">
                          <a:solidFill>
                            <a:srgbClr val="0F0F0F"/>
                          </a:solidFill>
                          <a:latin typeface="Times New Roman"/>
                          <a:cs typeface="Times New Roman"/>
                        </a:rPr>
                        <a:t>Literature</a:t>
                      </a:r>
                      <a:r>
                        <a:rPr sz="2100" spc="490" dirty="0">
                          <a:solidFill>
                            <a:srgbClr val="0F0F0F"/>
                          </a:solidFill>
                          <a:latin typeface="Times New Roman"/>
                          <a:cs typeface="Times New Roman"/>
                        </a:rPr>
                        <a:t> </a:t>
                      </a:r>
                      <a:r>
                        <a:rPr sz="2100" spc="-10" dirty="0">
                          <a:solidFill>
                            <a:srgbClr val="0E0E0E"/>
                          </a:solidFill>
                          <a:latin typeface="Times New Roman"/>
                          <a:cs typeface="Times New Roman"/>
                        </a:rPr>
                        <a:t>survey</a:t>
                      </a:r>
                      <a:endParaRPr sz="2100">
                        <a:latin typeface="Times New Roman"/>
                        <a:cs typeface="Times New Roman"/>
                      </a:endParaRPr>
                    </a:p>
                  </a:txBody>
                  <a:tcPr marL="0" marR="0" marT="148590" marB="0"/>
                </a:tc>
                <a:tc>
                  <a:txBody>
                    <a:bodyPr/>
                    <a:lstStyle/>
                    <a:p>
                      <a:pPr marR="124460" algn="r">
                        <a:lnSpc>
                          <a:spcPct val="100000"/>
                        </a:lnSpc>
                        <a:spcBef>
                          <a:spcPts val="1170"/>
                        </a:spcBef>
                      </a:pPr>
                      <a:r>
                        <a:rPr sz="2100" spc="-25" dirty="0">
                          <a:solidFill>
                            <a:srgbClr val="707070"/>
                          </a:solidFill>
                          <a:latin typeface="Times New Roman"/>
                          <a:cs typeface="Times New Roman"/>
                        </a:rPr>
                        <a:t>09</a:t>
                      </a:r>
                      <a:endParaRPr sz="2100">
                        <a:latin typeface="Times New Roman"/>
                        <a:cs typeface="Times New Roman"/>
                      </a:endParaRPr>
                    </a:p>
                  </a:txBody>
                  <a:tcPr marL="0" marR="0" marT="148590" marB="0"/>
                </a:tc>
                <a:tc>
                  <a:txBody>
                    <a:bodyPr/>
                    <a:lstStyle/>
                    <a:p>
                      <a:pPr marL="143510">
                        <a:lnSpc>
                          <a:spcPct val="100000"/>
                        </a:lnSpc>
                        <a:spcBef>
                          <a:spcPts val="1170"/>
                        </a:spcBef>
                      </a:pPr>
                      <a:r>
                        <a:rPr sz="2100" spc="75" dirty="0">
                          <a:solidFill>
                            <a:srgbClr val="0F0F0F"/>
                          </a:solidFill>
                          <a:latin typeface="Times New Roman"/>
                          <a:cs typeface="Times New Roman"/>
                        </a:rPr>
                        <a:t>Future</a:t>
                      </a:r>
                      <a:r>
                        <a:rPr sz="2100" spc="5" dirty="0">
                          <a:solidFill>
                            <a:srgbClr val="0F0F0F"/>
                          </a:solidFill>
                          <a:latin typeface="Times New Roman"/>
                          <a:cs typeface="Times New Roman"/>
                        </a:rPr>
                        <a:t> </a:t>
                      </a:r>
                      <a:r>
                        <a:rPr sz="2100" spc="-10" dirty="0">
                          <a:solidFill>
                            <a:srgbClr val="0F0F0F"/>
                          </a:solidFill>
                          <a:latin typeface="Times New Roman"/>
                          <a:cs typeface="Times New Roman"/>
                        </a:rPr>
                        <a:t>scope</a:t>
                      </a:r>
                      <a:endParaRPr sz="2100">
                        <a:latin typeface="Times New Roman"/>
                        <a:cs typeface="Times New Roman"/>
                      </a:endParaRPr>
                    </a:p>
                  </a:txBody>
                  <a:tcPr marL="0" marR="0" marT="148590" marB="0"/>
                </a:tc>
                <a:extLst>
                  <a:ext uri="{0D108BD9-81ED-4DB2-BD59-A6C34878D82A}">
                    <a16:rowId xmlns:a16="http://schemas.microsoft.com/office/drawing/2014/main" val="10003"/>
                  </a:ext>
                </a:extLst>
              </a:tr>
              <a:tr h="487680">
                <a:tc>
                  <a:txBody>
                    <a:bodyPr/>
                    <a:lstStyle/>
                    <a:p>
                      <a:pPr marL="31750">
                        <a:lnSpc>
                          <a:spcPts val="2535"/>
                        </a:lnSpc>
                        <a:spcBef>
                          <a:spcPts val="1205"/>
                        </a:spcBef>
                        <a:tabLst>
                          <a:tab pos="546735" algn="l"/>
                        </a:tabLst>
                      </a:pPr>
                      <a:r>
                        <a:rPr sz="2150" spc="-280" dirty="0">
                          <a:solidFill>
                            <a:srgbClr val="707070"/>
                          </a:solidFill>
                          <a:latin typeface="Cambria"/>
                          <a:cs typeface="Cambria"/>
                        </a:rPr>
                        <a:t>05</a:t>
                      </a:r>
                      <a:r>
                        <a:rPr sz="2150" dirty="0">
                          <a:solidFill>
                            <a:srgbClr val="707070"/>
                          </a:solidFill>
                          <a:latin typeface="Cambria"/>
                          <a:cs typeface="Cambria"/>
                        </a:rPr>
                        <a:t>	</a:t>
                      </a:r>
                      <a:r>
                        <a:rPr sz="2150" spc="-30" dirty="0">
                          <a:solidFill>
                            <a:srgbClr val="0F0F0F"/>
                          </a:solidFill>
                          <a:latin typeface="Cambria"/>
                          <a:cs typeface="Cambria"/>
                        </a:rPr>
                        <a:t>Proposed</a:t>
                      </a:r>
                      <a:r>
                        <a:rPr sz="2150" spc="-70" dirty="0">
                          <a:solidFill>
                            <a:srgbClr val="0F0F0F"/>
                          </a:solidFill>
                          <a:latin typeface="Cambria"/>
                          <a:cs typeface="Cambria"/>
                        </a:rPr>
                        <a:t> </a:t>
                      </a:r>
                      <a:r>
                        <a:rPr sz="2150" spc="-10" dirty="0">
                          <a:solidFill>
                            <a:srgbClr val="0F0F0F"/>
                          </a:solidFill>
                          <a:latin typeface="Cambria"/>
                          <a:cs typeface="Cambria"/>
                        </a:rPr>
                        <a:t>methodology</a:t>
                      </a:r>
                      <a:endParaRPr sz="2150">
                        <a:latin typeface="Cambria"/>
                        <a:cs typeface="Cambria"/>
                      </a:endParaRPr>
                    </a:p>
                  </a:txBody>
                  <a:tcPr marL="0" marR="0" marT="153035" marB="0"/>
                </a:tc>
                <a:tc>
                  <a:txBody>
                    <a:bodyPr/>
                    <a:lstStyle/>
                    <a:p>
                      <a:pPr marR="173355" algn="r">
                        <a:lnSpc>
                          <a:spcPct val="100000"/>
                        </a:lnSpc>
                        <a:spcBef>
                          <a:spcPts val="1230"/>
                        </a:spcBef>
                      </a:pPr>
                      <a:r>
                        <a:rPr sz="2050" spc="-350" dirty="0">
                          <a:solidFill>
                            <a:srgbClr val="6E6E6E"/>
                          </a:solidFill>
                          <a:latin typeface="Cambria"/>
                          <a:cs typeface="Cambria"/>
                        </a:rPr>
                        <a:t>10</a:t>
                      </a:r>
                      <a:endParaRPr sz="2050">
                        <a:latin typeface="Cambria"/>
                        <a:cs typeface="Cambria"/>
                      </a:endParaRPr>
                    </a:p>
                  </a:txBody>
                  <a:tcPr marL="0" marR="0" marT="156210" marB="0"/>
                </a:tc>
                <a:tc>
                  <a:txBody>
                    <a:bodyPr/>
                    <a:lstStyle/>
                    <a:p>
                      <a:pPr marL="132080">
                        <a:lnSpc>
                          <a:spcPct val="100000"/>
                        </a:lnSpc>
                        <a:spcBef>
                          <a:spcPts val="1230"/>
                        </a:spcBef>
                      </a:pPr>
                      <a:r>
                        <a:rPr sz="2050" spc="-10" dirty="0">
                          <a:solidFill>
                            <a:srgbClr val="0C0C0C"/>
                          </a:solidFill>
                          <a:latin typeface="Cambria"/>
                          <a:cs typeface="Cambria"/>
                        </a:rPr>
                        <a:t>References</a:t>
                      </a:r>
                      <a:endParaRPr sz="2050" dirty="0">
                        <a:latin typeface="Cambria"/>
                        <a:cs typeface="Cambria"/>
                      </a:endParaRPr>
                    </a:p>
                  </a:txBody>
                  <a:tcPr marL="0" marR="0" marT="156210" marB="0"/>
                </a:tc>
                <a:extLst>
                  <a:ext uri="{0D108BD9-81ED-4DB2-BD59-A6C34878D82A}">
                    <a16:rowId xmlns:a16="http://schemas.microsoft.com/office/drawing/2014/main" val="10004"/>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648700" y="890587"/>
            <a:ext cx="4929187" cy="6324600"/>
          </a:xfrm>
          <a:prstGeom prst="rect">
            <a:avLst/>
          </a:prstGeom>
        </p:spPr>
      </p:pic>
      <p:sp>
        <p:nvSpPr>
          <p:cNvPr id="3" name="object 3"/>
          <p:cNvSpPr txBox="1">
            <a:spLocks noGrp="1"/>
          </p:cNvSpPr>
          <p:nvPr>
            <p:ph type="title"/>
          </p:nvPr>
        </p:nvSpPr>
        <p:spPr>
          <a:xfrm>
            <a:off x="832112" y="890587"/>
            <a:ext cx="4799330" cy="644525"/>
          </a:xfrm>
          <a:prstGeom prst="rect">
            <a:avLst/>
          </a:prstGeom>
        </p:spPr>
        <p:txBody>
          <a:bodyPr vert="horz" wrap="square" lIns="0" tIns="13970" rIns="0" bIns="0" rtlCol="0">
            <a:spAutoFit/>
          </a:bodyPr>
          <a:lstStyle/>
          <a:p>
            <a:pPr marL="12700">
              <a:lnSpc>
                <a:spcPct val="100000"/>
              </a:lnSpc>
              <a:spcBef>
                <a:spcPts val="110"/>
              </a:spcBef>
            </a:pPr>
            <a:r>
              <a:rPr sz="4050" b="1" dirty="0">
                <a:solidFill>
                  <a:srgbClr val="111111"/>
                </a:solidFill>
                <a:latin typeface="Times New Roman" panose="02020603050405020304" pitchFamily="18" charset="0"/>
                <a:cs typeface="Times New Roman" panose="02020603050405020304" pitchFamily="18" charset="0"/>
              </a:rPr>
              <a:t>Why</a:t>
            </a:r>
            <a:r>
              <a:rPr sz="4050" b="1" spc="-155" dirty="0">
                <a:solidFill>
                  <a:srgbClr val="111111"/>
                </a:solidFill>
                <a:latin typeface="Times New Roman" panose="02020603050405020304" pitchFamily="18" charset="0"/>
                <a:cs typeface="Times New Roman" panose="02020603050405020304" pitchFamily="18" charset="0"/>
              </a:rPr>
              <a:t> </a:t>
            </a:r>
            <a:r>
              <a:rPr sz="4050" b="1" spc="-80" dirty="0">
                <a:solidFill>
                  <a:srgbClr val="0F0F0F"/>
                </a:solidFill>
                <a:latin typeface="Times New Roman" panose="02020603050405020304" pitchFamily="18" charset="0"/>
                <a:cs typeface="Times New Roman" panose="02020603050405020304" pitchFamily="18" charset="0"/>
              </a:rPr>
              <a:t>detection</a:t>
            </a:r>
            <a:r>
              <a:rPr sz="4050" b="1" spc="5" dirty="0">
                <a:solidFill>
                  <a:srgbClr val="0F0F0F"/>
                </a:solidFill>
                <a:latin typeface="Times New Roman" panose="02020603050405020304" pitchFamily="18" charset="0"/>
                <a:cs typeface="Times New Roman" panose="02020603050405020304" pitchFamily="18" charset="0"/>
              </a:rPr>
              <a:t> </a:t>
            </a:r>
            <a:r>
              <a:rPr sz="4050" b="1" spc="-155" dirty="0">
                <a:solidFill>
                  <a:srgbClr val="0F0F0F"/>
                </a:solidFill>
                <a:latin typeface="Times New Roman" panose="02020603050405020304" pitchFamily="18" charset="0"/>
                <a:cs typeface="Times New Roman" panose="02020603050405020304" pitchFamily="18" charset="0"/>
              </a:rPr>
              <a:t>matters</a:t>
            </a:r>
            <a:endParaRPr sz="4050" b="1" dirty="0">
              <a:latin typeface="Times New Roman" panose="02020603050405020304" pitchFamily="18" charset="0"/>
              <a:cs typeface="Times New Roman" panose="02020603050405020304" pitchFamily="18" charset="0"/>
            </a:endParaRPr>
          </a:p>
        </p:txBody>
      </p:sp>
      <p:sp>
        <p:nvSpPr>
          <p:cNvPr id="4" name="object 4"/>
          <p:cNvSpPr txBox="1"/>
          <p:nvPr/>
        </p:nvSpPr>
        <p:spPr>
          <a:xfrm>
            <a:off x="832112" y="1990725"/>
            <a:ext cx="6597388" cy="5510739"/>
          </a:xfrm>
          <a:prstGeom prst="rect">
            <a:avLst/>
          </a:prstGeom>
        </p:spPr>
        <p:txBody>
          <a:bodyPr vert="horz" wrap="square" lIns="0" tIns="3175" rIns="0" bIns="0" rtlCol="0">
            <a:spAutoFit/>
          </a:bodyPr>
          <a:lstStyle/>
          <a:p>
            <a:pPr marL="15240" marR="113664" indent="-1905" algn="just">
              <a:lnSpc>
                <a:spcPct val="104600"/>
              </a:lnSpc>
              <a:spcBef>
                <a:spcPts val="25"/>
              </a:spcBef>
            </a:pPr>
            <a:r>
              <a:rPr lang="en-US" spc="75" dirty="0">
                <a:solidFill>
                  <a:srgbClr val="080808"/>
                </a:solidFill>
                <a:latin typeface="Times New Roman" panose="02020603050405020304" pitchFamily="18" charset="0"/>
                <a:cs typeface="Times New Roman" panose="02020603050405020304" pitchFamily="18" charset="0"/>
              </a:rPr>
              <a:t>Misinformation is spreading faster than we can track it.</a:t>
            </a:r>
          </a:p>
          <a:p>
            <a:pPr marL="15240" marR="113664" indent="-1905" algn="just">
              <a:lnSpc>
                <a:spcPct val="104600"/>
              </a:lnSpc>
              <a:spcBef>
                <a:spcPts val="25"/>
              </a:spcBef>
            </a:pPr>
            <a:r>
              <a:rPr lang="en-US" spc="75" dirty="0">
                <a:solidFill>
                  <a:srgbClr val="080808"/>
                </a:solidFill>
                <a:latin typeface="Times New Roman" panose="02020603050405020304" pitchFamily="18" charset="0"/>
                <a:cs typeface="Times New Roman" panose="02020603050405020304" pitchFamily="18" charset="0"/>
              </a:rPr>
              <a:t>Social media has made it trivially easy to amplify false or misleading content. Driven by emotional appeal and rapid sharing, misinformation shapes public perception and causes measurable harm in healthcare, politics, and public safety.</a:t>
            </a:r>
          </a:p>
          <a:p>
            <a:pPr marL="15240" marR="113664" indent="-1905" algn="just">
              <a:lnSpc>
                <a:spcPct val="104600"/>
              </a:lnSpc>
              <a:spcBef>
                <a:spcPts val="25"/>
              </a:spcBef>
            </a:pPr>
            <a:endParaRPr lang="en-US" spc="75" dirty="0">
              <a:solidFill>
                <a:srgbClr val="080808"/>
              </a:solidFill>
              <a:latin typeface="Times New Roman" panose="02020603050405020304" pitchFamily="18" charset="0"/>
              <a:cs typeface="Times New Roman" panose="02020603050405020304" pitchFamily="18" charset="0"/>
            </a:endParaRPr>
          </a:p>
          <a:p>
            <a:pPr marL="15240" marR="113664" indent="-1905" algn="just">
              <a:lnSpc>
                <a:spcPct val="104600"/>
              </a:lnSpc>
              <a:spcBef>
                <a:spcPts val="25"/>
              </a:spcBef>
            </a:pPr>
            <a:r>
              <a:rPr lang="en-US" spc="75" dirty="0">
                <a:solidFill>
                  <a:srgbClr val="080808"/>
                </a:solidFill>
                <a:latin typeface="Times New Roman" panose="02020603050405020304" pitchFamily="18" charset="0"/>
                <a:cs typeface="Times New Roman" panose="02020603050405020304" pitchFamily="18" charset="0"/>
              </a:rPr>
              <a:t>LLM-Augmented Contrastive Learning (LACL) offers a promising path for automated detection - but current approaches carry two critical flaws:</a:t>
            </a:r>
          </a:p>
          <a:p>
            <a:pPr marL="299085" marR="113664" lvl="6" indent="-285750" algn="just">
              <a:lnSpc>
                <a:spcPct val="104600"/>
              </a:lnSpc>
              <a:spcBef>
                <a:spcPts val="25"/>
              </a:spcBef>
              <a:buFont typeface="Arial" panose="020B0604020202020204" pitchFamily="34" charset="0"/>
              <a:buChar char="•"/>
            </a:pPr>
            <a:r>
              <a:rPr lang="en-US" spc="75" dirty="0">
                <a:solidFill>
                  <a:srgbClr val="080808"/>
                </a:solidFill>
                <a:latin typeface="Times New Roman" panose="02020603050405020304" pitchFamily="18" charset="0"/>
                <a:cs typeface="Times New Roman" panose="02020603050405020304" pitchFamily="18" charset="0"/>
              </a:rPr>
              <a:t>Emotional inconsistency: LLM-generated augmentations retain semantic meaning while stripping emotional tone, a key signal for spotting misleading content.</a:t>
            </a:r>
          </a:p>
          <a:p>
            <a:pPr marL="299085" marR="113664" lvl="1" indent="-285750" algn="just">
              <a:lnSpc>
                <a:spcPct val="104600"/>
              </a:lnSpc>
              <a:spcBef>
                <a:spcPts val="25"/>
              </a:spcBef>
              <a:buFont typeface="Arial" panose="020B0604020202020204" pitchFamily="34" charset="0"/>
              <a:buChar char="•"/>
            </a:pPr>
            <a:r>
              <a:rPr lang="en-US" spc="75" dirty="0">
                <a:solidFill>
                  <a:srgbClr val="080808"/>
                </a:solidFill>
                <a:latin typeface="Times New Roman" panose="02020603050405020304" pitchFamily="18" charset="0"/>
                <a:cs typeface="Times New Roman" panose="02020603050405020304" pitchFamily="18" charset="0"/>
              </a:rPr>
              <a:t>No factual grounding: Systems relying on text patterns alone are vulnerable to hallucinations and factually wrong predictions.</a:t>
            </a:r>
          </a:p>
          <a:p>
            <a:pPr marL="15240" marR="113664" indent="-1905" algn="just">
              <a:lnSpc>
                <a:spcPct val="104600"/>
              </a:lnSpc>
              <a:spcBef>
                <a:spcPts val="25"/>
              </a:spcBef>
            </a:pPr>
            <a:r>
              <a:rPr lang="en-US" spc="75" dirty="0">
                <a:solidFill>
                  <a:srgbClr val="080808"/>
                </a:solidFill>
                <a:latin typeface="Times New Roman" panose="02020603050405020304" pitchFamily="18" charset="0"/>
                <a:cs typeface="Times New Roman" panose="02020603050405020304" pitchFamily="18" charset="0"/>
              </a:rPr>
              <a:t>EAFG-LACL addresses both. Our framework integrates emotion-aware filtering with external fact verification into a single contrastive learning pipeline - uniting semantic understanding, emotional consistency, and factual validation.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6BAB75A8-B1C5-CD8A-C712-156811069A9D}"/>
              </a:ext>
            </a:extLst>
          </p:cNvPr>
          <p:cNvSpPr/>
          <p:nvPr/>
        </p:nvSpPr>
        <p:spPr>
          <a:xfrm>
            <a:off x="9670342" y="5048464"/>
            <a:ext cx="4007557" cy="2439433"/>
          </a:xfrm>
          <a:prstGeom prst="roundRect">
            <a:avLst>
              <a:gd name="adj" fmla="val 7183"/>
            </a:avLst>
          </a:prstGeom>
          <a:solidFill>
            <a:srgbClr val="EBEE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sp>
        <p:nvSpPr>
          <p:cNvPr id="13" name="Rectangle: Rounded Corners 12">
            <a:extLst>
              <a:ext uri="{FF2B5EF4-FFF2-40B4-BE49-F238E27FC236}">
                <a16:creationId xmlns:a16="http://schemas.microsoft.com/office/drawing/2014/main" id="{1AB1A136-E5BB-1173-A089-E69070ECD36A}"/>
              </a:ext>
            </a:extLst>
          </p:cNvPr>
          <p:cNvSpPr/>
          <p:nvPr/>
        </p:nvSpPr>
        <p:spPr>
          <a:xfrm>
            <a:off x="5234992" y="5052710"/>
            <a:ext cx="3886200" cy="2439433"/>
          </a:xfrm>
          <a:prstGeom prst="roundRect">
            <a:avLst>
              <a:gd name="adj" fmla="val 7183"/>
            </a:avLst>
          </a:prstGeom>
          <a:solidFill>
            <a:srgbClr val="EBEE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sp>
        <p:nvSpPr>
          <p:cNvPr id="12" name="Rectangle: Rounded Corners 11">
            <a:extLst>
              <a:ext uri="{FF2B5EF4-FFF2-40B4-BE49-F238E27FC236}">
                <a16:creationId xmlns:a16="http://schemas.microsoft.com/office/drawing/2014/main" id="{CED3508F-4546-AD78-C35E-2DA5D42D835F}"/>
              </a:ext>
            </a:extLst>
          </p:cNvPr>
          <p:cNvSpPr/>
          <p:nvPr/>
        </p:nvSpPr>
        <p:spPr>
          <a:xfrm>
            <a:off x="723900" y="5052711"/>
            <a:ext cx="3886200" cy="2439433"/>
          </a:xfrm>
          <a:prstGeom prst="roundRect">
            <a:avLst>
              <a:gd name="adj" fmla="val 7183"/>
            </a:avLst>
          </a:prstGeom>
          <a:solidFill>
            <a:srgbClr val="EBEE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sp>
        <p:nvSpPr>
          <p:cNvPr id="11" name="Rectangle: Rounded Corners 10">
            <a:extLst>
              <a:ext uri="{FF2B5EF4-FFF2-40B4-BE49-F238E27FC236}">
                <a16:creationId xmlns:a16="http://schemas.microsoft.com/office/drawing/2014/main" id="{A9A2DF46-04D8-7684-0DDA-80E607B455DD}"/>
              </a:ext>
            </a:extLst>
          </p:cNvPr>
          <p:cNvSpPr/>
          <p:nvPr/>
        </p:nvSpPr>
        <p:spPr>
          <a:xfrm>
            <a:off x="9670343" y="1933741"/>
            <a:ext cx="4007556" cy="2666588"/>
          </a:xfrm>
          <a:prstGeom prst="roundRect">
            <a:avLst>
              <a:gd name="adj" fmla="val 7183"/>
            </a:avLst>
          </a:prstGeom>
          <a:solidFill>
            <a:srgbClr val="EBEE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sp>
        <p:nvSpPr>
          <p:cNvPr id="10" name="Rectangle: Rounded Corners 9">
            <a:extLst>
              <a:ext uri="{FF2B5EF4-FFF2-40B4-BE49-F238E27FC236}">
                <a16:creationId xmlns:a16="http://schemas.microsoft.com/office/drawing/2014/main" id="{DE5EAAC1-A91C-B593-2002-612E5A35B4F6}"/>
              </a:ext>
            </a:extLst>
          </p:cNvPr>
          <p:cNvSpPr/>
          <p:nvPr/>
        </p:nvSpPr>
        <p:spPr>
          <a:xfrm>
            <a:off x="5234992" y="1989691"/>
            <a:ext cx="3886200" cy="2744233"/>
          </a:xfrm>
          <a:prstGeom prst="roundRect">
            <a:avLst>
              <a:gd name="adj" fmla="val 7183"/>
            </a:avLst>
          </a:prstGeom>
          <a:solidFill>
            <a:srgbClr val="EBEE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sp>
        <p:nvSpPr>
          <p:cNvPr id="2" name="Rectangle: Rounded Corners 1">
            <a:extLst>
              <a:ext uri="{FF2B5EF4-FFF2-40B4-BE49-F238E27FC236}">
                <a16:creationId xmlns:a16="http://schemas.microsoft.com/office/drawing/2014/main" id="{19BD9925-AB71-0A93-31F9-7BC93B62A4FA}"/>
              </a:ext>
            </a:extLst>
          </p:cNvPr>
          <p:cNvSpPr/>
          <p:nvPr/>
        </p:nvSpPr>
        <p:spPr>
          <a:xfrm>
            <a:off x="723900" y="1989692"/>
            <a:ext cx="3886200" cy="2744233"/>
          </a:xfrm>
          <a:prstGeom prst="roundRect">
            <a:avLst>
              <a:gd name="adj" fmla="val 7183"/>
            </a:avLst>
          </a:prstGeom>
          <a:solidFill>
            <a:srgbClr val="EBEE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sp>
        <p:nvSpPr>
          <p:cNvPr id="3" name="object 3"/>
          <p:cNvSpPr txBox="1">
            <a:spLocks noGrp="1"/>
          </p:cNvSpPr>
          <p:nvPr>
            <p:ph type="title"/>
          </p:nvPr>
        </p:nvSpPr>
        <p:spPr>
          <a:xfrm>
            <a:off x="519276" y="916781"/>
            <a:ext cx="12625224" cy="755335"/>
          </a:xfrm>
          <a:prstGeom prst="rect">
            <a:avLst/>
          </a:prstGeom>
        </p:spPr>
        <p:txBody>
          <a:bodyPr vert="horz" wrap="square" lIns="0" tIns="16510" rIns="0" bIns="0" rtlCol="0">
            <a:spAutoFit/>
          </a:bodyPr>
          <a:lstStyle/>
          <a:p>
            <a:pPr marL="12700">
              <a:lnSpc>
                <a:spcPct val="100000"/>
              </a:lnSpc>
              <a:spcBef>
                <a:spcPts val="130"/>
              </a:spcBef>
            </a:pPr>
            <a:r>
              <a:rPr sz="4800" b="1" spc="-105" dirty="0">
                <a:solidFill>
                  <a:srgbClr val="080808"/>
                </a:solidFill>
                <a:latin typeface="Times New Roman" panose="02020603050405020304" pitchFamily="18" charset="0"/>
                <a:cs typeface="Times New Roman" panose="02020603050405020304" pitchFamily="18" charset="0"/>
              </a:rPr>
              <a:t>Why</a:t>
            </a:r>
            <a:r>
              <a:rPr sz="4800" b="1" spc="-145" dirty="0">
                <a:solidFill>
                  <a:srgbClr val="080808"/>
                </a:solidFill>
                <a:latin typeface="Times New Roman" panose="02020603050405020304" pitchFamily="18" charset="0"/>
                <a:cs typeface="Times New Roman" panose="02020603050405020304" pitchFamily="18" charset="0"/>
              </a:rPr>
              <a:t> </a:t>
            </a:r>
            <a:r>
              <a:rPr sz="4800" b="1" spc="-160" dirty="0">
                <a:solidFill>
                  <a:srgbClr val="080808"/>
                </a:solidFill>
                <a:latin typeface="Times New Roman" panose="02020603050405020304" pitchFamily="18" charset="0"/>
                <a:cs typeface="Times New Roman" panose="02020603050405020304" pitchFamily="18" charset="0"/>
              </a:rPr>
              <a:t>misinformation</a:t>
            </a:r>
            <a:r>
              <a:rPr sz="4800" b="1" spc="-100" dirty="0">
                <a:solidFill>
                  <a:srgbClr val="080808"/>
                </a:solidFill>
                <a:latin typeface="Times New Roman" panose="02020603050405020304" pitchFamily="18" charset="0"/>
                <a:cs typeface="Times New Roman" panose="02020603050405020304" pitchFamily="18" charset="0"/>
              </a:rPr>
              <a:t> </a:t>
            </a:r>
            <a:r>
              <a:rPr sz="4800" b="1" spc="-180" dirty="0">
                <a:solidFill>
                  <a:srgbClr val="080808"/>
                </a:solidFill>
                <a:latin typeface="Times New Roman" panose="02020603050405020304" pitchFamily="18" charset="0"/>
                <a:cs typeface="Times New Roman" panose="02020603050405020304" pitchFamily="18" charset="0"/>
              </a:rPr>
              <a:t>detection</a:t>
            </a:r>
            <a:r>
              <a:rPr sz="4800" b="1" spc="65" dirty="0">
                <a:solidFill>
                  <a:srgbClr val="080808"/>
                </a:solidFill>
                <a:latin typeface="Times New Roman" panose="02020603050405020304" pitchFamily="18" charset="0"/>
                <a:cs typeface="Times New Roman" panose="02020603050405020304" pitchFamily="18" charset="0"/>
              </a:rPr>
              <a:t> </a:t>
            </a:r>
            <a:r>
              <a:rPr sz="4800" b="1" spc="-260" dirty="0">
                <a:solidFill>
                  <a:srgbClr val="080808"/>
                </a:solidFill>
                <a:latin typeface="Times New Roman" panose="02020603050405020304" pitchFamily="18" charset="0"/>
                <a:cs typeface="Times New Roman" panose="02020603050405020304" pitchFamily="18" charset="0"/>
              </a:rPr>
              <a:t>is</a:t>
            </a:r>
            <a:r>
              <a:rPr sz="4800" b="1" spc="-170" dirty="0">
                <a:solidFill>
                  <a:srgbClr val="080808"/>
                </a:solidFill>
                <a:latin typeface="Times New Roman" panose="02020603050405020304" pitchFamily="18" charset="0"/>
                <a:cs typeface="Times New Roman" panose="02020603050405020304" pitchFamily="18" charset="0"/>
              </a:rPr>
              <a:t> </a:t>
            </a:r>
            <a:r>
              <a:rPr sz="4800" b="1" spc="-150" dirty="0">
                <a:solidFill>
                  <a:srgbClr val="080808"/>
                </a:solidFill>
                <a:latin typeface="Times New Roman" panose="02020603050405020304" pitchFamily="18" charset="0"/>
                <a:cs typeface="Times New Roman" panose="02020603050405020304" pitchFamily="18" charset="0"/>
              </a:rPr>
              <a:t>challenging</a:t>
            </a:r>
            <a:endParaRPr sz="4800" b="1" dirty="0">
              <a:solidFill>
                <a:srgbClr val="080808"/>
              </a:solidFill>
              <a:latin typeface="Times New Roman" panose="02020603050405020304" pitchFamily="18" charset="0"/>
              <a:cs typeface="Times New Roman" panose="02020603050405020304" pitchFamily="18" charset="0"/>
            </a:endParaRPr>
          </a:p>
        </p:txBody>
      </p:sp>
      <p:sp>
        <p:nvSpPr>
          <p:cNvPr id="4" name="object 4"/>
          <p:cNvSpPr txBox="1"/>
          <p:nvPr/>
        </p:nvSpPr>
        <p:spPr>
          <a:xfrm>
            <a:off x="826298" y="2075920"/>
            <a:ext cx="3643714" cy="2524409"/>
          </a:xfrm>
          <a:prstGeom prst="rect">
            <a:avLst/>
          </a:prstGeom>
          <a:solidFill>
            <a:srgbClr val="E5F3DB"/>
          </a:solidFill>
        </p:spPr>
        <p:txBody>
          <a:bodyPr vert="horz" wrap="square" lIns="0" tIns="53975" rIns="0" bIns="0" rtlCol="0">
            <a:spAutoFit/>
          </a:bodyPr>
          <a:lstStyle/>
          <a:p>
            <a:pPr marL="12700" marR="253365" indent="6350" algn="l">
              <a:lnSpc>
                <a:spcPts val="2850"/>
              </a:lnSpc>
              <a:spcBef>
                <a:spcPts val="425"/>
              </a:spcBef>
            </a:pPr>
            <a:r>
              <a:rPr sz="2800" dirty="0">
                <a:solidFill>
                  <a:srgbClr val="080808"/>
                </a:solidFill>
                <a:latin typeface="Times New Roman" panose="02020603050405020304" pitchFamily="18" charset="0"/>
                <a:cs typeface="Times New Roman" panose="02020603050405020304" pitchFamily="18" charset="0"/>
              </a:rPr>
              <a:t>Semantic</a:t>
            </a:r>
            <a:r>
              <a:rPr lang="en-US" sz="2800" spc="459" dirty="0">
                <a:solidFill>
                  <a:srgbClr val="080808"/>
                </a:solidFill>
                <a:latin typeface="Times New Roman" panose="02020603050405020304" pitchFamily="18" charset="0"/>
                <a:cs typeface="Times New Roman" panose="02020603050405020304" pitchFamily="18" charset="0"/>
              </a:rPr>
              <a:t> </a:t>
            </a:r>
            <a:r>
              <a:rPr sz="2800" dirty="0">
                <a:solidFill>
                  <a:srgbClr val="080808"/>
                </a:solidFill>
                <a:latin typeface="Times New Roman" panose="02020603050405020304" pitchFamily="18" charset="0"/>
                <a:cs typeface="Times New Roman" panose="02020603050405020304" pitchFamily="18" charset="0"/>
              </a:rPr>
              <a:t>Complexity</a:t>
            </a:r>
            <a:r>
              <a:rPr sz="2800" spc="385" dirty="0">
                <a:solidFill>
                  <a:srgbClr val="080808"/>
                </a:solidFill>
                <a:latin typeface="Times New Roman" panose="02020603050405020304" pitchFamily="18" charset="0"/>
                <a:cs typeface="Times New Roman" panose="02020603050405020304" pitchFamily="18" charset="0"/>
              </a:rPr>
              <a:t> </a:t>
            </a:r>
            <a:r>
              <a:rPr sz="2800" spc="-25" dirty="0">
                <a:solidFill>
                  <a:srgbClr val="080808"/>
                </a:solidFill>
                <a:latin typeface="Times New Roman" panose="02020603050405020304" pitchFamily="18" charset="0"/>
                <a:cs typeface="Times New Roman" panose="02020603050405020304" pitchFamily="18" charset="0"/>
              </a:rPr>
              <a:t>of</a:t>
            </a:r>
            <a:r>
              <a:rPr lang="en-US" sz="2800" spc="-25" dirty="0">
                <a:solidFill>
                  <a:srgbClr val="080808"/>
                </a:solidFill>
                <a:latin typeface="Times New Roman" panose="02020603050405020304" pitchFamily="18" charset="0"/>
                <a:cs typeface="Times New Roman" panose="02020603050405020304" pitchFamily="18" charset="0"/>
              </a:rPr>
              <a:t> </a:t>
            </a:r>
            <a:r>
              <a:rPr sz="2800" spc="-10" dirty="0">
                <a:solidFill>
                  <a:srgbClr val="080808"/>
                </a:solidFill>
                <a:latin typeface="Times New Roman" panose="02020603050405020304" pitchFamily="18" charset="0"/>
                <a:cs typeface="Times New Roman" panose="02020603050405020304" pitchFamily="18" charset="0"/>
              </a:rPr>
              <a:t>Misinformation</a:t>
            </a:r>
            <a:endParaRPr sz="2800" dirty="0">
              <a:solidFill>
                <a:srgbClr val="080808"/>
              </a:solidFill>
              <a:latin typeface="Times New Roman" panose="02020603050405020304" pitchFamily="18" charset="0"/>
              <a:cs typeface="Times New Roman" panose="02020603050405020304" pitchFamily="18" charset="0"/>
            </a:endParaRPr>
          </a:p>
          <a:p>
            <a:pPr marL="17145" marR="5080" indent="2540" algn="just">
              <a:lnSpc>
                <a:spcPct val="100200"/>
              </a:lnSpc>
              <a:spcBef>
                <a:spcPts val="484"/>
              </a:spcBef>
            </a:pPr>
            <a:r>
              <a:rPr dirty="0">
                <a:solidFill>
                  <a:srgbClr val="646464"/>
                </a:solidFill>
                <a:latin typeface="Times New Roman" panose="02020603050405020304" pitchFamily="18" charset="0"/>
                <a:cs typeface="Times New Roman" panose="02020603050405020304" pitchFamily="18" charset="0"/>
              </a:rPr>
              <a:t>Misinformation</a:t>
            </a:r>
            <a:r>
              <a:rPr spc="-90" dirty="0">
                <a:solidFill>
                  <a:srgbClr val="646464"/>
                </a:solidFill>
                <a:latin typeface="Times New Roman" panose="02020603050405020304" pitchFamily="18" charset="0"/>
                <a:cs typeface="Times New Roman" panose="02020603050405020304" pitchFamily="18" charset="0"/>
              </a:rPr>
              <a:t> </a:t>
            </a:r>
            <a:r>
              <a:rPr dirty="0">
                <a:solidFill>
                  <a:srgbClr val="666666"/>
                </a:solidFill>
                <a:latin typeface="Times New Roman" panose="02020603050405020304" pitchFamily="18" charset="0"/>
                <a:cs typeface="Times New Roman" panose="02020603050405020304" pitchFamily="18" charset="0"/>
              </a:rPr>
              <a:t>often</a:t>
            </a:r>
            <a:r>
              <a:rPr spc="40" dirty="0">
                <a:solidFill>
                  <a:srgbClr val="666666"/>
                </a:solidFill>
                <a:latin typeface="Times New Roman" panose="02020603050405020304" pitchFamily="18" charset="0"/>
                <a:cs typeface="Times New Roman" panose="02020603050405020304" pitchFamily="18" charset="0"/>
              </a:rPr>
              <a:t> </a:t>
            </a:r>
            <a:r>
              <a:rPr spc="-20" dirty="0">
                <a:solidFill>
                  <a:srgbClr val="646464"/>
                </a:solidFill>
                <a:latin typeface="Times New Roman" panose="02020603050405020304" pitchFamily="18" charset="0"/>
                <a:cs typeface="Times New Roman" panose="02020603050405020304" pitchFamily="18" charset="0"/>
              </a:rPr>
              <a:t>blends</a:t>
            </a:r>
            <a:r>
              <a:rPr spc="10" dirty="0">
                <a:solidFill>
                  <a:srgbClr val="646464"/>
                </a:solidFill>
                <a:latin typeface="Times New Roman" panose="02020603050405020304" pitchFamily="18" charset="0"/>
                <a:cs typeface="Times New Roman" panose="02020603050405020304" pitchFamily="18" charset="0"/>
              </a:rPr>
              <a:t> </a:t>
            </a:r>
            <a:r>
              <a:rPr dirty="0">
                <a:solidFill>
                  <a:srgbClr val="676767"/>
                </a:solidFill>
                <a:latin typeface="Times New Roman" panose="02020603050405020304" pitchFamily="18" charset="0"/>
                <a:cs typeface="Times New Roman" panose="02020603050405020304" pitchFamily="18" charset="0"/>
              </a:rPr>
              <a:t>truth</a:t>
            </a:r>
            <a:r>
              <a:rPr spc="15" dirty="0">
                <a:solidFill>
                  <a:srgbClr val="676767"/>
                </a:solidFill>
                <a:latin typeface="Times New Roman" panose="02020603050405020304" pitchFamily="18" charset="0"/>
                <a:cs typeface="Times New Roman" panose="02020603050405020304" pitchFamily="18" charset="0"/>
              </a:rPr>
              <a:t> </a:t>
            </a:r>
            <a:r>
              <a:rPr spc="-20" dirty="0">
                <a:solidFill>
                  <a:srgbClr val="646464"/>
                </a:solidFill>
                <a:latin typeface="Times New Roman" panose="02020603050405020304" pitchFamily="18" charset="0"/>
                <a:cs typeface="Times New Roman" panose="02020603050405020304" pitchFamily="18" charset="0"/>
              </a:rPr>
              <a:t>with </a:t>
            </a:r>
            <a:r>
              <a:rPr dirty="0">
                <a:solidFill>
                  <a:srgbClr val="646464"/>
                </a:solidFill>
                <a:latin typeface="Times New Roman" panose="02020603050405020304" pitchFamily="18" charset="0"/>
                <a:cs typeface="Times New Roman" panose="02020603050405020304" pitchFamily="18" charset="0"/>
              </a:rPr>
              <a:t>deception</a:t>
            </a:r>
            <a:r>
              <a:rPr spc="15" dirty="0">
                <a:solidFill>
                  <a:srgbClr val="646464"/>
                </a:solidFill>
                <a:latin typeface="Times New Roman" panose="02020603050405020304" pitchFamily="18" charset="0"/>
                <a:cs typeface="Times New Roman" panose="02020603050405020304" pitchFamily="18" charset="0"/>
              </a:rPr>
              <a:t> </a:t>
            </a:r>
            <a:r>
              <a:rPr dirty="0">
                <a:solidFill>
                  <a:srgbClr val="646464"/>
                </a:solidFill>
                <a:latin typeface="Times New Roman" panose="02020603050405020304" pitchFamily="18" charset="0"/>
                <a:cs typeface="Times New Roman" panose="02020603050405020304" pitchFamily="18" charset="0"/>
              </a:rPr>
              <a:t>using</a:t>
            </a:r>
            <a:r>
              <a:rPr spc="-10" dirty="0">
                <a:solidFill>
                  <a:srgbClr val="646464"/>
                </a:solidFill>
                <a:latin typeface="Times New Roman" panose="02020603050405020304" pitchFamily="18" charset="0"/>
                <a:cs typeface="Times New Roman" panose="02020603050405020304" pitchFamily="18" charset="0"/>
              </a:rPr>
              <a:t> </a:t>
            </a:r>
            <a:r>
              <a:rPr dirty="0">
                <a:solidFill>
                  <a:srgbClr val="646464"/>
                </a:solidFill>
                <a:latin typeface="Times New Roman" panose="02020603050405020304" pitchFamily="18" charset="0"/>
                <a:cs typeface="Times New Roman" panose="02020603050405020304" pitchFamily="18" charset="0"/>
              </a:rPr>
              <a:t>nuanced</a:t>
            </a:r>
            <a:r>
              <a:rPr spc="45" dirty="0">
                <a:solidFill>
                  <a:srgbClr val="646464"/>
                </a:solidFill>
                <a:latin typeface="Times New Roman" panose="02020603050405020304" pitchFamily="18" charset="0"/>
                <a:cs typeface="Times New Roman" panose="02020603050405020304" pitchFamily="18" charset="0"/>
              </a:rPr>
              <a:t> </a:t>
            </a:r>
            <a:r>
              <a:rPr spc="-10" dirty="0">
                <a:solidFill>
                  <a:srgbClr val="626262"/>
                </a:solidFill>
                <a:latin typeface="Times New Roman" panose="02020603050405020304" pitchFamily="18" charset="0"/>
                <a:cs typeface="Times New Roman" panose="02020603050405020304" pitchFamily="18" charset="0"/>
              </a:rPr>
              <a:t>language, </a:t>
            </a:r>
            <a:r>
              <a:rPr spc="-40" dirty="0">
                <a:solidFill>
                  <a:srgbClr val="646464"/>
                </a:solidFill>
                <a:latin typeface="Times New Roman" panose="02020603050405020304" pitchFamily="18" charset="0"/>
                <a:cs typeface="Times New Roman" panose="02020603050405020304" pitchFamily="18" charset="0"/>
              </a:rPr>
              <a:t>sarcasm,</a:t>
            </a:r>
            <a:r>
              <a:rPr spc="-10" dirty="0">
                <a:solidFill>
                  <a:srgbClr val="646464"/>
                </a:solidFill>
                <a:latin typeface="Times New Roman" panose="02020603050405020304" pitchFamily="18" charset="0"/>
                <a:cs typeface="Times New Roman" panose="02020603050405020304" pitchFamily="18" charset="0"/>
              </a:rPr>
              <a:t> </a:t>
            </a:r>
            <a:r>
              <a:rPr dirty="0">
                <a:solidFill>
                  <a:srgbClr val="666666"/>
                </a:solidFill>
                <a:latin typeface="Times New Roman" panose="02020603050405020304" pitchFamily="18" charset="0"/>
                <a:cs typeface="Times New Roman" panose="02020603050405020304" pitchFamily="18" charset="0"/>
              </a:rPr>
              <a:t>or</a:t>
            </a:r>
            <a:r>
              <a:rPr spc="-40" dirty="0">
                <a:solidFill>
                  <a:srgbClr val="666666"/>
                </a:solidFill>
                <a:latin typeface="Times New Roman" panose="02020603050405020304" pitchFamily="18" charset="0"/>
                <a:cs typeface="Times New Roman" panose="02020603050405020304" pitchFamily="18" charset="0"/>
              </a:rPr>
              <a:t> </a:t>
            </a:r>
            <a:r>
              <a:rPr dirty="0">
                <a:solidFill>
                  <a:srgbClr val="646464"/>
                </a:solidFill>
                <a:latin typeface="Times New Roman" panose="02020603050405020304" pitchFamily="18" charset="0"/>
                <a:cs typeface="Times New Roman" panose="02020603050405020304" pitchFamily="18" charset="0"/>
              </a:rPr>
              <a:t>partial</a:t>
            </a:r>
            <a:r>
              <a:rPr spc="-40" dirty="0">
                <a:solidFill>
                  <a:srgbClr val="646464"/>
                </a:solidFill>
                <a:latin typeface="Times New Roman" panose="02020603050405020304" pitchFamily="18" charset="0"/>
                <a:cs typeface="Times New Roman" panose="02020603050405020304" pitchFamily="18" charset="0"/>
              </a:rPr>
              <a:t> </a:t>
            </a:r>
            <a:r>
              <a:rPr dirty="0">
                <a:solidFill>
                  <a:srgbClr val="646464"/>
                </a:solidFill>
                <a:latin typeface="Times New Roman" panose="02020603050405020304" pitchFamily="18" charset="0"/>
                <a:cs typeface="Times New Roman" panose="02020603050405020304" pitchFamily="18" charset="0"/>
              </a:rPr>
              <a:t>facts,</a:t>
            </a:r>
            <a:r>
              <a:rPr spc="-55" dirty="0">
                <a:solidFill>
                  <a:srgbClr val="646464"/>
                </a:solidFill>
                <a:latin typeface="Times New Roman" panose="02020603050405020304" pitchFamily="18" charset="0"/>
                <a:cs typeface="Times New Roman" panose="02020603050405020304" pitchFamily="18" charset="0"/>
              </a:rPr>
              <a:t> </a:t>
            </a:r>
            <a:r>
              <a:rPr dirty="0">
                <a:solidFill>
                  <a:srgbClr val="666666"/>
                </a:solidFill>
                <a:latin typeface="Times New Roman" panose="02020603050405020304" pitchFamily="18" charset="0"/>
                <a:cs typeface="Times New Roman" panose="02020603050405020304" pitchFamily="18" charset="0"/>
              </a:rPr>
              <a:t>making</a:t>
            </a:r>
            <a:r>
              <a:rPr spc="-15" dirty="0">
                <a:solidFill>
                  <a:srgbClr val="666666"/>
                </a:solidFill>
                <a:latin typeface="Times New Roman" panose="02020603050405020304" pitchFamily="18" charset="0"/>
                <a:cs typeface="Times New Roman" panose="02020603050405020304" pitchFamily="18" charset="0"/>
              </a:rPr>
              <a:t> </a:t>
            </a:r>
            <a:r>
              <a:rPr spc="-25" dirty="0">
                <a:solidFill>
                  <a:srgbClr val="646464"/>
                </a:solidFill>
                <a:latin typeface="Times New Roman" panose="02020603050405020304" pitchFamily="18" charset="0"/>
                <a:cs typeface="Times New Roman" panose="02020603050405020304" pitchFamily="18" charset="0"/>
              </a:rPr>
              <a:t>it </a:t>
            </a:r>
            <a:r>
              <a:rPr dirty="0">
                <a:solidFill>
                  <a:srgbClr val="626262"/>
                </a:solidFill>
                <a:latin typeface="Times New Roman" panose="02020603050405020304" pitchFamily="18" charset="0"/>
                <a:cs typeface="Times New Roman" panose="02020603050405020304" pitchFamily="18" charset="0"/>
              </a:rPr>
              <a:t>difficult</a:t>
            </a:r>
            <a:r>
              <a:rPr spc="20" dirty="0">
                <a:solidFill>
                  <a:srgbClr val="626262"/>
                </a:solidFill>
                <a:latin typeface="Times New Roman" panose="02020603050405020304" pitchFamily="18" charset="0"/>
                <a:cs typeface="Times New Roman" panose="02020603050405020304" pitchFamily="18" charset="0"/>
              </a:rPr>
              <a:t> </a:t>
            </a:r>
            <a:r>
              <a:rPr dirty="0">
                <a:solidFill>
                  <a:srgbClr val="666666"/>
                </a:solidFill>
                <a:latin typeface="Times New Roman" panose="02020603050405020304" pitchFamily="18" charset="0"/>
                <a:cs typeface="Times New Roman" panose="02020603050405020304" pitchFamily="18" charset="0"/>
              </a:rPr>
              <a:t>for</a:t>
            </a:r>
            <a:r>
              <a:rPr spc="20" dirty="0">
                <a:solidFill>
                  <a:srgbClr val="666666"/>
                </a:solidFill>
                <a:latin typeface="Times New Roman" panose="02020603050405020304" pitchFamily="18" charset="0"/>
                <a:cs typeface="Times New Roman" panose="02020603050405020304" pitchFamily="18" charset="0"/>
              </a:rPr>
              <a:t> </a:t>
            </a:r>
            <a:r>
              <a:rPr dirty="0">
                <a:solidFill>
                  <a:srgbClr val="646464"/>
                </a:solidFill>
                <a:latin typeface="Times New Roman" panose="02020603050405020304" pitchFamily="18" charset="0"/>
                <a:cs typeface="Times New Roman" panose="02020603050405020304" pitchFamily="18" charset="0"/>
              </a:rPr>
              <a:t>models</a:t>
            </a:r>
            <a:r>
              <a:rPr spc="25" dirty="0">
                <a:solidFill>
                  <a:srgbClr val="646464"/>
                </a:solidFill>
                <a:latin typeface="Times New Roman" panose="02020603050405020304" pitchFamily="18" charset="0"/>
                <a:cs typeface="Times New Roman" panose="02020603050405020304" pitchFamily="18" charset="0"/>
              </a:rPr>
              <a:t> </a:t>
            </a:r>
            <a:r>
              <a:rPr spc="60" dirty="0">
                <a:solidFill>
                  <a:srgbClr val="666666"/>
                </a:solidFill>
                <a:latin typeface="Times New Roman" panose="02020603050405020304" pitchFamily="18" charset="0"/>
                <a:cs typeface="Times New Roman" panose="02020603050405020304" pitchFamily="18" charset="0"/>
              </a:rPr>
              <a:t>to</a:t>
            </a:r>
            <a:r>
              <a:rPr spc="-45" dirty="0">
                <a:solidFill>
                  <a:srgbClr val="666666"/>
                </a:solidFill>
                <a:latin typeface="Times New Roman" panose="02020603050405020304" pitchFamily="18" charset="0"/>
                <a:cs typeface="Times New Roman" panose="02020603050405020304" pitchFamily="18" charset="0"/>
              </a:rPr>
              <a:t> </a:t>
            </a:r>
            <a:r>
              <a:rPr dirty="0">
                <a:solidFill>
                  <a:srgbClr val="646464"/>
                </a:solidFill>
                <a:latin typeface="Times New Roman" panose="02020603050405020304" pitchFamily="18" charset="0"/>
                <a:cs typeface="Times New Roman" panose="02020603050405020304" pitchFamily="18" charset="0"/>
              </a:rPr>
              <a:t>reliably</a:t>
            </a:r>
            <a:r>
              <a:rPr spc="80" dirty="0">
                <a:solidFill>
                  <a:srgbClr val="646464"/>
                </a:solidFill>
                <a:latin typeface="Times New Roman" panose="02020603050405020304" pitchFamily="18" charset="0"/>
                <a:cs typeface="Times New Roman" panose="02020603050405020304" pitchFamily="18" charset="0"/>
              </a:rPr>
              <a:t> </a:t>
            </a:r>
            <a:r>
              <a:rPr spc="-10" dirty="0">
                <a:solidFill>
                  <a:srgbClr val="646464"/>
                </a:solidFill>
                <a:latin typeface="Times New Roman" panose="02020603050405020304" pitchFamily="18" charset="0"/>
                <a:cs typeface="Times New Roman" panose="02020603050405020304" pitchFamily="18" charset="0"/>
              </a:rPr>
              <a:t>distinguish </a:t>
            </a:r>
            <a:r>
              <a:rPr dirty="0">
                <a:solidFill>
                  <a:srgbClr val="646464"/>
                </a:solidFill>
                <a:latin typeface="Times New Roman" panose="02020603050405020304" pitchFamily="18" charset="0"/>
                <a:cs typeface="Times New Roman" panose="02020603050405020304" pitchFamily="18" charset="0"/>
              </a:rPr>
              <a:t>misleading</a:t>
            </a:r>
            <a:r>
              <a:rPr spc="100" dirty="0">
                <a:solidFill>
                  <a:srgbClr val="646464"/>
                </a:solidFill>
                <a:latin typeface="Times New Roman" panose="02020603050405020304" pitchFamily="18" charset="0"/>
                <a:cs typeface="Times New Roman" panose="02020603050405020304" pitchFamily="18" charset="0"/>
              </a:rPr>
              <a:t> </a:t>
            </a:r>
            <a:r>
              <a:rPr dirty="0">
                <a:solidFill>
                  <a:srgbClr val="666666"/>
                </a:solidFill>
                <a:latin typeface="Times New Roman" panose="02020603050405020304" pitchFamily="18" charset="0"/>
                <a:cs typeface="Times New Roman" panose="02020603050405020304" pitchFamily="18" charset="0"/>
              </a:rPr>
              <a:t>content</a:t>
            </a:r>
            <a:r>
              <a:rPr spc="55" dirty="0">
                <a:solidFill>
                  <a:srgbClr val="666666"/>
                </a:solidFill>
                <a:latin typeface="Times New Roman" panose="02020603050405020304" pitchFamily="18" charset="0"/>
                <a:cs typeface="Times New Roman" panose="02020603050405020304" pitchFamily="18" charset="0"/>
              </a:rPr>
              <a:t> </a:t>
            </a:r>
            <a:r>
              <a:rPr spc="50" dirty="0">
                <a:solidFill>
                  <a:srgbClr val="646464"/>
                </a:solidFill>
                <a:latin typeface="Times New Roman" panose="02020603050405020304" pitchFamily="18" charset="0"/>
                <a:cs typeface="Times New Roman" panose="02020603050405020304" pitchFamily="18" charset="0"/>
              </a:rPr>
              <a:t>from </a:t>
            </a:r>
            <a:r>
              <a:rPr spc="-10" dirty="0">
                <a:solidFill>
                  <a:srgbClr val="646464"/>
                </a:solidFill>
                <a:latin typeface="Times New Roman" panose="02020603050405020304" pitchFamily="18" charset="0"/>
                <a:cs typeface="Times New Roman" panose="02020603050405020304" pitchFamily="18" charset="0"/>
              </a:rPr>
              <a:t>genuine information.</a:t>
            </a:r>
            <a:endParaRPr dirty="0">
              <a:latin typeface="Times New Roman" panose="02020603050405020304" pitchFamily="18" charset="0"/>
              <a:cs typeface="Times New Roman" panose="02020603050405020304" pitchFamily="18" charset="0"/>
            </a:endParaRPr>
          </a:p>
        </p:txBody>
      </p:sp>
      <p:sp>
        <p:nvSpPr>
          <p:cNvPr id="5" name="object 5"/>
          <p:cNvSpPr txBox="1"/>
          <p:nvPr/>
        </p:nvSpPr>
        <p:spPr>
          <a:xfrm>
            <a:off x="829577" y="5232400"/>
            <a:ext cx="3643715" cy="2080057"/>
          </a:xfrm>
          <a:prstGeom prst="rect">
            <a:avLst/>
          </a:prstGeom>
        </p:spPr>
        <p:txBody>
          <a:bodyPr vert="horz" wrap="square" lIns="0" tIns="40640" rIns="0" bIns="0" rtlCol="0">
            <a:spAutoFit/>
          </a:bodyPr>
          <a:lstStyle/>
          <a:p>
            <a:pPr marL="17780" marR="53340" indent="-5715" algn="just">
              <a:lnSpc>
                <a:spcPts val="2850"/>
              </a:lnSpc>
              <a:spcBef>
                <a:spcPts val="320"/>
              </a:spcBef>
            </a:pPr>
            <a:r>
              <a:rPr sz="2800" spc="-30" dirty="0">
                <a:solidFill>
                  <a:srgbClr val="080808"/>
                </a:solidFill>
                <a:latin typeface="Times New Roman" panose="02020603050405020304" pitchFamily="18" charset="0"/>
                <a:cs typeface="Times New Roman" panose="02020603050405020304" pitchFamily="18" charset="0"/>
              </a:rPr>
              <a:t>Degraded</a:t>
            </a:r>
            <a:r>
              <a:rPr sz="2800" spc="-120" dirty="0">
                <a:solidFill>
                  <a:srgbClr val="080808"/>
                </a:solidFill>
                <a:latin typeface="Times New Roman" panose="02020603050405020304" pitchFamily="18" charset="0"/>
                <a:cs typeface="Times New Roman" panose="02020603050405020304" pitchFamily="18" charset="0"/>
              </a:rPr>
              <a:t> </a:t>
            </a:r>
            <a:r>
              <a:rPr sz="2800" spc="-60" dirty="0">
                <a:solidFill>
                  <a:srgbClr val="080808"/>
                </a:solidFill>
                <a:latin typeface="Times New Roman" panose="02020603050405020304" pitchFamily="18" charset="0"/>
                <a:cs typeface="Times New Roman" panose="02020603050405020304" pitchFamily="18" charset="0"/>
              </a:rPr>
              <a:t>Training</a:t>
            </a:r>
            <a:r>
              <a:rPr sz="2800" spc="-114" dirty="0">
                <a:solidFill>
                  <a:srgbClr val="080808"/>
                </a:solidFill>
                <a:latin typeface="Times New Roman" panose="02020603050405020304" pitchFamily="18" charset="0"/>
                <a:cs typeface="Times New Roman" panose="02020603050405020304" pitchFamily="18" charset="0"/>
              </a:rPr>
              <a:t> </a:t>
            </a:r>
            <a:r>
              <a:rPr sz="2800" spc="-60" dirty="0">
                <a:solidFill>
                  <a:srgbClr val="080808"/>
                </a:solidFill>
                <a:latin typeface="Times New Roman" panose="02020603050405020304" pitchFamily="18" charset="0"/>
                <a:cs typeface="Times New Roman" panose="02020603050405020304" pitchFamily="18" charset="0"/>
              </a:rPr>
              <a:t>Signal </a:t>
            </a:r>
            <a:r>
              <a:rPr sz="2800" dirty="0">
                <a:solidFill>
                  <a:srgbClr val="080808"/>
                </a:solidFill>
                <a:latin typeface="Times New Roman" panose="02020603050405020304" pitchFamily="18" charset="0"/>
                <a:cs typeface="Times New Roman" panose="02020603050405020304" pitchFamily="18" charset="0"/>
              </a:rPr>
              <a:t>(Augmentation</a:t>
            </a:r>
            <a:r>
              <a:rPr sz="2800" spc="-30" dirty="0">
                <a:solidFill>
                  <a:srgbClr val="080808"/>
                </a:solidFill>
                <a:latin typeface="Times New Roman" panose="02020603050405020304" pitchFamily="18" charset="0"/>
                <a:cs typeface="Times New Roman" panose="02020603050405020304" pitchFamily="18" charset="0"/>
              </a:rPr>
              <a:t> </a:t>
            </a:r>
            <a:r>
              <a:rPr sz="2800" spc="-10" dirty="0">
                <a:solidFill>
                  <a:srgbClr val="080808"/>
                </a:solidFill>
                <a:latin typeface="Times New Roman" panose="02020603050405020304" pitchFamily="18" charset="0"/>
                <a:cs typeface="Times New Roman" panose="02020603050405020304" pitchFamily="18" charset="0"/>
              </a:rPr>
              <a:t>Noise)</a:t>
            </a:r>
            <a:endParaRPr sz="2800" dirty="0">
              <a:solidFill>
                <a:srgbClr val="080808"/>
              </a:solidFill>
              <a:latin typeface="Times New Roman" panose="02020603050405020304" pitchFamily="18" charset="0"/>
              <a:cs typeface="Times New Roman" panose="02020603050405020304" pitchFamily="18" charset="0"/>
            </a:endParaRPr>
          </a:p>
          <a:p>
            <a:pPr marL="13335" marR="5080" indent="2540" algn="just">
              <a:lnSpc>
                <a:spcPts val="1880"/>
              </a:lnSpc>
              <a:spcBef>
                <a:spcPts val="585"/>
              </a:spcBef>
            </a:pPr>
            <a:r>
              <a:rPr dirty="0">
                <a:solidFill>
                  <a:srgbClr val="646464"/>
                </a:solidFill>
                <a:latin typeface="Times New Roman" panose="02020603050405020304" pitchFamily="18" charset="0"/>
                <a:cs typeface="Times New Roman" panose="02020603050405020304" pitchFamily="18" charset="0"/>
              </a:rPr>
              <a:t>LLM-based augmentation </a:t>
            </a:r>
            <a:r>
              <a:rPr dirty="0">
                <a:solidFill>
                  <a:srgbClr val="626262"/>
                </a:solidFill>
                <a:latin typeface="Times New Roman" panose="02020603050405020304" pitchFamily="18" charset="0"/>
                <a:cs typeface="Times New Roman" panose="02020603050405020304" pitchFamily="18" charset="0"/>
              </a:rPr>
              <a:t>can produce emotionally </a:t>
            </a:r>
            <a:r>
              <a:rPr dirty="0">
                <a:solidFill>
                  <a:srgbClr val="646464"/>
                </a:solidFill>
                <a:latin typeface="Times New Roman" panose="02020603050405020304" pitchFamily="18" charset="0"/>
                <a:cs typeface="Times New Roman" panose="02020603050405020304" pitchFamily="18" charset="0"/>
              </a:rPr>
              <a:t>inconsistent samples, leading </a:t>
            </a:r>
            <a:r>
              <a:rPr dirty="0">
                <a:solidFill>
                  <a:srgbClr val="676767"/>
                </a:solidFill>
                <a:latin typeface="Times New Roman" panose="02020603050405020304" pitchFamily="18" charset="0"/>
                <a:cs typeface="Times New Roman" panose="02020603050405020304" pitchFamily="18" charset="0"/>
              </a:rPr>
              <a:t>to </a:t>
            </a:r>
            <a:r>
              <a:rPr dirty="0">
                <a:solidFill>
                  <a:srgbClr val="646464"/>
                </a:solidFill>
                <a:latin typeface="Times New Roman" panose="02020603050405020304" pitchFamily="18" charset="0"/>
                <a:cs typeface="Times New Roman" panose="02020603050405020304" pitchFamily="18" charset="0"/>
              </a:rPr>
              <a:t>poor-quality </a:t>
            </a:r>
            <a:r>
              <a:rPr dirty="0">
                <a:solidFill>
                  <a:srgbClr val="626262"/>
                </a:solidFill>
                <a:latin typeface="Times New Roman" panose="02020603050405020304" pitchFamily="18" charset="0"/>
                <a:cs typeface="Times New Roman" panose="02020603050405020304" pitchFamily="18" charset="0"/>
              </a:rPr>
              <a:t>contrastive </a:t>
            </a:r>
            <a:r>
              <a:rPr dirty="0">
                <a:solidFill>
                  <a:srgbClr val="646464"/>
                </a:solidFill>
                <a:latin typeface="Times New Roman" panose="02020603050405020304" pitchFamily="18" charset="0"/>
                <a:cs typeface="Times New Roman" panose="02020603050405020304" pitchFamily="18" charset="0"/>
              </a:rPr>
              <a:t>pairs </a:t>
            </a:r>
            <a:r>
              <a:rPr dirty="0">
                <a:solidFill>
                  <a:srgbClr val="676767"/>
                </a:solidFill>
                <a:latin typeface="Times New Roman" panose="02020603050405020304" pitchFamily="18" charset="0"/>
                <a:cs typeface="Times New Roman" panose="02020603050405020304" pitchFamily="18" charset="0"/>
              </a:rPr>
              <a:t>and </a:t>
            </a:r>
            <a:r>
              <a:rPr dirty="0">
                <a:solidFill>
                  <a:srgbClr val="646464"/>
                </a:solidFill>
                <a:latin typeface="Times New Roman" panose="02020603050405020304" pitchFamily="18" charset="0"/>
                <a:cs typeface="Times New Roman" panose="02020603050405020304" pitchFamily="18" charset="0"/>
              </a:rPr>
              <a:t>weakening </a:t>
            </a:r>
            <a:r>
              <a:rPr dirty="0">
                <a:solidFill>
                  <a:srgbClr val="666666"/>
                </a:solidFill>
                <a:latin typeface="Times New Roman" panose="02020603050405020304" pitchFamily="18" charset="0"/>
                <a:cs typeface="Times New Roman" panose="02020603050405020304" pitchFamily="18" charset="0"/>
              </a:rPr>
              <a:t>the </a:t>
            </a:r>
            <a:r>
              <a:rPr dirty="0">
                <a:solidFill>
                  <a:srgbClr val="646464"/>
                </a:solidFill>
                <a:latin typeface="Times New Roman" panose="02020603050405020304" pitchFamily="18" charset="0"/>
                <a:cs typeface="Times New Roman" panose="02020603050405020304" pitchFamily="18" charset="0"/>
              </a:rPr>
              <a:t>model's </a:t>
            </a:r>
            <a:r>
              <a:rPr dirty="0">
                <a:solidFill>
                  <a:srgbClr val="626262"/>
                </a:solidFill>
                <a:latin typeface="Times New Roman" panose="02020603050405020304" pitchFamily="18" charset="0"/>
                <a:cs typeface="Times New Roman" panose="02020603050405020304" pitchFamily="18" charset="0"/>
              </a:rPr>
              <a:t>ability </a:t>
            </a:r>
            <a:r>
              <a:rPr dirty="0">
                <a:solidFill>
                  <a:srgbClr val="676767"/>
                </a:solidFill>
                <a:latin typeface="Times New Roman" panose="02020603050405020304" pitchFamily="18" charset="0"/>
                <a:cs typeface="Times New Roman" panose="02020603050405020304" pitchFamily="18" charset="0"/>
              </a:rPr>
              <a:t>to learn </a:t>
            </a:r>
            <a:r>
              <a:rPr dirty="0">
                <a:solidFill>
                  <a:srgbClr val="666666"/>
                </a:solidFill>
                <a:latin typeface="Times New Roman" panose="02020603050405020304" pitchFamily="18" charset="0"/>
                <a:cs typeface="Times New Roman" panose="02020603050405020304" pitchFamily="18" charset="0"/>
              </a:rPr>
              <a:t>robust </a:t>
            </a:r>
            <a:r>
              <a:rPr dirty="0">
                <a:solidFill>
                  <a:srgbClr val="626262"/>
                </a:solidFill>
                <a:latin typeface="Times New Roman" panose="02020603050405020304" pitchFamily="18" charset="0"/>
                <a:cs typeface="Times New Roman" panose="02020603050405020304" pitchFamily="18" charset="0"/>
              </a:rPr>
              <a:t>representations.</a:t>
            </a:r>
            <a:endParaRPr dirty="0">
              <a:latin typeface="Times New Roman" panose="02020603050405020304" pitchFamily="18" charset="0"/>
              <a:cs typeface="Times New Roman" panose="02020603050405020304" pitchFamily="18" charset="0"/>
            </a:endParaRPr>
          </a:p>
        </p:txBody>
      </p:sp>
      <p:sp>
        <p:nvSpPr>
          <p:cNvPr id="6" name="object 6"/>
          <p:cNvSpPr txBox="1"/>
          <p:nvPr/>
        </p:nvSpPr>
        <p:spPr>
          <a:xfrm>
            <a:off x="5423270" y="2075920"/>
            <a:ext cx="3509645" cy="2334613"/>
          </a:xfrm>
          <a:prstGeom prst="rect">
            <a:avLst/>
          </a:prstGeom>
        </p:spPr>
        <p:txBody>
          <a:bodyPr vert="horz" wrap="square" lIns="0" tIns="13335" rIns="0" bIns="0" rtlCol="0">
            <a:spAutoFit/>
          </a:bodyPr>
          <a:lstStyle/>
          <a:p>
            <a:pPr marL="15875" algn="just">
              <a:lnSpc>
                <a:spcPts val="2990"/>
              </a:lnSpc>
              <a:spcBef>
                <a:spcPts val="105"/>
              </a:spcBef>
            </a:pPr>
            <a:r>
              <a:rPr sz="2800" dirty="0">
                <a:solidFill>
                  <a:srgbClr val="080808"/>
                </a:solidFill>
                <a:latin typeface="Times New Roman" panose="02020603050405020304" pitchFamily="18" charset="0"/>
                <a:cs typeface="Times New Roman" panose="02020603050405020304" pitchFamily="18" charset="0"/>
              </a:rPr>
              <a:t>Emotional Manipulation</a:t>
            </a:r>
            <a:r>
              <a:rPr lang="en-US" sz="2800" dirty="0">
                <a:solidFill>
                  <a:srgbClr val="080808"/>
                </a:solidFill>
                <a:latin typeface="Times New Roman" panose="02020603050405020304" pitchFamily="18" charset="0"/>
                <a:cs typeface="Times New Roman" panose="02020603050405020304" pitchFamily="18" charset="0"/>
              </a:rPr>
              <a:t> </a:t>
            </a:r>
            <a:r>
              <a:rPr sz="2800" dirty="0">
                <a:solidFill>
                  <a:srgbClr val="080808"/>
                </a:solidFill>
                <a:latin typeface="Times New Roman" panose="02020603050405020304" pitchFamily="18" charset="0"/>
                <a:cs typeface="Times New Roman" panose="02020603050405020304" pitchFamily="18" charset="0"/>
              </a:rPr>
              <a:t>&amp; Virality</a:t>
            </a:r>
          </a:p>
          <a:p>
            <a:pPr marL="15875" marR="5080" algn="just">
              <a:lnSpc>
                <a:spcPts val="1880"/>
              </a:lnSpc>
              <a:spcBef>
                <a:spcPts val="685"/>
              </a:spcBef>
            </a:pPr>
            <a:r>
              <a:rPr dirty="0">
                <a:solidFill>
                  <a:srgbClr val="666666"/>
                </a:solidFill>
                <a:latin typeface="Times New Roman" panose="02020603050405020304" pitchFamily="18" charset="0"/>
                <a:cs typeface="Times New Roman" panose="02020603050405020304" pitchFamily="18" charset="0"/>
              </a:rPr>
              <a:t>False </a:t>
            </a:r>
            <a:r>
              <a:rPr dirty="0">
                <a:solidFill>
                  <a:srgbClr val="646464"/>
                </a:solidFill>
                <a:latin typeface="Times New Roman" panose="02020603050405020304" pitchFamily="18" charset="0"/>
                <a:cs typeface="Times New Roman" panose="02020603050405020304" pitchFamily="18" charset="0"/>
              </a:rPr>
              <a:t>information </a:t>
            </a:r>
            <a:r>
              <a:rPr dirty="0">
                <a:solidFill>
                  <a:srgbClr val="626262"/>
                </a:solidFill>
                <a:latin typeface="Times New Roman" panose="02020603050405020304" pitchFamily="18" charset="0"/>
                <a:cs typeface="Times New Roman" panose="02020603050405020304" pitchFamily="18" charset="0"/>
              </a:rPr>
              <a:t>exploits </a:t>
            </a:r>
            <a:r>
              <a:rPr dirty="0">
                <a:solidFill>
                  <a:srgbClr val="646464"/>
                </a:solidFill>
                <a:latin typeface="Times New Roman" panose="02020603050405020304" pitchFamily="18" charset="0"/>
                <a:cs typeface="Times New Roman" panose="02020603050405020304" pitchFamily="18" charset="0"/>
              </a:rPr>
              <a:t>strong emotions such as fear, anger, </a:t>
            </a:r>
            <a:r>
              <a:rPr dirty="0">
                <a:solidFill>
                  <a:srgbClr val="666666"/>
                </a:solidFill>
                <a:latin typeface="Times New Roman" panose="02020603050405020304" pitchFamily="18" charset="0"/>
                <a:cs typeface="Times New Roman" panose="02020603050405020304" pitchFamily="18" charset="0"/>
              </a:rPr>
              <a:t>and </a:t>
            </a:r>
            <a:r>
              <a:rPr dirty="0">
                <a:solidFill>
                  <a:srgbClr val="646464"/>
                </a:solidFill>
                <a:latin typeface="Times New Roman" panose="02020603050405020304" pitchFamily="18" charset="0"/>
                <a:cs typeface="Times New Roman" panose="02020603050405020304" pitchFamily="18" charset="0"/>
              </a:rPr>
              <a:t>urgency, </a:t>
            </a:r>
            <a:r>
              <a:rPr dirty="0">
                <a:solidFill>
                  <a:srgbClr val="666666"/>
                </a:solidFill>
                <a:latin typeface="Times New Roman" panose="02020603050405020304" pitchFamily="18" charset="0"/>
                <a:cs typeface="Times New Roman" panose="02020603050405020304" pitchFamily="18" charset="0"/>
              </a:rPr>
              <a:t>which </a:t>
            </a:r>
            <a:r>
              <a:rPr dirty="0">
                <a:solidFill>
                  <a:srgbClr val="646464"/>
                </a:solidFill>
                <a:latin typeface="Times New Roman" panose="02020603050405020304" pitchFamily="18" charset="0"/>
                <a:cs typeface="Times New Roman" panose="02020603050405020304" pitchFamily="18" charset="0"/>
              </a:rPr>
              <a:t>accelerate its </a:t>
            </a:r>
            <a:r>
              <a:rPr dirty="0">
                <a:solidFill>
                  <a:srgbClr val="626262"/>
                </a:solidFill>
                <a:latin typeface="Times New Roman" panose="02020603050405020304" pitchFamily="18" charset="0"/>
                <a:cs typeface="Times New Roman" panose="02020603050405020304" pitchFamily="18" charset="0"/>
              </a:rPr>
              <a:t>spread </a:t>
            </a:r>
            <a:r>
              <a:rPr dirty="0">
                <a:solidFill>
                  <a:srgbClr val="666666"/>
                </a:solidFill>
                <a:latin typeface="Times New Roman" panose="02020603050405020304" pitchFamily="18" charset="0"/>
                <a:cs typeface="Times New Roman" panose="02020603050405020304" pitchFamily="18" charset="0"/>
              </a:rPr>
              <a:t>and reduce </a:t>
            </a:r>
            <a:r>
              <a:rPr dirty="0">
                <a:solidFill>
                  <a:srgbClr val="646464"/>
                </a:solidFill>
                <a:latin typeface="Times New Roman" panose="02020603050405020304" pitchFamily="18" charset="0"/>
                <a:cs typeface="Times New Roman" panose="02020603050405020304" pitchFamily="18" charset="0"/>
              </a:rPr>
              <a:t>critical </a:t>
            </a:r>
            <a:r>
              <a:rPr dirty="0">
                <a:solidFill>
                  <a:srgbClr val="666666"/>
                </a:solidFill>
                <a:latin typeface="Times New Roman" panose="02020603050405020304" pitchFamily="18" charset="0"/>
                <a:cs typeface="Times New Roman" panose="02020603050405020304" pitchFamily="18" charset="0"/>
              </a:rPr>
              <a:t>reasoning, making </a:t>
            </a:r>
            <a:r>
              <a:rPr dirty="0">
                <a:solidFill>
                  <a:srgbClr val="646464"/>
                </a:solidFill>
                <a:latin typeface="Times New Roman" panose="02020603050405020304" pitchFamily="18" charset="0"/>
                <a:cs typeface="Times New Roman" panose="02020603050405020304" pitchFamily="18" charset="0"/>
              </a:rPr>
              <a:t>detection both </a:t>
            </a:r>
            <a:r>
              <a:rPr dirty="0">
                <a:solidFill>
                  <a:srgbClr val="626262"/>
                </a:solidFill>
                <a:latin typeface="Times New Roman" panose="02020603050405020304" pitchFamily="18" charset="0"/>
                <a:cs typeface="Times New Roman" panose="02020603050405020304" pitchFamily="18" charset="0"/>
              </a:rPr>
              <a:t>time-sensitive </a:t>
            </a:r>
            <a:r>
              <a:rPr dirty="0">
                <a:solidFill>
                  <a:srgbClr val="676767"/>
                </a:solidFill>
                <a:latin typeface="Times New Roman" panose="02020603050405020304" pitchFamily="18" charset="0"/>
                <a:cs typeface="Times New Roman" panose="02020603050405020304" pitchFamily="18" charset="0"/>
              </a:rPr>
              <a:t>and </a:t>
            </a:r>
            <a:r>
              <a:rPr dirty="0">
                <a:solidFill>
                  <a:srgbClr val="646464"/>
                </a:solidFill>
                <a:latin typeface="Times New Roman" panose="02020603050405020304" pitchFamily="18" charset="0"/>
                <a:cs typeface="Times New Roman" panose="02020603050405020304" pitchFamily="18" charset="0"/>
              </a:rPr>
              <a:t>challenging.</a:t>
            </a:r>
            <a:endParaRPr dirty="0">
              <a:latin typeface="Times New Roman" panose="02020603050405020304" pitchFamily="18" charset="0"/>
              <a:cs typeface="Times New Roman" panose="02020603050405020304" pitchFamily="18" charset="0"/>
            </a:endParaRPr>
          </a:p>
        </p:txBody>
      </p:sp>
      <p:sp>
        <p:nvSpPr>
          <p:cNvPr id="7" name="object 7"/>
          <p:cNvSpPr txBox="1"/>
          <p:nvPr/>
        </p:nvSpPr>
        <p:spPr>
          <a:xfrm>
            <a:off x="5423466" y="5232400"/>
            <a:ext cx="3606234" cy="2080057"/>
          </a:xfrm>
          <a:prstGeom prst="rect">
            <a:avLst/>
          </a:prstGeom>
        </p:spPr>
        <p:txBody>
          <a:bodyPr vert="horz" wrap="square" lIns="0" tIns="40640" rIns="0" bIns="0" rtlCol="0">
            <a:spAutoFit/>
          </a:bodyPr>
          <a:lstStyle/>
          <a:p>
            <a:pPr marL="12700" marR="558800" indent="7620">
              <a:lnSpc>
                <a:spcPts val="2850"/>
              </a:lnSpc>
              <a:spcBef>
                <a:spcPts val="320"/>
              </a:spcBef>
            </a:pPr>
            <a:r>
              <a:rPr sz="2800" spc="-80" dirty="0">
                <a:solidFill>
                  <a:srgbClr val="080808"/>
                </a:solidFill>
                <a:latin typeface="Times New Roman" panose="02020603050405020304" pitchFamily="18" charset="0"/>
                <a:cs typeface="Times New Roman" panose="02020603050405020304" pitchFamily="18" charset="0"/>
              </a:rPr>
              <a:t>Lack</a:t>
            </a:r>
            <a:r>
              <a:rPr sz="2800" spc="-95" dirty="0">
                <a:solidFill>
                  <a:srgbClr val="080808"/>
                </a:solidFill>
                <a:latin typeface="Times New Roman" panose="02020603050405020304" pitchFamily="18" charset="0"/>
                <a:cs typeface="Times New Roman" panose="02020603050405020304" pitchFamily="18" charset="0"/>
              </a:rPr>
              <a:t> </a:t>
            </a:r>
            <a:r>
              <a:rPr sz="2800" spc="-10" dirty="0">
                <a:solidFill>
                  <a:srgbClr val="080808"/>
                </a:solidFill>
                <a:latin typeface="Times New Roman" panose="02020603050405020304" pitchFamily="18" charset="0"/>
                <a:cs typeface="Times New Roman" panose="02020603050405020304" pitchFamily="18" charset="0"/>
              </a:rPr>
              <a:t>of</a:t>
            </a:r>
            <a:r>
              <a:rPr sz="2800" spc="-150" dirty="0">
                <a:solidFill>
                  <a:srgbClr val="080808"/>
                </a:solidFill>
                <a:latin typeface="Times New Roman" panose="02020603050405020304" pitchFamily="18" charset="0"/>
                <a:cs typeface="Times New Roman" panose="02020603050405020304" pitchFamily="18" charset="0"/>
              </a:rPr>
              <a:t> </a:t>
            </a:r>
            <a:r>
              <a:rPr sz="2800" spc="-35" dirty="0">
                <a:solidFill>
                  <a:srgbClr val="080808"/>
                </a:solidFill>
                <a:latin typeface="Times New Roman" panose="02020603050405020304" pitchFamily="18" charset="0"/>
                <a:cs typeface="Times New Roman" panose="02020603050405020304" pitchFamily="18" charset="0"/>
              </a:rPr>
              <a:t>External</a:t>
            </a:r>
            <a:r>
              <a:rPr sz="2800" spc="-105" dirty="0">
                <a:solidFill>
                  <a:srgbClr val="080808"/>
                </a:solidFill>
                <a:latin typeface="Times New Roman" panose="02020603050405020304" pitchFamily="18" charset="0"/>
                <a:cs typeface="Times New Roman" panose="02020603050405020304" pitchFamily="18" charset="0"/>
              </a:rPr>
              <a:t> </a:t>
            </a:r>
            <a:r>
              <a:rPr sz="2800" spc="-75" dirty="0">
                <a:solidFill>
                  <a:srgbClr val="080808"/>
                </a:solidFill>
                <a:latin typeface="Times New Roman" panose="02020603050405020304" pitchFamily="18" charset="0"/>
                <a:cs typeface="Times New Roman" panose="02020603050405020304" pitchFamily="18" charset="0"/>
              </a:rPr>
              <a:t>Fact </a:t>
            </a:r>
            <a:r>
              <a:rPr sz="2800" spc="-10" dirty="0">
                <a:solidFill>
                  <a:srgbClr val="080808"/>
                </a:solidFill>
                <a:latin typeface="Times New Roman" panose="02020603050405020304" pitchFamily="18" charset="0"/>
                <a:cs typeface="Times New Roman" panose="02020603050405020304" pitchFamily="18" charset="0"/>
              </a:rPr>
              <a:t>Grounding</a:t>
            </a:r>
            <a:endParaRPr sz="2800" dirty="0">
              <a:solidFill>
                <a:srgbClr val="080808"/>
              </a:solidFill>
              <a:latin typeface="Times New Roman" panose="02020603050405020304" pitchFamily="18" charset="0"/>
              <a:cs typeface="Times New Roman" panose="02020603050405020304" pitchFamily="18" charset="0"/>
            </a:endParaRPr>
          </a:p>
          <a:p>
            <a:pPr marL="17145" marR="5080" indent="8890">
              <a:lnSpc>
                <a:spcPts val="1880"/>
              </a:lnSpc>
              <a:spcBef>
                <a:spcPts val="585"/>
              </a:spcBef>
            </a:pPr>
            <a:r>
              <a:rPr dirty="0">
                <a:solidFill>
                  <a:srgbClr val="646464"/>
                </a:solidFill>
                <a:latin typeface="Times New Roman" panose="02020603050405020304" pitchFamily="18" charset="0"/>
                <a:cs typeface="Times New Roman" panose="02020603050405020304" pitchFamily="18" charset="0"/>
              </a:rPr>
              <a:t>Without verification against real-world knowledge sources, models rely purely </a:t>
            </a:r>
            <a:r>
              <a:rPr dirty="0">
                <a:solidFill>
                  <a:srgbClr val="676767"/>
                </a:solidFill>
                <a:latin typeface="Times New Roman" panose="02020603050405020304" pitchFamily="18" charset="0"/>
                <a:cs typeface="Times New Roman" panose="02020603050405020304" pitchFamily="18" charset="0"/>
              </a:rPr>
              <a:t>on </a:t>
            </a:r>
            <a:r>
              <a:rPr dirty="0">
                <a:solidFill>
                  <a:srgbClr val="646464"/>
                </a:solidFill>
                <a:latin typeface="Times New Roman" panose="02020603050405020304" pitchFamily="18" charset="0"/>
                <a:cs typeface="Times New Roman" panose="02020603050405020304" pitchFamily="18" charset="0"/>
              </a:rPr>
              <a:t>linguistic patterns, </a:t>
            </a:r>
            <a:r>
              <a:rPr dirty="0">
                <a:solidFill>
                  <a:srgbClr val="666666"/>
                </a:solidFill>
                <a:latin typeface="Times New Roman" panose="02020603050405020304" pitchFamily="18" charset="0"/>
                <a:cs typeface="Times New Roman" panose="02020603050405020304" pitchFamily="18" charset="0"/>
              </a:rPr>
              <a:t>making them </a:t>
            </a:r>
            <a:r>
              <a:rPr dirty="0">
                <a:solidFill>
                  <a:srgbClr val="626262"/>
                </a:solidFill>
                <a:latin typeface="Times New Roman" panose="02020603050405020304" pitchFamily="18" charset="0"/>
                <a:cs typeface="Times New Roman" panose="02020603050405020304" pitchFamily="18" charset="0"/>
              </a:rPr>
              <a:t>vulnerable </a:t>
            </a:r>
            <a:r>
              <a:rPr dirty="0">
                <a:solidFill>
                  <a:srgbClr val="646464"/>
                </a:solidFill>
                <a:latin typeface="Times New Roman" panose="02020603050405020304" pitchFamily="18" charset="0"/>
                <a:cs typeface="Times New Roman" panose="02020603050405020304" pitchFamily="18" charset="0"/>
              </a:rPr>
              <a:t>to hallucinations and </a:t>
            </a:r>
            <a:r>
              <a:rPr dirty="0">
                <a:solidFill>
                  <a:srgbClr val="626262"/>
                </a:solidFill>
                <a:latin typeface="Times New Roman" panose="02020603050405020304" pitchFamily="18" charset="0"/>
                <a:cs typeface="Times New Roman" panose="02020603050405020304" pitchFamily="18" charset="0"/>
              </a:rPr>
              <a:t>factually </a:t>
            </a:r>
            <a:r>
              <a:rPr dirty="0">
                <a:solidFill>
                  <a:srgbClr val="646464"/>
                </a:solidFill>
                <a:latin typeface="Times New Roman" panose="02020603050405020304" pitchFamily="18" charset="0"/>
                <a:cs typeface="Times New Roman" panose="02020603050405020304" pitchFamily="18" charset="0"/>
              </a:rPr>
              <a:t>incorrect </a:t>
            </a:r>
            <a:r>
              <a:rPr dirty="0">
                <a:solidFill>
                  <a:srgbClr val="626262"/>
                </a:solidFill>
                <a:latin typeface="Times New Roman" panose="02020603050405020304" pitchFamily="18" charset="0"/>
                <a:cs typeface="Times New Roman" panose="02020603050405020304" pitchFamily="18" charset="0"/>
              </a:rPr>
              <a:t>predictions</a:t>
            </a:r>
            <a:endParaRPr dirty="0">
              <a:latin typeface="Times New Roman" panose="02020603050405020304" pitchFamily="18" charset="0"/>
              <a:cs typeface="Times New Roman" panose="02020603050405020304" pitchFamily="18" charset="0"/>
            </a:endParaRPr>
          </a:p>
        </p:txBody>
      </p:sp>
      <p:sp>
        <p:nvSpPr>
          <p:cNvPr id="8" name="object 8"/>
          <p:cNvSpPr txBox="1"/>
          <p:nvPr/>
        </p:nvSpPr>
        <p:spPr>
          <a:xfrm>
            <a:off x="9880679" y="1989692"/>
            <a:ext cx="3466465" cy="2076209"/>
          </a:xfrm>
          <a:prstGeom prst="rect">
            <a:avLst/>
          </a:prstGeom>
        </p:spPr>
        <p:txBody>
          <a:bodyPr vert="horz" wrap="square" lIns="0" tIns="105410" rIns="0" bIns="0" rtlCol="0">
            <a:spAutoFit/>
          </a:bodyPr>
          <a:lstStyle/>
          <a:p>
            <a:pPr marL="12700" algn="just">
              <a:lnSpc>
                <a:spcPct val="100000"/>
              </a:lnSpc>
              <a:spcBef>
                <a:spcPts val="830"/>
              </a:spcBef>
            </a:pPr>
            <a:r>
              <a:rPr sz="2800" dirty="0">
                <a:solidFill>
                  <a:srgbClr val="080808"/>
                </a:solidFill>
                <a:latin typeface="Times New Roman" panose="02020603050405020304" pitchFamily="18" charset="0"/>
                <a:cs typeface="Times New Roman" panose="02020603050405020304" pitchFamily="18" charset="0"/>
              </a:rPr>
              <a:t>Unimodal Blind Spots</a:t>
            </a:r>
          </a:p>
          <a:p>
            <a:pPr marL="16510" marR="5080" indent="-1270" algn="just">
              <a:lnSpc>
                <a:spcPts val="1880"/>
              </a:lnSpc>
              <a:spcBef>
                <a:spcPts val="575"/>
              </a:spcBef>
            </a:pPr>
            <a:r>
              <a:rPr dirty="0">
                <a:solidFill>
                  <a:srgbClr val="626262"/>
                </a:solidFill>
                <a:latin typeface="Times New Roman" panose="02020603050405020304" pitchFamily="18" charset="0"/>
                <a:cs typeface="Times New Roman" panose="02020603050405020304" pitchFamily="18" charset="0"/>
              </a:rPr>
              <a:t>Text-only </a:t>
            </a:r>
            <a:r>
              <a:rPr dirty="0">
                <a:solidFill>
                  <a:srgbClr val="646464"/>
                </a:solidFill>
                <a:latin typeface="Times New Roman" panose="02020603050405020304" pitchFamily="18" charset="0"/>
                <a:cs typeface="Times New Roman" panose="02020603050405020304" pitchFamily="18" charset="0"/>
              </a:rPr>
              <a:t>models fail </a:t>
            </a:r>
            <a:r>
              <a:rPr dirty="0">
                <a:solidFill>
                  <a:srgbClr val="676767"/>
                </a:solidFill>
                <a:latin typeface="Times New Roman" panose="02020603050405020304" pitchFamily="18" charset="0"/>
                <a:cs typeface="Times New Roman" panose="02020603050405020304" pitchFamily="18" charset="0"/>
              </a:rPr>
              <a:t>to </a:t>
            </a:r>
            <a:r>
              <a:rPr dirty="0">
                <a:solidFill>
                  <a:srgbClr val="646464"/>
                </a:solidFill>
                <a:latin typeface="Times New Roman" panose="02020603050405020304" pitchFamily="18" charset="0"/>
                <a:cs typeface="Times New Roman" panose="02020603050405020304" pitchFamily="18" charset="0"/>
              </a:rPr>
              <a:t>capture </a:t>
            </a:r>
            <a:r>
              <a:rPr dirty="0">
                <a:solidFill>
                  <a:srgbClr val="626262"/>
                </a:solidFill>
                <a:latin typeface="Times New Roman" panose="02020603050405020304" pitchFamily="18" charset="0"/>
                <a:cs typeface="Times New Roman" panose="02020603050405020304" pitchFamily="18" charset="0"/>
              </a:rPr>
              <a:t>deeper contextual </a:t>
            </a:r>
            <a:r>
              <a:rPr dirty="0">
                <a:solidFill>
                  <a:srgbClr val="666666"/>
                </a:solidFill>
                <a:latin typeface="Times New Roman" panose="02020603050405020304" pitchFamily="18" charset="0"/>
                <a:cs typeface="Times New Roman" panose="02020603050405020304" pitchFamily="18" charset="0"/>
              </a:rPr>
              <a:t>and </a:t>
            </a:r>
            <a:r>
              <a:rPr dirty="0">
                <a:solidFill>
                  <a:srgbClr val="646464"/>
                </a:solidFill>
                <a:latin typeface="Times New Roman" panose="02020603050405020304" pitchFamily="18" charset="0"/>
                <a:cs typeface="Times New Roman" panose="02020603050405020304" pitchFamily="18" charset="0"/>
              </a:rPr>
              <a:t>emotional cues, limiting </a:t>
            </a:r>
            <a:r>
              <a:rPr dirty="0">
                <a:solidFill>
                  <a:srgbClr val="666666"/>
                </a:solidFill>
                <a:latin typeface="Times New Roman" panose="02020603050405020304" pitchFamily="18" charset="0"/>
                <a:cs typeface="Times New Roman" panose="02020603050405020304" pitchFamily="18" charset="0"/>
              </a:rPr>
              <a:t>their </a:t>
            </a:r>
            <a:r>
              <a:rPr dirty="0">
                <a:solidFill>
                  <a:srgbClr val="646464"/>
                </a:solidFill>
                <a:latin typeface="Times New Roman" panose="02020603050405020304" pitchFamily="18" charset="0"/>
                <a:cs typeface="Times New Roman" panose="02020603050405020304" pitchFamily="18" charset="0"/>
              </a:rPr>
              <a:t>ability to detect deceptive </a:t>
            </a:r>
            <a:r>
              <a:rPr dirty="0">
                <a:solidFill>
                  <a:srgbClr val="666666"/>
                </a:solidFill>
                <a:latin typeface="Times New Roman" panose="02020603050405020304" pitchFamily="18" charset="0"/>
                <a:cs typeface="Times New Roman" panose="02020603050405020304" pitchFamily="18" charset="0"/>
              </a:rPr>
              <a:t>intent, </a:t>
            </a:r>
            <a:r>
              <a:rPr dirty="0">
                <a:solidFill>
                  <a:srgbClr val="626262"/>
                </a:solidFill>
                <a:latin typeface="Times New Roman" panose="02020603050405020304" pitchFamily="18" charset="0"/>
                <a:cs typeface="Times New Roman" panose="02020603050405020304" pitchFamily="18" charset="0"/>
              </a:rPr>
              <a:t>especially </a:t>
            </a:r>
            <a:r>
              <a:rPr dirty="0">
                <a:solidFill>
                  <a:srgbClr val="666666"/>
                </a:solidFill>
                <a:latin typeface="Times New Roman" panose="02020603050405020304" pitchFamily="18" charset="0"/>
                <a:cs typeface="Times New Roman" panose="02020603050405020304" pitchFamily="18" charset="0"/>
              </a:rPr>
              <a:t>when </a:t>
            </a:r>
            <a:r>
              <a:rPr dirty="0">
                <a:solidFill>
                  <a:srgbClr val="646464"/>
                </a:solidFill>
                <a:latin typeface="Times New Roman" panose="02020603050405020304" pitchFamily="18" charset="0"/>
                <a:cs typeface="Times New Roman" panose="02020603050405020304" pitchFamily="18" charset="0"/>
              </a:rPr>
              <a:t>misinformation relies </a:t>
            </a:r>
            <a:r>
              <a:rPr dirty="0">
                <a:solidFill>
                  <a:srgbClr val="626262"/>
                </a:solidFill>
                <a:latin typeface="Times New Roman" panose="02020603050405020304" pitchFamily="18" charset="0"/>
                <a:cs typeface="Times New Roman" panose="02020603050405020304" pitchFamily="18" charset="0"/>
              </a:rPr>
              <a:t>heavily </a:t>
            </a:r>
            <a:r>
              <a:rPr dirty="0">
                <a:solidFill>
                  <a:srgbClr val="676767"/>
                </a:solidFill>
                <a:latin typeface="Times New Roman" panose="02020603050405020304" pitchFamily="18" charset="0"/>
                <a:cs typeface="Times New Roman" panose="02020603050405020304" pitchFamily="18" charset="0"/>
              </a:rPr>
              <a:t>on </a:t>
            </a:r>
            <a:r>
              <a:rPr dirty="0">
                <a:solidFill>
                  <a:srgbClr val="666666"/>
                </a:solidFill>
                <a:latin typeface="Times New Roman" panose="02020603050405020304" pitchFamily="18" charset="0"/>
                <a:cs typeface="Times New Roman" panose="02020603050405020304" pitchFamily="18" charset="0"/>
              </a:rPr>
              <a:t>tone </a:t>
            </a:r>
            <a:r>
              <a:rPr dirty="0">
                <a:solidFill>
                  <a:srgbClr val="646464"/>
                </a:solidFill>
                <a:latin typeface="Times New Roman" panose="02020603050405020304" pitchFamily="18" charset="0"/>
                <a:cs typeface="Times New Roman" panose="02020603050405020304" pitchFamily="18" charset="0"/>
              </a:rPr>
              <a:t>and </a:t>
            </a:r>
            <a:r>
              <a:rPr dirty="0">
                <a:solidFill>
                  <a:srgbClr val="626262"/>
                </a:solidFill>
                <a:latin typeface="Times New Roman" panose="02020603050405020304" pitchFamily="18" charset="0"/>
                <a:cs typeface="Times New Roman" panose="02020603050405020304" pitchFamily="18" charset="0"/>
              </a:rPr>
              <a:t>implicit </a:t>
            </a:r>
            <a:r>
              <a:rPr dirty="0">
                <a:solidFill>
                  <a:srgbClr val="666666"/>
                </a:solidFill>
                <a:latin typeface="Times New Roman" panose="02020603050405020304" pitchFamily="18" charset="0"/>
                <a:cs typeface="Times New Roman" panose="02020603050405020304" pitchFamily="18" charset="0"/>
              </a:rPr>
              <a:t>signals.</a:t>
            </a:r>
            <a:endParaRPr dirty="0">
              <a:latin typeface="Times New Roman" panose="02020603050405020304" pitchFamily="18" charset="0"/>
              <a:cs typeface="Times New Roman" panose="02020603050405020304" pitchFamily="18" charset="0"/>
            </a:endParaRPr>
          </a:p>
        </p:txBody>
      </p:sp>
      <p:sp>
        <p:nvSpPr>
          <p:cNvPr id="9" name="object 9"/>
          <p:cNvSpPr txBox="1"/>
          <p:nvPr/>
        </p:nvSpPr>
        <p:spPr>
          <a:xfrm>
            <a:off x="9833908" y="5242805"/>
            <a:ext cx="3680424" cy="1836400"/>
          </a:xfrm>
          <a:prstGeom prst="rect">
            <a:avLst/>
          </a:prstGeom>
        </p:spPr>
        <p:txBody>
          <a:bodyPr vert="horz" wrap="square" lIns="0" tIns="40640" rIns="0" bIns="0" rtlCol="0">
            <a:spAutoFit/>
          </a:bodyPr>
          <a:lstStyle/>
          <a:p>
            <a:pPr marL="12700" marR="532130" indent="-635" algn="just">
              <a:lnSpc>
                <a:spcPts val="2850"/>
              </a:lnSpc>
              <a:spcBef>
                <a:spcPts val="320"/>
              </a:spcBef>
            </a:pPr>
            <a:r>
              <a:rPr sz="2800" spc="-25" dirty="0">
                <a:solidFill>
                  <a:srgbClr val="080808"/>
                </a:solidFill>
                <a:latin typeface="Times New Roman" panose="02020603050405020304" pitchFamily="18" charset="0"/>
                <a:cs typeface="Times New Roman" panose="02020603050405020304" pitchFamily="18" charset="0"/>
              </a:rPr>
              <a:t>Dynamic</a:t>
            </a:r>
            <a:r>
              <a:rPr sz="2800" spc="-110" dirty="0">
                <a:solidFill>
                  <a:srgbClr val="080808"/>
                </a:solidFill>
                <a:latin typeface="Times New Roman" panose="02020603050405020304" pitchFamily="18" charset="0"/>
                <a:cs typeface="Times New Roman" panose="02020603050405020304" pitchFamily="18" charset="0"/>
              </a:rPr>
              <a:t> </a:t>
            </a:r>
            <a:r>
              <a:rPr sz="2800" spc="80" dirty="0">
                <a:solidFill>
                  <a:srgbClr val="080808"/>
                </a:solidFill>
                <a:latin typeface="Times New Roman" panose="02020603050405020304" pitchFamily="18" charset="0"/>
                <a:cs typeface="Times New Roman" panose="02020603050405020304" pitchFamily="18" charset="0"/>
              </a:rPr>
              <a:t>&amp;</a:t>
            </a:r>
            <a:r>
              <a:rPr sz="2800" spc="-175" dirty="0">
                <a:solidFill>
                  <a:srgbClr val="080808"/>
                </a:solidFill>
                <a:latin typeface="Times New Roman" panose="02020603050405020304" pitchFamily="18" charset="0"/>
                <a:cs typeface="Times New Roman" panose="02020603050405020304" pitchFamily="18" charset="0"/>
              </a:rPr>
              <a:t> </a:t>
            </a:r>
            <a:r>
              <a:rPr sz="2800" spc="-10" dirty="0">
                <a:solidFill>
                  <a:srgbClr val="080808"/>
                </a:solidFill>
                <a:latin typeface="Times New Roman" panose="02020603050405020304" pitchFamily="18" charset="0"/>
                <a:cs typeface="Times New Roman" panose="02020603050405020304" pitchFamily="18" charset="0"/>
              </a:rPr>
              <a:t>Evolving </a:t>
            </a:r>
            <a:r>
              <a:rPr sz="2800" spc="-40" dirty="0">
                <a:solidFill>
                  <a:srgbClr val="080808"/>
                </a:solidFill>
                <a:latin typeface="Times New Roman" panose="02020603050405020304" pitchFamily="18" charset="0"/>
                <a:cs typeface="Times New Roman" panose="02020603050405020304" pitchFamily="18" charset="0"/>
              </a:rPr>
              <a:t>Nature</a:t>
            </a:r>
            <a:r>
              <a:rPr sz="2800" spc="-125" dirty="0">
                <a:solidFill>
                  <a:srgbClr val="080808"/>
                </a:solidFill>
                <a:latin typeface="Times New Roman" panose="02020603050405020304" pitchFamily="18" charset="0"/>
                <a:cs typeface="Times New Roman" panose="02020603050405020304" pitchFamily="18" charset="0"/>
              </a:rPr>
              <a:t> </a:t>
            </a:r>
            <a:r>
              <a:rPr sz="2800" spc="-10" dirty="0">
                <a:solidFill>
                  <a:srgbClr val="080808"/>
                </a:solidFill>
                <a:latin typeface="Times New Roman" panose="02020603050405020304" pitchFamily="18" charset="0"/>
                <a:cs typeface="Times New Roman" panose="02020603050405020304" pitchFamily="18" charset="0"/>
              </a:rPr>
              <a:t>of</a:t>
            </a:r>
            <a:r>
              <a:rPr sz="2800" spc="-155" dirty="0">
                <a:solidFill>
                  <a:srgbClr val="080808"/>
                </a:solidFill>
                <a:latin typeface="Times New Roman" panose="02020603050405020304" pitchFamily="18" charset="0"/>
                <a:cs typeface="Times New Roman" panose="02020603050405020304" pitchFamily="18" charset="0"/>
              </a:rPr>
              <a:t> </a:t>
            </a:r>
            <a:r>
              <a:rPr sz="2800" spc="-10" dirty="0">
                <a:solidFill>
                  <a:srgbClr val="080808"/>
                </a:solidFill>
                <a:latin typeface="Times New Roman" panose="02020603050405020304" pitchFamily="18" charset="0"/>
                <a:cs typeface="Times New Roman" panose="02020603050405020304" pitchFamily="18" charset="0"/>
              </a:rPr>
              <a:t>Information</a:t>
            </a:r>
            <a:endParaRPr sz="2800" dirty="0">
              <a:solidFill>
                <a:srgbClr val="080808"/>
              </a:solidFill>
              <a:latin typeface="Times New Roman" panose="02020603050405020304" pitchFamily="18" charset="0"/>
              <a:cs typeface="Times New Roman" panose="02020603050405020304" pitchFamily="18" charset="0"/>
            </a:endParaRPr>
          </a:p>
          <a:p>
            <a:pPr marL="13970" marR="5080" indent="2540" algn="just">
              <a:lnSpc>
                <a:spcPts val="1880"/>
              </a:lnSpc>
              <a:spcBef>
                <a:spcPts val="585"/>
              </a:spcBef>
            </a:pPr>
            <a:r>
              <a:rPr dirty="0">
                <a:solidFill>
                  <a:srgbClr val="646464"/>
                </a:solidFill>
                <a:latin typeface="Times New Roman" panose="02020603050405020304" pitchFamily="18" charset="0"/>
                <a:cs typeface="Times New Roman" panose="02020603050405020304" pitchFamily="18" charset="0"/>
              </a:rPr>
              <a:t>Misinformation evolves </a:t>
            </a:r>
            <a:r>
              <a:rPr dirty="0">
                <a:solidFill>
                  <a:srgbClr val="666666"/>
                </a:solidFill>
                <a:latin typeface="Times New Roman" panose="02020603050405020304" pitchFamily="18" charset="0"/>
                <a:cs typeface="Times New Roman" panose="02020603050405020304" pitchFamily="18" charset="0"/>
              </a:rPr>
              <a:t>rapidly </a:t>
            </a:r>
            <a:r>
              <a:rPr dirty="0">
                <a:solidFill>
                  <a:srgbClr val="626262"/>
                </a:solidFill>
                <a:latin typeface="Times New Roman" panose="02020603050405020304" pitchFamily="18" charset="0"/>
                <a:cs typeface="Times New Roman" panose="02020603050405020304" pitchFamily="18" charset="0"/>
              </a:rPr>
              <a:t>across </a:t>
            </a:r>
            <a:r>
              <a:rPr dirty="0">
                <a:solidFill>
                  <a:srgbClr val="646464"/>
                </a:solidFill>
                <a:latin typeface="Times New Roman" panose="02020603050405020304" pitchFamily="18" charset="0"/>
                <a:cs typeface="Times New Roman" panose="02020603050405020304" pitchFamily="18" charset="0"/>
              </a:rPr>
              <a:t>domains </a:t>
            </a:r>
            <a:r>
              <a:rPr dirty="0">
                <a:solidFill>
                  <a:srgbClr val="676767"/>
                </a:solidFill>
                <a:latin typeface="Times New Roman" panose="02020603050405020304" pitchFamily="18" charset="0"/>
                <a:cs typeface="Times New Roman" panose="02020603050405020304" pitchFamily="18" charset="0"/>
              </a:rPr>
              <a:t>and </a:t>
            </a:r>
            <a:r>
              <a:rPr dirty="0">
                <a:solidFill>
                  <a:srgbClr val="646464"/>
                </a:solidFill>
                <a:latin typeface="Times New Roman" panose="02020603050405020304" pitchFamily="18" charset="0"/>
                <a:cs typeface="Times New Roman" panose="02020603050405020304" pitchFamily="18" charset="0"/>
              </a:rPr>
              <a:t>time, requiring </a:t>
            </a:r>
            <a:r>
              <a:rPr dirty="0">
                <a:solidFill>
                  <a:srgbClr val="626262"/>
                </a:solidFill>
                <a:latin typeface="Times New Roman" panose="02020603050405020304" pitchFamily="18" charset="0"/>
                <a:cs typeface="Times New Roman" panose="02020603050405020304" pitchFamily="18" charset="0"/>
              </a:rPr>
              <a:t>systems </a:t>
            </a:r>
            <a:r>
              <a:rPr dirty="0">
                <a:solidFill>
                  <a:srgbClr val="666666"/>
                </a:solidFill>
                <a:latin typeface="Times New Roman" panose="02020603050405020304" pitchFamily="18" charset="0"/>
                <a:cs typeface="Times New Roman" panose="02020603050405020304" pitchFamily="18" charset="0"/>
              </a:rPr>
              <a:t>to </a:t>
            </a:r>
            <a:r>
              <a:rPr dirty="0">
                <a:solidFill>
                  <a:srgbClr val="626262"/>
                </a:solidFill>
                <a:latin typeface="Times New Roman" panose="02020603050405020304" pitchFamily="18" charset="0"/>
                <a:cs typeface="Times New Roman" panose="02020603050405020304" pitchFamily="18" charset="0"/>
              </a:rPr>
              <a:t>continuously </a:t>
            </a:r>
            <a:r>
              <a:rPr dirty="0">
                <a:solidFill>
                  <a:srgbClr val="646464"/>
                </a:solidFill>
                <a:latin typeface="Times New Roman" panose="02020603050405020304" pitchFamily="18" charset="0"/>
                <a:cs typeface="Times New Roman" panose="02020603050405020304" pitchFamily="18" charset="0"/>
              </a:rPr>
              <a:t>adapt </a:t>
            </a:r>
            <a:r>
              <a:rPr dirty="0">
                <a:solidFill>
                  <a:srgbClr val="666666"/>
                </a:solidFill>
                <a:latin typeface="Times New Roman" panose="02020603050405020304" pitchFamily="18" charset="0"/>
                <a:cs typeface="Times New Roman" panose="02020603050405020304" pitchFamily="18" charset="0"/>
              </a:rPr>
              <a:t>to </a:t>
            </a:r>
            <a:r>
              <a:rPr dirty="0">
                <a:solidFill>
                  <a:srgbClr val="676767"/>
                </a:solidFill>
                <a:latin typeface="Times New Roman" panose="02020603050405020304" pitchFamily="18" charset="0"/>
                <a:cs typeface="Times New Roman" panose="02020603050405020304" pitchFamily="18" charset="0"/>
              </a:rPr>
              <a:t>new </a:t>
            </a:r>
            <a:r>
              <a:rPr dirty="0">
                <a:solidFill>
                  <a:srgbClr val="626262"/>
                </a:solidFill>
                <a:latin typeface="Times New Roman" panose="02020603050405020304" pitchFamily="18" charset="0"/>
                <a:cs typeface="Times New Roman" panose="02020603050405020304" pitchFamily="18" charset="0"/>
              </a:rPr>
              <a:t>topics, </a:t>
            </a:r>
            <a:r>
              <a:rPr dirty="0">
                <a:solidFill>
                  <a:srgbClr val="646464"/>
                </a:solidFill>
                <a:latin typeface="Times New Roman" panose="02020603050405020304" pitchFamily="18" charset="0"/>
                <a:cs typeface="Times New Roman" panose="02020603050405020304" pitchFamily="18" charset="0"/>
              </a:rPr>
              <a:t>narratives, and emerging patterns.</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38162" y="538162"/>
            <a:ext cx="4367212" cy="7029450"/>
          </a:xfrm>
          <a:prstGeom prst="rect">
            <a:avLst/>
          </a:prstGeom>
        </p:spPr>
      </p:pic>
      <p:sp>
        <p:nvSpPr>
          <p:cNvPr id="4" name="object 4"/>
          <p:cNvSpPr txBox="1">
            <a:spLocks noGrp="1"/>
          </p:cNvSpPr>
          <p:nvPr>
            <p:ph type="title"/>
          </p:nvPr>
        </p:nvSpPr>
        <p:spPr>
          <a:xfrm>
            <a:off x="5446991" y="809095"/>
            <a:ext cx="7826685" cy="1321516"/>
          </a:xfrm>
          <a:prstGeom prst="rect">
            <a:avLst/>
          </a:prstGeom>
        </p:spPr>
        <p:txBody>
          <a:bodyPr vert="horz" wrap="square" lIns="0" tIns="89535" rIns="0" bIns="0" rtlCol="0">
            <a:spAutoFit/>
          </a:bodyPr>
          <a:lstStyle/>
          <a:p>
            <a:pPr marL="12700" marR="5080" indent="3175">
              <a:lnSpc>
                <a:spcPts val="4840"/>
              </a:lnSpc>
              <a:spcBef>
                <a:spcPts val="705"/>
              </a:spcBef>
            </a:pPr>
            <a:r>
              <a:rPr sz="4800" b="1" spc="-45" dirty="0">
                <a:solidFill>
                  <a:srgbClr val="080808"/>
                </a:solidFill>
                <a:latin typeface="Times New Roman" panose="02020603050405020304" pitchFamily="18" charset="0"/>
                <a:cs typeface="Times New Roman" panose="02020603050405020304" pitchFamily="18" charset="0"/>
              </a:rPr>
              <a:t>Critical</a:t>
            </a:r>
            <a:r>
              <a:rPr sz="4800" b="1" spc="-155" dirty="0">
                <a:solidFill>
                  <a:srgbClr val="080808"/>
                </a:solidFill>
                <a:latin typeface="Times New Roman" panose="02020603050405020304" pitchFamily="18" charset="0"/>
                <a:cs typeface="Times New Roman" panose="02020603050405020304" pitchFamily="18" charset="0"/>
              </a:rPr>
              <a:t> </a:t>
            </a:r>
            <a:r>
              <a:rPr sz="4800" b="1" spc="-250" dirty="0">
                <a:solidFill>
                  <a:srgbClr val="080808"/>
                </a:solidFill>
                <a:latin typeface="Times New Roman" panose="02020603050405020304" pitchFamily="18" charset="0"/>
                <a:cs typeface="Times New Roman" panose="02020603050405020304" pitchFamily="18" charset="0"/>
              </a:rPr>
              <a:t>gaps</a:t>
            </a:r>
            <a:r>
              <a:rPr sz="4800" b="1" spc="-90" dirty="0">
                <a:solidFill>
                  <a:srgbClr val="080808"/>
                </a:solidFill>
                <a:latin typeface="Times New Roman" panose="02020603050405020304" pitchFamily="18" charset="0"/>
                <a:cs typeface="Times New Roman" panose="02020603050405020304" pitchFamily="18" charset="0"/>
              </a:rPr>
              <a:t> </a:t>
            </a:r>
            <a:r>
              <a:rPr sz="4800" b="1" dirty="0">
                <a:solidFill>
                  <a:srgbClr val="080808"/>
                </a:solidFill>
                <a:latin typeface="Times New Roman" panose="02020603050405020304" pitchFamily="18" charset="0"/>
                <a:cs typeface="Times New Roman" panose="02020603050405020304" pitchFamily="18" charset="0"/>
              </a:rPr>
              <a:t>in</a:t>
            </a:r>
            <a:r>
              <a:rPr sz="4800" b="1" spc="-245" dirty="0">
                <a:solidFill>
                  <a:srgbClr val="080808"/>
                </a:solidFill>
                <a:latin typeface="Times New Roman" panose="02020603050405020304" pitchFamily="18" charset="0"/>
                <a:cs typeface="Times New Roman" panose="02020603050405020304" pitchFamily="18" charset="0"/>
              </a:rPr>
              <a:t> </a:t>
            </a:r>
            <a:r>
              <a:rPr sz="4800" b="1" spc="-185" dirty="0">
                <a:solidFill>
                  <a:srgbClr val="080808"/>
                </a:solidFill>
                <a:latin typeface="Times New Roman" panose="02020603050405020304" pitchFamily="18" charset="0"/>
                <a:cs typeface="Times New Roman" panose="02020603050405020304" pitchFamily="18" charset="0"/>
              </a:rPr>
              <a:t>current</a:t>
            </a:r>
            <a:r>
              <a:rPr lang="en-US" sz="4800" b="1" spc="20" dirty="0">
                <a:solidFill>
                  <a:srgbClr val="080808"/>
                </a:solidFill>
                <a:latin typeface="Times New Roman" panose="02020603050405020304" pitchFamily="18" charset="0"/>
                <a:cs typeface="Times New Roman" panose="02020603050405020304" pitchFamily="18" charset="0"/>
              </a:rPr>
              <a:t> </a:t>
            </a:r>
            <a:r>
              <a:rPr sz="4800" b="1" spc="475" dirty="0">
                <a:solidFill>
                  <a:srgbClr val="080808"/>
                </a:solidFill>
                <a:latin typeface="Times New Roman" panose="02020603050405020304" pitchFamily="18" charset="0"/>
                <a:cs typeface="Times New Roman" panose="02020603050405020304" pitchFamily="18" charset="0"/>
              </a:rPr>
              <a:t>LALC </a:t>
            </a:r>
            <a:r>
              <a:rPr lang="en-US" sz="4800" b="1" spc="-270" dirty="0">
                <a:solidFill>
                  <a:srgbClr val="080808"/>
                </a:solidFill>
                <a:latin typeface="Times New Roman" panose="02020603050405020304" pitchFamily="18" charset="0"/>
                <a:cs typeface="Times New Roman" panose="02020603050405020304" pitchFamily="18" charset="0"/>
              </a:rPr>
              <a:t>F</a:t>
            </a:r>
            <a:r>
              <a:rPr sz="4800" b="1" spc="-270" dirty="0">
                <a:solidFill>
                  <a:srgbClr val="080808"/>
                </a:solidFill>
                <a:latin typeface="Times New Roman" panose="02020603050405020304" pitchFamily="18" charset="0"/>
                <a:cs typeface="Times New Roman" panose="02020603050405020304" pitchFamily="18" charset="0"/>
              </a:rPr>
              <a:t>rameworks</a:t>
            </a:r>
            <a:endParaRPr sz="4800" b="1" dirty="0">
              <a:solidFill>
                <a:srgbClr val="080808"/>
              </a:solidFill>
              <a:latin typeface="Times New Roman" panose="02020603050405020304" pitchFamily="18" charset="0"/>
              <a:cs typeface="Times New Roman" panose="02020603050405020304" pitchFamily="18" charset="0"/>
            </a:endParaRPr>
          </a:p>
        </p:txBody>
      </p:sp>
      <p:sp>
        <p:nvSpPr>
          <p:cNvPr id="5" name="object 5"/>
          <p:cNvSpPr txBox="1"/>
          <p:nvPr/>
        </p:nvSpPr>
        <p:spPr>
          <a:xfrm>
            <a:off x="5456968" y="2824691"/>
            <a:ext cx="3412490" cy="630942"/>
          </a:xfrm>
          <a:prstGeom prst="rect">
            <a:avLst/>
          </a:prstGeom>
        </p:spPr>
        <p:txBody>
          <a:bodyPr vert="horz" wrap="square" lIns="0" tIns="15240" rIns="0" bIns="0" rtlCol="0">
            <a:spAutoFit/>
          </a:bodyPr>
          <a:lstStyle/>
          <a:p>
            <a:pPr marL="12700">
              <a:lnSpc>
                <a:spcPct val="100000"/>
              </a:lnSpc>
              <a:spcBef>
                <a:spcPts val="120"/>
              </a:spcBef>
            </a:pPr>
            <a:r>
              <a:rPr sz="2000" spc="-10" dirty="0">
                <a:solidFill>
                  <a:srgbClr val="080808"/>
                </a:solidFill>
                <a:latin typeface="Times New Roman" panose="02020603050405020304" pitchFamily="18" charset="0"/>
                <a:cs typeface="Times New Roman" panose="02020603050405020304" pitchFamily="18" charset="0"/>
              </a:rPr>
              <a:t>Gap</a:t>
            </a:r>
            <a:r>
              <a:rPr sz="2000" spc="-190" dirty="0">
                <a:solidFill>
                  <a:srgbClr val="080808"/>
                </a:solidFill>
                <a:latin typeface="Times New Roman" panose="02020603050405020304" pitchFamily="18" charset="0"/>
                <a:cs typeface="Times New Roman" panose="02020603050405020304" pitchFamily="18" charset="0"/>
              </a:rPr>
              <a:t> </a:t>
            </a:r>
            <a:r>
              <a:rPr sz="2000" dirty="0">
                <a:solidFill>
                  <a:srgbClr val="080808"/>
                </a:solidFill>
                <a:latin typeface="Times New Roman" panose="02020603050405020304" pitchFamily="18" charset="0"/>
                <a:cs typeface="Times New Roman" panose="02020603050405020304" pitchFamily="18" charset="0"/>
              </a:rPr>
              <a:t>1—</a:t>
            </a:r>
            <a:r>
              <a:rPr sz="2000" spc="10" dirty="0">
                <a:solidFill>
                  <a:srgbClr val="080808"/>
                </a:solidFill>
                <a:latin typeface="Times New Roman" panose="02020603050405020304" pitchFamily="18" charset="0"/>
                <a:cs typeface="Times New Roman" panose="02020603050405020304" pitchFamily="18" charset="0"/>
              </a:rPr>
              <a:t> </a:t>
            </a:r>
            <a:r>
              <a:rPr sz="2000" spc="55" dirty="0">
                <a:solidFill>
                  <a:srgbClr val="080808"/>
                </a:solidFill>
                <a:latin typeface="Times New Roman" panose="02020603050405020304" pitchFamily="18" charset="0"/>
                <a:cs typeface="Times New Roman" panose="02020603050405020304" pitchFamily="18" charset="0"/>
              </a:rPr>
              <a:t>Emotional</a:t>
            </a:r>
            <a:r>
              <a:rPr sz="2000" spc="-30" dirty="0">
                <a:solidFill>
                  <a:srgbClr val="080808"/>
                </a:solidFill>
                <a:latin typeface="Times New Roman" panose="02020603050405020304" pitchFamily="18" charset="0"/>
                <a:cs typeface="Times New Roman" panose="02020603050405020304" pitchFamily="18" charset="0"/>
              </a:rPr>
              <a:t> </a:t>
            </a:r>
            <a:r>
              <a:rPr sz="2000" spc="-10" dirty="0">
                <a:solidFill>
                  <a:srgbClr val="080808"/>
                </a:solidFill>
                <a:latin typeface="Times New Roman" panose="02020603050405020304" pitchFamily="18" charset="0"/>
                <a:cs typeface="Times New Roman" panose="02020603050405020304" pitchFamily="18" charset="0"/>
              </a:rPr>
              <a:t>inconsistency</a:t>
            </a:r>
            <a:endParaRPr sz="2000" dirty="0">
              <a:solidFill>
                <a:srgbClr val="080808"/>
              </a:solidFill>
              <a:latin typeface="Times New Roman" panose="02020603050405020304" pitchFamily="18" charset="0"/>
              <a:cs typeface="Times New Roman" panose="02020603050405020304" pitchFamily="18" charset="0"/>
            </a:endParaRPr>
          </a:p>
        </p:txBody>
      </p:sp>
      <p:sp>
        <p:nvSpPr>
          <p:cNvPr id="6" name="object 6"/>
          <p:cNvSpPr txBox="1"/>
          <p:nvPr/>
        </p:nvSpPr>
        <p:spPr>
          <a:xfrm>
            <a:off x="5456968" y="3819525"/>
            <a:ext cx="3657600" cy="3252878"/>
          </a:xfrm>
          <a:prstGeom prst="rect">
            <a:avLst/>
          </a:prstGeom>
        </p:spPr>
        <p:txBody>
          <a:bodyPr vert="horz" wrap="square" lIns="0" tIns="12700" rIns="0" bIns="0" rtlCol="0">
            <a:spAutoFit/>
          </a:bodyPr>
          <a:lstStyle/>
          <a:p>
            <a:pPr marL="12700" marR="136525" indent="3175" algn="just">
              <a:lnSpc>
                <a:spcPct val="107100"/>
              </a:lnSpc>
              <a:spcBef>
                <a:spcPts val="100"/>
              </a:spcBef>
            </a:pPr>
            <a:r>
              <a:rPr spc="75" dirty="0">
                <a:solidFill>
                  <a:srgbClr val="080808"/>
                </a:solidFill>
                <a:latin typeface="Times New Roman" panose="02020603050405020304" pitchFamily="18" charset="0"/>
                <a:cs typeface="Times New Roman" panose="02020603050405020304" pitchFamily="18" charset="0"/>
              </a:rPr>
              <a:t>LLMs</a:t>
            </a:r>
            <a:r>
              <a:rPr spc="90" dirty="0">
                <a:solidFill>
                  <a:srgbClr val="080808"/>
                </a:solidFill>
                <a:latin typeface="Times New Roman" panose="02020603050405020304" pitchFamily="18" charset="0"/>
                <a:cs typeface="Times New Roman" panose="02020603050405020304" pitchFamily="18" charset="0"/>
              </a:rPr>
              <a:t> </a:t>
            </a:r>
            <a:r>
              <a:rPr dirty="0">
                <a:solidFill>
                  <a:srgbClr val="080808"/>
                </a:solidFill>
                <a:latin typeface="Times New Roman" panose="02020603050405020304" pitchFamily="18" charset="0"/>
                <a:cs typeface="Times New Roman" panose="02020603050405020304" pitchFamily="18" charset="0"/>
              </a:rPr>
              <a:t>preserve</a:t>
            </a:r>
            <a:r>
              <a:rPr spc="155" dirty="0">
                <a:solidFill>
                  <a:srgbClr val="080808"/>
                </a:solidFill>
                <a:latin typeface="Times New Roman" panose="02020603050405020304" pitchFamily="18" charset="0"/>
                <a:cs typeface="Times New Roman" panose="02020603050405020304" pitchFamily="18" charset="0"/>
              </a:rPr>
              <a:t> </a:t>
            </a:r>
            <a:r>
              <a:rPr spc="60" dirty="0">
                <a:solidFill>
                  <a:srgbClr val="080808"/>
                </a:solidFill>
                <a:latin typeface="Times New Roman" panose="02020603050405020304" pitchFamily="18" charset="0"/>
                <a:cs typeface="Times New Roman" panose="02020603050405020304" pitchFamily="18" charset="0"/>
              </a:rPr>
              <a:t>semantic</a:t>
            </a:r>
            <a:r>
              <a:rPr spc="225" dirty="0">
                <a:solidFill>
                  <a:srgbClr val="080808"/>
                </a:solidFill>
                <a:latin typeface="Times New Roman" panose="02020603050405020304" pitchFamily="18" charset="0"/>
                <a:cs typeface="Times New Roman" panose="02020603050405020304" pitchFamily="18" charset="0"/>
              </a:rPr>
              <a:t> </a:t>
            </a:r>
            <a:r>
              <a:rPr spc="70" dirty="0">
                <a:solidFill>
                  <a:srgbClr val="080808"/>
                </a:solidFill>
                <a:latin typeface="Times New Roman" panose="02020603050405020304" pitchFamily="18" charset="0"/>
                <a:cs typeface="Times New Roman" panose="02020603050405020304" pitchFamily="18" charset="0"/>
              </a:rPr>
              <a:t>meaning</a:t>
            </a:r>
            <a:r>
              <a:rPr lang="en-US" spc="204" dirty="0">
                <a:solidFill>
                  <a:srgbClr val="080808"/>
                </a:solidFill>
                <a:latin typeface="Times New Roman" panose="02020603050405020304" pitchFamily="18" charset="0"/>
                <a:cs typeface="Times New Roman" panose="02020603050405020304" pitchFamily="18" charset="0"/>
              </a:rPr>
              <a:t> </a:t>
            </a:r>
            <a:r>
              <a:rPr spc="30" dirty="0">
                <a:solidFill>
                  <a:srgbClr val="080808"/>
                </a:solidFill>
                <a:latin typeface="Times New Roman" panose="02020603050405020304" pitchFamily="18" charset="0"/>
                <a:cs typeface="Times New Roman" panose="02020603050405020304" pitchFamily="18" charset="0"/>
              </a:rPr>
              <a:t>but </a:t>
            </a:r>
            <a:r>
              <a:rPr spc="50" dirty="0">
                <a:solidFill>
                  <a:srgbClr val="080808"/>
                </a:solidFill>
                <a:latin typeface="Times New Roman" panose="02020603050405020304" pitchFamily="18" charset="0"/>
                <a:cs typeface="Times New Roman" panose="02020603050405020304" pitchFamily="18" charset="0"/>
              </a:rPr>
              <a:t>neutralize</a:t>
            </a:r>
            <a:r>
              <a:rPr spc="60" dirty="0">
                <a:solidFill>
                  <a:srgbClr val="080808"/>
                </a:solidFill>
                <a:latin typeface="Times New Roman" panose="02020603050405020304" pitchFamily="18" charset="0"/>
                <a:cs typeface="Times New Roman" panose="02020603050405020304" pitchFamily="18" charset="0"/>
              </a:rPr>
              <a:t> </a:t>
            </a:r>
            <a:r>
              <a:rPr spc="75" dirty="0">
                <a:solidFill>
                  <a:srgbClr val="080808"/>
                </a:solidFill>
                <a:latin typeface="Times New Roman" panose="02020603050405020304" pitchFamily="18" charset="0"/>
                <a:cs typeface="Times New Roman" panose="02020603050405020304" pitchFamily="18" charset="0"/>
              </a:rPr>
              <a:t>emotional</a:t>
            </a:r>
            <a:r>
              <a:rPr spc="20" dirty="0">
                <a:solidFill>
                  <a:srgbClr val="080808"/>
                </a:solidFill>
                <a:latin typeface="Times New Roman" panose="02020603050405020304" pitchFamily="18" charset="0"/>
                <a:cs typeface="Times New Roman" panose="02020603050405020304" pitchFamily="18" charset="0"/>
              </a:rPr>
              <a:t> </a:t>
            </a:r>
            <a:r>
              <a:rPr spc="95" dirty="0">
                <a:solidFill>
                  <a:srgbClr val="080808"/>
                </a:solidFill>
                <a:latin typeface="Times New Roman" panose="02020603050405020304" pitchFamily="18" charset="0"/>
                <a:cs typeface="Times New Roman" panose="02020603050405020304" pitchFamily="18" charset="0"/>
              </a:rPr>
              <a:t>tone</a:t>
            </a:r>
            <a:r>
              <a:rPr lang="en-US" spc="95" dirty="0">
                <a:solidFill>
                  <a:srgbClr val="080808"/>
                </a:solidFill>
                <a:latin typeface="Times New Roman" panose="02020603050405020304" pitchFamily="18" charset="0"/>
                <a:cs typeface="Times New Roman" panose="02020603050405020304" pitchFamily="18" charset="0"/>
              </a:rPr>
              <a:t> </a:t>
            </a:r>
            <a:r>
              <a:rPr spc="65" dirty="0">
                <a:solidFill>
                  <a:srgbClr val="080808"/>
                </a:solidFill>
                <a:latin typeface="Times New Roman" panose="02020603050405020304" pitchFamily="18" charset="0"/>
                <a:cs typeface="Times New Roman" panose="02020603050405020304" pitchFamily="18" charset="0"/>
              </a:rPr>
              <a:t>during </a:t>
            </a:r>
            <a:r>
              <a:rPr spc="60" dirty="0">
                <a:solidFill>
                  <a:srgbClr val="080808"/>
                </a:solidFill>
                <a:latin typeface="Times New Roman" panose="02020603050405020304" pitchFamily="18" charset="0"/>
                <a:cs typeface="Times New Roman" panose="02020603050405020304" pitchFamily="18" charset="0"/>
              </a:rPr>
              <a:t>rewriting,</a:t>
            </a:r>
            <a:r>
              <a:rPr spc="30" dirty="0">
                <a:solidFill>
                  <a:srgbClr val="080808"/>
                </a:solidFill>
                <a:latin typeface="Times New Roman" panose="02020603050405020304" pitchFamily="18" charset="0"/>
                <a:cs typeface="Times New Roman" panose="02020603050405020304" pitchFamily="18" charset="0"/>
              </a:rPr>
              <a:t> </a:t>
            </a:r>
            <a:r>
              <a:rPr spc="70" dirty="0">
                <a:solidFill>
                  <a:srgbClr val="080808"/>
                </a:solidFill>
                <a:latin typeface="Times New Roman" panose="02020603050405020304" pitchFamily="18" charset="0"/>
                <a:cs typeface="Times New Roman" panose="02020603050405020304" pitchFamily="18" charset="0"/>
              </a:rPr>
              <a:t>creating</a:t>
            </a:r>
            <a:r>
              <a:rPr lang="en-US" spc="70" dirty="0">
                <a:solidFill>
                  <a:srgbClr val="080808"/>
                </a:solidFill>
                <a:latin typeface="Times New Roman" panose="02020603050405020304" pitchFamily="18" charset="0"/>
                <a:cs typeface="Times New Roman" panose="02020603050405020304" pitchFamily="18" charset="0"/>
              </a:rPr>
              <a:t> </a:t>
            </a:r>
            <a:r>
              <a:rPr spc="70" dirty="0">
                <a:solidFill>
                  <a:srgbClr val="080808"/>
                </a:solidFill>
                <a:latin typeface="Times New Roman" panose="02020603050405020304" pitchFamily="18" charset="0"/>
                <a:cs typeface="Times New Roman" panose="02020603050405020304" pitchFamily="18" charset="0"/>
              </a:rPr>
              <a:t>emotionally</a:t>
            </a:r>
            <a:r>
              <a:rPr spc="130" dirty="0">
                <a:solidFill>
                  <a:srgbClr val="080808"/>
                </a:solidFill>
                <a:latin typeface="Times New Roman" panose="02020603050405020304" pitchFamily="18" charset="0"/>
                <a:cs typeface="Times New Roman" panose="02020603050405020304" pitchFamily="18" charset="0"/>
              </a:rPr>
              <a:t> </a:t>
            </a:r>
            <a:r>
              <a:rPr spc="-10" dirty="0">
                <a:solidFill>
                  <a:srgbClr val="080808"/>
                </a:solidFill>
                <a:latin typeface="Times New Roman" panose="02020603050405020304" pitchFamily="18" charset="0"/>
                <a:cs typeface="Times New Roman" panose="02020603050405020304" pitchFamily="18" charset="0"/>
              </a:rPr>
              <a:t>dissimilar </a:t>
            </a:r>
            <a:r>
              <a:rPr dirty="0">
                <a:solidFill>
                  <a:srgbClr val="080808"/>
                </a:solidFill>
                <a:latin typeface="Times New Roman" panose="02020603050405020304" pitchFamily="18" charset="0"/>
                <a:cs typeface="Times New Roman" panose="02020603050405020304" pitchFamily="18" charset="0"/>
              </a:rPr>
              <a:t>pairs</a:t>
            </a:r>
            <a:r>
              <a:rPr spc="20" dirty="0">
                <a:solidFill>
                  <a:srgbClr val="080808"/>
                </a:solidFill>
                <a:latin typeface="Times New Roman" panose="02020603050405020304" pitchFamily="18" charset="0"/>
                <a:cs typeface="Times New Roman" panose="02020603050405020304" pitchFamily="18" charset="0"/>
              </a:rPr>
              <a:t> </a:t>
            </a:r>
            <a:r>
              <a:rPr spc="75" dirty="0">
                <a:solidFill>
                  <a:srgbClr val="080808"/>
                </a:solidFill>
                <a:latin typeface="Times New Roman" panose="02020603050405020304" pitchFamily="18" charset="0"/>
                <a:cs typeface="Times New Roman" panose="02020603050405020304" pitchFamily="18" charset="0"/>
              </a:rPr>
              <a:t>treated</a:t>
            </a:r>
            <a:r>
              <a:rPr lang="en-US" spc="75" dirty="0">
                <a:solidFill>
                  <a:srgbClr val="080808"/>
                </a:solidFill>
                <a:latin typeface="Times New Roman" panose="02020603050405020304" pitchFamily="18" charset="0"/>
                <a:cs typeface="Times New Roman" panose="02020603050405020304" pitchFamily="18" charset="0"/>
              </a:rPr>
              <a:t> </a:t>
            </a:r>
            <a:r>
              <a:rPr dirty="0">
                <a:solidFill>
                  <a:srgbClr val="080808"/>
                </a:solidFill>
                <a:latin typeface="Times New Roman" panose="02020603050405020304" pitchFamily="18" charset="0"/>
                <a:cs typeface="Times New Roman" panose="02020603050405020304" pitchFamily="18" charset="0"/>
              </a:rPr>
              <a:t>as </a:t>
            </a:r>
            <a:r>
              <a:rPr spc="60" dirty="0">
                <a:solidFill>
                  <a:srgbClr val="080808"/>
                </a:solidFill>
                <a:latin typeface="Times New Roman" panose="02020603050405020304" pitchFamily="18" charset="0"/>
                <a:cs typeface="Times New Roman" panose="02020603050405020304" pitchFamily="18" charset="0"/>
              </a:rPr>
              <a:t>positive</a:t>
            </a:r>
            <a:r>
              <a:rPr spc="40" dirty="0">
                <a:solidFill>
                  <a:srgbClr val="080808"/>
                </a:solidFill>
                <a:latin typeface="Times New Roman" panose="02020603050405020304" pitchFamily="18" charset="0"/>
                <a:cs typeface="Times New Roman" panose="02020603050405020304" pitchFamily="18" charset="0"/>
              </a:rPr>
              <a:t> </a:t>
            </a:r>
            <a:r>
              <a:rPr spc="50" dirty="0">
                <a:solidFill>
                  <a:srgbClr val="080808"/>
                </a:solidFill>
                <a:latin typeface="Times New Roman" panose="02020603050405020304" pitchFamily="18" charset="0"/>
                <a:cs typeface="Times New Roman" panose="02020603050405020304" pitchFamily="18" charset="0"/>
              </a:rPr>
              <a:t>in</a:t>
            </a:r>
            <a:r>
              <a:rPr spc="-35" dirty="0">
                <a:solidFill>
                  <a:srgbClr val="080808"/>
                </a:solidFill>
                <a:latin typeface="Times New Roman" panose="02020603050405020304" pitchFamily="18" charset="0"/>
                <a:cs typeface="Times New Roman" panose="02020603050405020304" pitchFamily="18" charset="0"/>
              </a:rPr>
              <a:t> </a:t>
            </a:r>
            <a:r>
              <a:rPr spc="50" dirty="0">
                <a:solidFill>
                  <a:srgbClr val="080808"/>
                </a:solidFill>
                <a:latin typeface="Times New Roman" panose="02020603050405020304" pitchFamily="18" charset="0"/>
                <a:cs typeface="Times New Roman" panose="02020603050405020304" pitchFamily="18" charset="0"/>
              </a:rPr>
              <a:t>contrastive </a:t>
            </a:r>
            <a:r>
              <a:rPr spc="-10" dirty="0">
                <a:solidFill>
                  <a:srgbClr val="080808"/>
                </a:solidFill>
                <a:latin typeface="Times New Roman" panose="02020603050405020304" pitchFamily="18" charset="0"/>
                <a:cs typeface="Times New Roman" panose="02020603050405020304" pitchFamily="18" charset="0"/>
              </a:rPr>
              <a:t>learning.</a:t>
            </a:r>
            <a:endParaRPr dirty="0">
              <a:solidFill>
                <a:srgbClr val="080808"/>
              </a:solidFill>
              <a:latin typeface="Times New Roman" panose="02020603050405020304" pitchFamily="18" charset="0"/>
              <a:cs typeface="Times New Roman" panose="02020603050405020304" pitchFamily="18" charset="0"/>
            </a:endParaRPr>
          </a:p>
          <a:p>
            <a:pPr marL="12700" marR="497840" indent="6350" algn="just">
              <a:lnSpc>
                <a:spcPct val="107100"/>
              </a:lnSpc>
            </a:pPr>
            <a:r>
              <a:rPr dirty="0">
                <a:solidFill>
                  <a:srgbClr val="080808"/>
                </a:solidFill>
                <a:latin typeface="Times New Roman" panose="02020603050405020304" pitchFamily="18" charset="0"/>
                <a:cs typeface="Times New Roman" panose="02020603050405020304" pitchFamily="18" charset="0"/>
              </a:rPr>
              <a:t>A</a:t>
            </a:r>
            <a:r>
              <a:rPr spc="-15" dirty="0">
                <a:solidFill>
                  <a:srgbClr val="080808"/>
                </a:solidFill>
                <a:latin typeface="Times New Roman" panose="02020603050405020304" pitchFamily="18" charset="0"/>
                <a:cs typeface="Times New Roman" panose="02020603050405020304" pitchFamily="18" charset="0"/>
              </a:rPr>
              <a:t> </a:t>
            </a:r>
            <a:r>
              <a:rPr spc="-45" dirty="0">
                <a:solidFill>
                  <a:srgbClr val="080808"/>
                </a:solidFill>
                <a:latin typeface="Times New Roman" panose="02020603050405020304" pitchFamily="18" charset="0"/>
                <a:cs typeface="Times New Roman" panose="02020603050405020304" pitchFamily="18" charset="0"/>
              </a:rPr>
              <a:t>fear</a:t>
            </a:r>
            <a:r>
              <a:rPr lang="en-US" spc="-45" dirty="0">
                <a:solidFill>
                  <a:srgbClr val="080808"/>
                </a:solidFill>
                <a:latin typeface="Times New Roman" panose="02020603050405020304" pitchFamily="18" charset="0"/>
                <a:cs typeface="Times New Roman" panose="02020603050405020304" pitchFamily="18" charset="0"/>
              </a:rPr>
              <a:t> </a:t>
            </a:r>
            <a:r>
              <a:rPr dirty="0">
                <a:solidFill>
                  <a:srgbClr val="080808"/>
                </a:solidFill>
                <a:latin typeface="Times New Roman" panose="02020603050405020304" pitchFamily="18" charset="0"/>
                <a:cs typeface="Times New Roman" panose="02020603050405020304" pitchFamily="18" charset="0"/>
              </a:rPr>
              <a:t>laden</a:t>
            </a:r>
            <a:r>
              <a:rPr spc="50" dirty="0">
                <a:solidFill>
                  <a:srgbClr val="080808"/>
                </a:solidFill>
                <a:latin typeface="Times New Roman" panose="02020603050405020304" pitchFamily="18" charset="0"/>
                <a:cs typeface="Times New Roman" panose="02020603050405020304" pitchFamily="18" charset="0"/>
              </a:rPr>
              <a:t> </a:t>
            </a:r>
            <a:r>
              <a:rPr spc="65" dirty="0">
                <a:solidFill>
                  <a:srgbClr val="080808"/>
                </a:solidFill>
                <a:latin typeface="Times New Roman" panose="02020603050405020304" pitchFamily="18" charset="0"/>
                <a:cs typeface="Times New Roman" panose="02020603050405020304" pitchFamily="18" charset="0"/>
              </a:rPr>
              <a:t>post</a:t>
            </a:r>
            <a:r>
              <a:rPr dirty="0">
                <a:solidFill>
                  <a:srgbClr val="080808"/>
                </a:solidFill>
                <a:latin typeface="Times New Roman" panose="02020603050405020304" pitchFamily="18" charset="0"/>
                <a:cs typeface="Times New Roman" panose="02020603050405020304" pitchFamily="18" charset="0"/>
              </a:rPr>
              <a:t> </a:t>
            </a:r>
            <a:r>
              <a:rPr spc="70" dirty="0">
                <a:solidFill>
                  <a:srgbClr val="080808"/>
                </a:solidFill>
                <a:latin typeface="Times New Roman" panose="02020603050405020304" pitchFamily="18" charset="0"/>
                <a:cs typeface="Times New Roman" panose="02020603050405020304" pitchFamily="18" charset="0"/>
              </a:rPr>
              <a:t>becomes</a:t>
            </a:r>
            <a:r>
              <a:rPr spc="-5" dirty="0">
                <a:solidFill>
                  <a:srgbClr val="080808"/>
                </a:solidFill>
                <a:latin typeface="Times New Roman" panose="02020603050405020304" pitchFamily="18" charset="0"/>
                <a:cs typeface="Times New Roman" panose="02020603050405020304" pitchFamily="18" charset="0"/>
              </a:rPr>
              <a:t> </a:t>
            </a:r>
            <a:r>
              <a:rPr dirty="0">
                <a:solidFill>
                  <a:srgbClr val="080808"/>
                </a:solidFill>
                <a:latin typeface="Times New Roman" panose="02020603050405020304" pitchFamily="18" charset="0"/>
                <a:cs typeface="Times New Roman" panose="02020603050405020304" pitchFamily="18" charset="0"/>
              </a:rPr>
              <a:t>a</a:t>
            </a:r>
            <a:r>
              <a:rPr lang="en-US" dirty="0">
                <a:solidFill>
                  <a:srgbClr val="080808"/>
                </a:solidFill>
                <a:latin typeface="Times New Roman" panose="02020603050405020304" pitchFamily="18" charset="0"/>
                <a:cs typeface="Times New Roman" panose="02020603050405020304" pitchFamily="18" charset="0"/>
              </a:rPr>
              <a:t> </a:t>
            </a:r>
            <a:r>
              <a:rPr spc="45" dirty="0">
                <a:solidFill>
                  <a:srgbClr val="080808"/>
                </a:solidFill>
                <a:latin typeface="Times New Roman" panose="02020603050405020304" pitchFamily="18" charset="0"/>
                <a:cs typeface="Times New Roman" panose="02020603050405020304" pitchFamily="18" charset="0"/>
              </a:rPr>
              <a:t>neutral </a:t>
            </a:r>
            <a:r>
              <a:rPr spc="60" dirty="0">
                <a:solidFill>
                  <a:srgbClr val="080808"/>
                </a:solidFill>
                <a:latin typeface="Times New Roman" panose="02020603050405020304" pitchFamily="18" charset="0"/>
                <a:cs typeface="Times New Roman" panose="02020603050405020304" pitchFamily="18" charset="0"/>
              </a:rPr>
              <a:t>rewrite</a:t>
            </a:r>
            <a:r>
              <a:rPr lang="en-US" spc="175" dirty="0">
                <a:solidFill>
                  <a:srgbClr val="080808"/>
                </a:solidFill>
                <a:latin typeface="Times New Roman" panose="02020603050405020304" pitchFamily="18" charset="0"/>
                <a:cs typeface="Times New Roman" panose="02020603050405020304" pitchFamily="18" charset="0"/>
              </a:rPr>
              <a:t> </a:t>
            </a:r>
            <a:r>
              <a:rPr dirty="0">
                <a:solidFill>
                  <a:srgbClr val="080808"/>
                </a:solidFill>
                <a:latin typeface="Times New Roman" panose="02020603050405020304" pitchFamily="18" charset="0"/>
                <a:cs typeface="Times New Roman" panose="02020603050405020304" pitchFamily="18" charset="0"/>
              </a:rPr>
              <a:t>same</a:t>
            </a:r>
            <a:r>
              <a:rPr spc="85" dirty="0">
                <a:solidFill>
                  <a:srgbClr val="080808"/>
                </a:solidFill>
                <a:latin typeface="Times New Roman" panose="02020603050405020304" pitchFamily="18" charset="0"/>
                <a:cs typeface="Times New Roman" panose="02020603050405020304" pitchFamily="18" charset="0"/>
              </a:rPr>
              <a:t> </a:t>
            </a:r>
            <a:r>
              <a:rPr spc="60" dirty="0">
                <a:solidFill>
                  <a:srgbClr val="080808"/>
                </a:solidFill>
                <a:latin typeface="Times New Roman" panose="02020603050405020304" pitchFamily="18" charset="0"/>
                <a:cs typeface="Times New Roman" panose="02020603050405020304" pitchFamily="18" charset="0"/>
              </a:rPr>
              <a:t>meaning,</a:t>
            </a:r>
            <a:r>
              <a:rPr lang="en-US" spc="60" dirty="0">
                <a:solidFill>
                  <a:srgbClr val="080808"/>
                </a:solidFill>
                <a:latin typeface="Times New Roman" panose="02020603050405020304" pitchFamily="18" charset="0"/>
                <a:cs typeface="Times New Roman" panose="02020603050405020304" pitchFamily="18" charset="0"/>
              </a:rPr>
              <a:t> </a:t>
            </a:r>
            <a:r>
              <a:rPr spc="55" dirty="0">
                <a:solidFill>
                  <a:srgbClr val="080808"/>
                </a:solidFill>
                <a:latin typeface="Times New Roman" panose="02020603050405020304" pitchFamily="18" charset="0"/>
                <a:cs typeface="Times New Roman" panose="02020603050405020304" pitchFamily="18" charset="0"/>
              </a:rPr>
              <a:t>broken </a:t>
            </a:r>
            <a:r>
              <a:rPr spc="75" dirty="0">
                <a:solidFill>
                  <a:srgbClr val="080808"/>
                </a:solidFill>
                <a:latin typeface="Times New Roman" panose="02020603050405020304" pitchFamily="18" charset="0"/>
                <a:cs typeface="Times New Roman" panose="02020603050405020304" pitchFamily="18" charset="0"/>
              </a:rPr>
              <a:t>emotional </a:t>
            </a:r>
            <a:r>
              <a:rPr spc="-10" dirty="0">
                <a:solidFill>
                  <a:srgbClr val="080808"/>
                </a:solidFill>
                <a:latin typeface="Times New Roman" panose="02020603050405020304" pitchFamily="18" charset="0"/>
                <a:cs typeface="Times New Roman" panose="02020603050405020304" pitchFamily="18" charset="0"/>
              </a:rPr>
              <a:t>signal.</a:t>
            </a:r>
            <a:endParaRPr dirty="0">
              <a:solidFill>
                <a:srgbClr val="080808"/>
              </a:solidFill>
              <a:latin typeface="Times New Roman" panose="02020603050405020304" pitchFamily="18" charset="0"/>
              <a:cs typeface="Times New Roman" panose="02020603050405020304" pitchFamily="18" charset="0"/>
            </a:endParaRPr>
          </a:p>
          <a:p>
            <a:pPr marL="17145" marR="5080" indent="-2540" algn="just">
              <a:lnSpc>
                <a:spcPct val="107100"/>
              </a:lnSpc>
            </a:pPr>
            <a:r>
              <a:rPr dirty="0">
                <a:solidFill>
                  <a:srgbClr val="080808"/>
                </a:solidFill>
                <a:latin typeface="Times New Roman" panose="02020603050405020304" pitchFamily="18" charset="0"/>
                <a:cs typeface="Times New Roman" panose="02020603050405020304" pitchFamily="18" charset="0"/>
              </a:rPr>
              <a:t>Result:</a:t>
            </a:r>
            <a:r>
              <a:rPr spc="114" dirty="0">
                <a:solidFill>
                  <a:srgbClr val="080808"/>
                </a:solidFill>
                <a:latin typeface="Times New Roman" panose="02020603050405020304" pitchFamily="18" charset="0"/>
                <a:cs typeface="Times New Roman" panose="02020603050405020304" pitchFamily="18" charset="0"/>
              </a:rPr>
              <a:t> </a:t>
            </a:r>
            <a:r>
              <a:rPr spc="60" dirty="0">
                <a:solidFill>
                  <a:srgbClr val="080808"/>
                </a:solidFill>
                <a:latin typeface="Times New Roman" panose="02020603050405020304" pitchFamily="18" charset="0"/>
                <a:cs typeface="Times New Roman" panose="02020603050405020304" pitchFamily="18" charset="0"/>
              </a:rPr>
              <a:t>Degraded</a:t>
            </a:r>
            <a:r>
              <a:rPr spc="175" dirty="0">
                <a:solidFill>
                  <a:srgbClr val="080808"/>
                </a:solidFill>
                <a:latin typeface="Times New Roman" panose="02020603050405020304" pitchFamily="18" charset="0"/>
                <a:cs typeface="Times New Roman" panose="02020603050405020304" pitchFamily="18" charset="0"/>
              </a:rPr>
              <a:t> </a:t>
            </a:r>
            <a:r>
              <a:rPr spc="50" dirty="0">
                <a:solidFill>
                  <a:srgbClr val="080808"/>
                </a:solidFill>
                <a:latin typeface="Times New Roman" panose="02020603050405020304" pitchFamily="18" charset="0"/>
                <a:cs typeface="Times New Roman" panose="02020603050405020304" pitchFamily="18" charset="0"/>
              </a:rPr>
              <a:t>representations,</a:t>
            </a:r>
            <a:r>
              <a:rPr lang="en-US" spc="50" dirty="0">
                <a:solidFill>
                  <a:srgbClr val="080808"/>
                </a:solidFill>
                <a:latin typeface="Times New Roman" panose="02020603050405020304" pitchFamily="18" charset="0"/>
                <a:cs typeface="Times New Roman" panose="02020603050405020304" pitchFamily="18" charset="0"/>
              </a:rPr>
              <a:t> </a:t>
            </a:r>
            <a:r>
              <a:rPr dirty="0">
                <a:solidFill>
                  <a:srgbClr val="080808"/>
                </a:solidFill>
                <a:latin typeface="Times New Roman" panose="02020603050405020304" pitchFamily="18" charset="0"/>
                <a:cs typeface="Times New Roman" panose="02020603050405020304" pitchFamily="18" charset="0"/>
              </a:rPr>
              <a:t>weakened</a:t>
            </a:r>
            <a:r>
              <a:rPr spc="220" dirty="0">
                <a:solidFill>
                  <a:srgbClr val="080808"/>
                </a:solidFill>
                <a:latin typeface="Times New Roman" panose="02020603050405020304" pitchFamily="18" charset="0"/>
                <a:cs typeface="Times New Roman" panose="02020603050405020304" pitchFamily="18" charset="0"/>
              </a:rPr>
              <a:t> </a:t>
            </a:r>
            <a:r>
              <a:rPr spc="75" dirty="0">
                <a:solidFill>
                  <a:srgbClr val="080808"/>
                </a:solidFill>
                <a:latin typeface="Times New Roman" panose="02020603050405020304" pitchFamily="18" charset="0"/>
                <a:cs typeface="Times New Roman" panose="02020603050405020304" pitchFamily="18" charset="0"/>
              </a:rPr>
              <a:t>detection</a:t>
            </a:r>
            <a:r>
              <a:rPr spc="155" dirty="0">
                <a:solidFill>
                  <a:srgbClr val="080808"/>
                </a:solidFill>
                <a:latin typeface="Times New Roman" panose="02020603050405020304" pitchFamily="18" charset="0"/>
                <a:cs typeface="Times New Roman" panose="02020603050405020304" pitchFamily="18" charset="0"/>
              </a:rPr>
              <a:t> </a:t>
            </a:r>
            <a:r>
              <a:rPr spc="55" dirty="0">
                <a:solidFill>
                  <a:srgbClr val="080808"/>
                </a:solidFill>
                <a:latin typeface="Times New Roman" panose="02020603050405020304" pitchFamily="18" charset="0"/>
                <a:cs typeface="Times New Roman" panose="02020603050405020304" pitchFamily="18" charset="0"/>
              </a:rPr>
              <a:t>of</a:t>
            </a:r>
            <a:r>
              <a:rPr spc="130" dirty="0">
                <a:solidFill>
                  <a:srgbClr val="080808"/>
                </a:solidFill>
                <a:latin typeface="Times New Roman" panose="02020603050405020304" pitchFamily="18" charset="0"/>
                <a:cs typeface="Times New Roman" panose="02020603050405020304" pitchFamily="18" charset="0"/>
              </a:rPr>
              <a:t> </a:t>
            </a:r>
            <a:r>
              <a:rPr spc="70" dirty="0">
                <a:solidFill>
                  <a:srgbClr val="080808"/>
                </a:solidFill>
                <a:latin typeface="Times New Roman" panose="02020603050405020304" pitchFamily="18" charset="0"/>
                <a:cs typeface="Times New Roman" panose="02020603050405020304" pitchFamily="18" charset="0"/>
              </a:rPr>
              <a:t>emotionally</a:t>
            </a:r>
            <a:r>
              <a:rPr lang="en-US" spc="70" dirty="0">
                <a:solidFill>
                  <a:srgbClr val="080808"/>
                </a:solidFill>
                <a:latin typeface="Times New Roman" panose="02020603050405020304" pitchFamily="18" charset="0"/>
                <a:cs typeface="Times New Roman" panose="02020603050405020304" pitchFamily="18" charset="0"/>
              </a:rPr>
              <a:t> </a:t>
            </a:r>
            <a:r>
              <a:rPr spc="55" dirty="0">
                <a:solidFill>
                  <a:srgbClr val="080808"/>
                </a:solidFill>
                <a:latin typeface="Times New Roman" panose="02020603050405020304" pitchFamily="18" charset="0"/>
                <a:cs typeface="Times New Roman" panose="02020603050405020304" pitchFamily="18" charset="0"/>
              </a:rPr>
              <a:t>driven </a:t>
            </a:r>
            <a:r>
              <a:rPr spc="65" dirty="0">
                <a:solidFill>
                  <a:srgbClr val="080808"/>
                </a:solidFill>
                <a:latin typeface="Times New Roman" panose="02020603050405020304" pitchFamily="18" charset="0"/>
                <a:cs typeface="Times New Roman" panose="02020603050405020304" pitchFamily="18" charset="0"/>
              </a:rPr>
              <a:t>misinformation.</a:t>
            </a:r>
            <a:endParaRPr dirty="0">
              <a:solidFill>
                <a:srgbClr val="080808"/>
              </a:solidFill>
              <a:latin typeface="Times New Roman" panose="02020603050405020304" pitchFamily="18" charset="0"/>
              <a:cs typeface="Times New Roman" panose="02020603050405020304" pitchFamily="18" charset="0"/>
            </a:endParaRPr>
          </a:p>
        </p:txBody>
      </p:sp>
      <p:sp>
        <p:nvSpPr>
          <p:cNvPr id="7" name="object 7"/>
          <p:cNvSpPr txBox="1"/>
          <p:nvPr/>
        </p:nvSpPr>
        <p:spPr>
          <a:xfrm>
            <a:off x="9791700" y="2824691"/>
            <a:ext cx="3115310" cy="630942"/>
          </a:xfrm>
          <a:prstGeom prst="rect">
            <a:avLst/>
          </a:prstGeom>
        </p:spPr>
        <p:txBody>
          <a:bodyPr vert="horz" wrap="square" lIns="0" tIns="15240" rIns="0" bIns="0" rtlCol="0">
            <a:spAutoFit/>
          </a:bodyPr>
          <a:lstStyle/>
          <a:p>
            <a:pPr marL="12700">
              <a:lnSpc>
                <a:spcPct val="100000"/>
              </a:lnSpc>
              <a:spcBef>
                <a:spcPts val="120"/>
              </a:spcBef>
            </a:pPr>
            <a:r>
              <a:rPr sz="2000" dirty="0">
                <a:solidFill>
                  <a:srgbClr val="080808"/>
                </a:solidFill>
                <a:latin typeface="Times New Roman" panose="02020603050405020304" pitchFamily="18" charset="0"/>
                <a:cs typeface="Times New Roman" panose="02020603050405020304" pitchFamily="18" charset="0"/>
              </a:rPr>
              <a:t>Gap</a:t>
            </a:r>
            <a:r>
              <a:rPr sz="2000" spc="-45" dirty="0">
                <a:solidFill>
                  <a:srgbClr val="080808"/>
                </a:solidFill>
                <a:latin typeface="Times New Roman" panose="02020603050405020304" pitchFamily="18" charset="0"/>
                <a:cs typeface="Times New Roman" panose="02020603050405020304" pitchFamily="18" charset="0"/>
              </a:rPr>
              <a:t> </a:t>
            </a:r>
            <a:r>
              <a:rPr sz="2000" dirty="0">
                <a:solidFill>
                  <a:srgbClr val="080808"/>
                </a:solidFill>
                <a:latin typeface="Times New Roman" panose="02020603050405020304" pitchFamily="18" charset="0"/>
                <a:cs typeface="Times New Roman" panose="02020603050405020304" pitchFamily="18" charset="0"/>
              </a:rPr>
              <a:t>2</a:t>
            </a:r>
            <a:r>
              <a:rPr sz="2000" spc="30" dirty="0">
                <a:solidFill>
                  <a:srgbClr val="080808"/>
                </a:solidFill>
                <a:latin typeface="Times New Roman" panose="02020603050405020304" pitchFamily="18" charset="0"/>
                <a:cs typeface="Times New Roman" panose="02020603050405020304" pitchFamily="18" charset="0"/>
              </a:rPr>
              <a:t> </a:t>
            </a:r>
            <a:r>
              <a:rPr sz="2000" spc="-490" dirty="0">
                <a:solidFill>
                  <a:srgbClr val="080808"/>
                </a:solidFill>
                <a:latin typeface="Times New Roman" panose="02020603050405020304" pitchFamily="18" charset="0"/>
                <a:cs typeface="Times New Roman" panose="02020603050405020304" pitchFamily="18" charset="0"/>
              </a:rPr>
              <a:t>—</a:t>
            </a:r>
            <a:r>
              <a:rPr sz="2000" spc="90" dirty="0">
                <a:solidFill>
                  <a:srgbClr val="080808"/>
                </a:solidFill>
                <a:latin typeface="Times New Roman" panose="02020603050405020304" pitchFamily="18" charset="0"/>
                <a:cs typeface="Times New Roman" panose="02020603050405020304" pitchFamily="18" charset="0"/>
              </a:rPr>
              <a:t> </a:t>
            </a:r>
            <a:r>
              <a:rPr sz="2000" dirty="0">
                <a:solidFill>
                  <a:srgbClr val="080808"/>
                </a:solidFill>
                <a:latin typeface="Times New Roman" panose="02020603050405020304" pitchFamily="18" charset="0"/>
                <a:cs typeface="Times New Roman" panose="02020603050405020304" pitchFamily="18" charset="0"/>
              </a:rPr>
              <a:t>No</a:t>
            </a:r>
            <a:r>
              <a:rPr sz="2000" spc="-40" dirty="0">
                <a:solidFill>
                  <a:srgbClr val="080808"/>
                </a:solidFill>
                <a:latin typeface="Times New Roman" panose="02020603050405020304" pitchFamily="18" charset="0"/>
                <a:cs typeface="Times New Roman" panose="02020603050405020304" pitchFamily="18" charset="0"/>
              </a:rPr>
              <a:t> </a:t>
            </a:r>
            <a:r>
              <a:rPr sz="2000" spc="45" dirty="0">
                <a:solidFill>
                  <a:srgbClr val="080808"/>
                </a:solidFill>
                <a:latin typeface="Times New Roman" panose="02020603050405020304" pitchFamily="18" charset="0"/>
                <a:cs typeface="Times New Roman" panose="02020603050405020304" pitchFamily="18" charset="0"/>
              </a:rPr>
              <a:t>factual</a:t>
            </a:r>
            <a:r>
              <a:rPr sz="2000" spc="15" dirty="0">
                <a:solidFill>
                  <a:srgbClr val="080808"/>
                </a:solidFill>
                <a:latin typeface="Times New Roman" panose="02020603050405020304" pitchFamily="18" charset="0"/>
                <a:cs typeface="Times New Roman" panose="02020603050405020304" pitchFamily="18" charset="0"/>
              </a:rPr>
              <a:t> </a:t>
            </a:r>
            <a:r>
              <a:rPr sz="2000" spc="60" dirty="0">
                <a:solidFill>
                  <a:srgbClr val="080808"/>
                </a:solidFill>
                <a:latin typeface="Times New Roman" panose="02020603050405020304" pitchFamily="18" charset="0"/>
                <a:cs typeface="Times New Roman" panose="02020603050405020304" pitchFamily="18" charset="0"/>
              </a:rPr>
              <a:t>grounding</a:t>
            </a:r>
            <a:endParaRPr sz="2000" dirty="0">
              <a:solidFill>
                <a:srgbClr val="080808"/>
              </a:solidFill>
              <a:latin typeface="Times New Roman" panose="02020603050405020304" pitchFamily="18" charset="0"/>
              <a:cs typeface="Times New Roman" panose="02020603050405020304" pitchFamily="18" charset="0"/>
            </a:endParaRPr>
          </a:p>
        </p:txBody>
      </p:sp>
      <p:sp>
        <p:nvSpPr>
          <p:cNvPr id="8" name="object 8"/>
          <p:cNvSpPr txBox="1"/>
          <p:nvPr/>
        </p:nvSpPr>
        <p:spPr>
          <a:xfrm>
            <a:off x="9793780" y="3819525"/>
            <a:ext cx="3832589" cy="3252878"/>
          </a:xfrm>
          <a:prstGeom prst="rect">
            <a:avLst/>
          </a:prstGeom>
        </p:spPr>
        <p:txBody>
          <a:bodyPr vert="horz" wrap="square" lIns="0" tIns="12700" rIns="0" bIns="0" rtlCol="0">
            <a:spAutoFit/>
          </a:bodyPr>
          <a:lstStyle/>
          <a:p>
            <a:pPr marL="15240" marR="591185" indent="-3175" algn="just">
              <a:lnSpc>
                <a:spcPct val="107100"/>
              </a:lnSpc>
              <a:spcBef>
                <a:spcPts val="100"/>
              </a:spcBef>
            </a:pPr>
            <a:r>
              <a:rPr spc="60" dirty="0">
                <a:solidFill>
                  <a:srgbClr val="080808"/>
                </a:solidFill>
                <a:latin typeface="Times New Roman" panose="02020603050405020304" pitchFamily="18" charset="0"/>
                <a:cs typeface="Times New Roman" panose="02020603050405020304" pitchFamily="18" charset="0"/>
              </a:rPr>
              <a:t>Frameworks</a:t>
            </a:r>
            <a:r>
              <a:rPr spc="200" dirty="0">
                <a:solidFill>
                  <a:srgbClr val="080808"/>
                </a:solidFill>
                <a:latin typeface="Times New Roman" panose="02020603050405020304" pitchFamily="18" charset="0"/>
                <a:cs typeface="Times New Roman" panose="02020603050405020304" pitchFamily="18" charset="0"/>
              </a:rPr>
              <a:t> </a:t>
            </a:r>
            <a:r>
              <a:rPr dirty="0">
                <a:solidFill>
                  <a:srgbClr val="080808"/>
                </a:solidFill>
                <a:latin typeface="Times New Roman" panose="02020603050405020304" pitchFamily="18" charset="0"/>
                <a:cs typeface="Times New Roman" panose="02020603050405020304" pitchFamily="18" charset="0"/>
              </a:rPr>
              <a:t>rely</a:t>
            </a:r>
            <a:r>
              <a:rPr spc="95" dirty="0">
                <a:solidFill>
                  <a:srgbClr val="080808"/>
                </a:solidFill>
                <a:latin typeface="Times New Roman" panose="02020603050405020304" pitchFamily="18" charset="0"/>
                <a:cs typeface="Times New Roman" panose="02020603050405020304" pitchFamily="18" charset="0"/>
              </a:rPr>
              <a:t> </a:t>
            </a:r>
            <a:r>
              <a:rPr dirty="0">
                <a:solidFill>
                  <a:srgbClr val="080808"/>
                </a:solidFill>
                <a:latin typeface="Times New Roman" panose="02020603050405020304" pitchFamily="18" charset="0"/>
                <a:cs typeface="Times New Roman" panose="02020603050405020304" pitchFamily="18" charset="0"/>
              </a:rPr>
              <a:t>solely</a:t>
            </a:r>
            <a:r>
              <a:rPr spc="175" dirty="0">
                <a:solidFill>
                  <a:srgbClr val="080808"/>
                </a:solidFill>
                <a:latin typeface="Times New Roman" panose="02020603050405020304" pitchFamily="18" charset="0"/>
                <a:cs typeface="Times New Roman" panose="02020603050405020304" pitchFamily="18" charset="0"/>
              </a:rPr>
              <a:t> </a:t>
            </a:r>
            <a:r>
              <a:rPr spc="65" dirty="0">
                <a:solidFill>
                  <a:srgbClr val="080808"/>
                </a:solidFill>
                <a:latin typeface="Times New Roman" panose="02020603050405020304" pitchFamily="18" charset="0"/>
                <a:cs typeface="Times New Roman" panose="02020603050405020304" pitchFamily="18" charset="0"/>
              </a:rPr>
              <a:t>on</a:t>
            </a:r>
            <a:r>
              <a:rPr lang="en-US" spc="65" dirty="0">
                <a:solidFill>
                  <a:srgbClr val="080808"/>
                </a:solidFill>
                <a:latin typeface="Times New Roman" panose="02020603050405020304" pitchFamily="18" charset="0"/>
                <a:cs typeface="Times New Roman" panose="02020603050405020304" pitchFamily="18" charset="0"/>
              </a:rPr>
              <a:t> </a:t>
            </a:r>
            <a:r>
              <a:rPr spc="45" dirty="0">
                <a:solidFill>
                  <a:srgbClr val="080808"/>
                </a:solidFill>
                <a:latin typeface="Times New Roman" panose="02020603050405020304" pitchFamily="18" charset="0"/>
                <a:cs typeface="Times New Roman" panose="02020603050405020304" pitchFamily="18" charset="0"/>
              </a:rPr>
              <a:t>linguistic </a:t>
            </a:r>
            <a:r>
              <a:rPr spc="80" dirty="0">
                <a:solidFill>
                  <a:srgbClr val="080808"/>
                </a:solidFill>
                <a:latin typeface="Times New Roman" panose="02020603050405020304" pitchFamily="18" charset="0"/>
                <a:cs typeface="Times New Roman" panose="02020603050405020304" pitchFamily="18" charset="0"/>
              </a:rPr>
              <a:t>patterns</a:t>
            </a:r>
            <a:r>
              <a:rPr spc="25" dirty="0">
                <a:solidFill>
                  <a:srgbClr val="080808"/>
                </a:solidFill>
                <a:latin typeface="Times New Roman" panose="02020603050405020304" pitchFamily="18" charset="0"/>
                <a:cs typeface="Times New Roman" panose="02020603050405020304" pitchFamily="18" charset="0"/>
              </a:rPr>
              <a:t> </a:t>
            </a:r>
            <a:r>
              <a:rPr spc="50" dirty="0">
                <a:solidFill>
                  <a:srgbClr val="080808"/>
                </a:solidFill>
                <a:latin typeface="Times New Roman" panose="02020603050405020304" pitchFamily="18" charset="0"/>
                <a:cs typeface="Times New Roman" panose="02020603050405020304" pitchFamily="18" charset="0"/>
              </a:rPr>
              <a:t>and</a:t>
            </a:r>
            <a:r>
              <a:rPr spc="15" dirty="0">
                <a:solidFill>
                  <a:srgbClr val="080808"/>
                </a:solidFill>
                <a:latin typeface="Times New Roman" panose="02020603050405020304" pitchFamily="18" charset="0"/>
                <a:cs typeface="Times New Roman" panose="02020603050405020304" pitchFamily="18" charset="0"/>
              </a:rPr>
              <a:t> </a:t>
            </a:r>
            <a:r>
              <a:rPr spc="60" dirty="0">
                <a:solidFill>
                  <a:srgbClr val="080808"/>
                </a:solidFill>
                <a:latin typeface="Times New Roman" panose="02020603050405020304" pitchFamily="18" charset="0"/>
                <a:cs typeface="Times New Roman" panose="02020603050405020304" pitchFamily="18" charset="0"/>
              </a:rPr>
              <a:t>LLM</a:t>
            </a:r>
            <a:r>
              <a:rPr lang="en-US" spc="60" dirty="0">
                <a:solidFill>
                  <a:srgbClr val="080808"/>
                </a:solidFill>
                <a:latin typeface="Times New Roman" panose="02020603050405020304" pitchFamily="18" charset="0"/>
                <a:cs typeface="Times New Roman" panose="02020603050405020304" pitchFamily="18" charset="0"/>
              </a:rPr>
              <a:t> </a:t>
            </a:r>
            <a:r>
              <a:rPr spc="70" dirty="0">
                <a:solidFill>
                  <a:srgbClr val="080808"/>
                </a:solidFill>
                <a:latin typeface="Times New Roman" panose="02020603050405020304" pitchFamily="18" charset="0"/>
                <a:cs typeface="Times New Roman" panose="02020603050405020304" pitchFamily="18" charset="0"/>
              </a:rPr>
              <a:t>outputs.</a:t>
            </a:r>
            <a:r>
              <a:rPr spc="35" dirty="0">
                <a:solidFill>
                  <a:srgbClr val="080808"/>
                </a:solidFill>
                <a:latin typeface="Times New Roman" panose="02020603050405020304" pitchFamily="18" charset="0"/>
                <a:cs typeface="Times New Roman" panose="02020603050405020304" pitchFamily="18" charset="0"/>
              </a:rPr>
              <a:t> </a:t>
            </a:r>
            <a:r>
              <a:rPr spc="65" dirty="0">
                <a:solidFill>
                  <a:srgbClr val="080808"/>
                </a:solidFill>
                <a:latin typeface="Times New Roman" panose="02020603050405020304" pitchFamily="18" charset="0"/>
                <a:cs typeface="Times New Roman" panose="02020603050405020304" pitchFamily="18" charset="0"/>
              </a:rPr>
              <a:t>LLMs </a:t>
            </a:r>
            <a:r>
              <a:rPr spc="50" dirty="0">
                <a:solidFill>
                  <a:srgbClr val="080808"/>
                </a:solidFill>
                <a:latin typeface="Times New Roman" panose="02020603050405020304" pitchFamily="18" charset="0"/>
                <a:cs typeface="Times New Roman" panose="02020603050405020304" pitchFamily="18" charset="0"/>
              </a:rPr>
              <a:t>hallucinate</a:t>
            </a:r>
            <a:r>
              <a:rPr lang="en-US" spc="210" dirty="0">
                <a:solidFill>
                  <a:srgbClr val="080808"/>
                </a:solidFill>
                <a:latin typeface="Times New Roman" panose="02020603050405020304" pitchFamily="18" charset="0"/>
                <a:cs typeface="Times New Roman" panose="02020603050405020304" pitchFamily="18" charset="0"/>
              </a:rPr>
              <a:t> </a:t>
            </a:r>
            <a:r>
              <a:rPr spc="75" dirty="0">
                <a:solidFill>
                  <a:srgbClr val="080808"/>
                </a:solidFill>
                <a:latin typeface="Times New Roman" panose="02020603050405020304" pitchFamily="18" charset="0"/>
                <a:cs typeface="Times New Roman" panose="02020603050405020304" pitchFamily="18" charset="0"/>
              </a:rPr>
              <a:t>producing</a:t>
            </a:r>
            <a:r>
              <a:rPr spc="-50" dirty="0">
                <a:solidFill>
                  <a:srgbClr val="080808"/>
                </a:solidFill>
                <a:latin typeface="Times New Roman" panose="02020603050405020304" pitchFamily="18" charset="0"/>
                <a:cs typeface="Times New Roman" panose="02020603050405020304" pitchFamily="18" charset="0"/>
              </a:rPr>
              <a:t> </a:t>
            </a:r>
            <a:r>
              <a:rPr dirty="0">
                <a:solidFill>
                  <a:srgbClr val="080808"/>
                </a:solidFill>
                <a:latin typeface="Times New Roman" panose="02020603050405020304" pitchFamily="18" charset="0"/>
                <a:cs typeface="Times New Roman" panose="02020603050405020304" pitchFamily="18" charset="0"/>
              </a:rPr>
              <a:t>II</a:t>
            </a:r>
            <a:r>
              <a:rPr spc="-200" dirty="0">
                <a:solidFill>
                  <a:srgbClr val="080808"/>
                </a:solidFill>
                <a:latin typeface="Times New Roman" panose="02020603050405020304" pitchFamily="18" charset="0"/>
                <a:cs typeface="Times New Roman" panose="02020603050405020304" pitchFamily="18" charset="0"/>
              </a:rPr>
              <a:t> </a:t>
            </a:r>
            <a:r>
              <a:rPr spc="80" dirty="0">
                <a:solidFill>
                  <a:srgbClr val="080808"/>
                </a:solidFill>
                <a:latin typeface="Times New Roman" panose="02020603050405020304" pitchFamily="18" charset="0"/>
                <a:cs typeface="Times New Roman" panose="02020603050405020304" pitchFamily="18" charset="0"/>
              </a:rPr>
              <a:t>uent</a:t>
            </a:r>
            <a:r>
              <a:rPr spc="20" dirty="0">
                <a:solidFill>
                  <a:srgbClr val="080808"/>
                </a:solidFill>
                <a:latin typeface="Times New Roman" panose="02020603050405020304" pitchFamily="18" charset="0"/>
                <a:cs typeface="Times New Roman" panose="02020603050405020304" pitchFamily="18" charset="0"/>
              </a:rPr>
              <a:t> </a:t>
            </a:r>
            <a:r>
              <a:rPr spc="50" dirty="0">
                <a:solidFill>
                  <a:srgbClr val="080808"/>
                </a:solidFill>
                <a:latin typeface="Times New Roman" panose="02020603050405020304" pitchFamily="18" charset="0"/>
                <a:cs typeface="Times New Roman" panose="02020603050405020304" pitchFamily="18" charset="0"/>
              </a:rPr>
              <a:t>but </a:t>
            </a:r>
            <a:r>
              <a:rPr spc="55" dirty="0">
                <a:solidFill>
                  <a:srgbClr val="080808"/>
                </a:solidFill>
                <a:latin typeface="Times New Roman" panose="02020603050405020304" pitchFamily="18" charset="0"/>
                <a:cs typeface="Times New Roman" panose="02020603050405020304" pitchFamily="18" charset="0"/>
              </a:rPr>
              <a:t>factually</a:t>
            </a:r>
            <a:r>
              <a:rPr lang="en-US" spc="55" dirty="0">
                <a:solidFill>
                  <a:srgbClr val="080808"/>
                </a:solidFill>
                <a:latin typeface="Times New Roman" panose="02020603050405020304" pitchFamily="18" charset="0"/>
                <a:cs typeface="Times New Roman" panose="02020603050405020304" pitchFamily="18" charset="0"/>
              </a:rPr>
              <a:t> </a:t>
            </a:r>
            <a:r>
              <a:rPr spc="75" dirty="0">
                <a:solidFill>
                  <a:srgbClr val="080808"/>
                </a:solidFill>
                <a:latin typeface="Times New Roman" panose="02020603050405020304" pitchFamily="18" charset="0"/>
                <a:cs typeface="Times New Roman" panose="02020603050405020304" pitchFamily="18" charset="0"/>
              </a:rPr>
              <a:t>wrong</a:t>
            </a:r>
            <a:r>
              <a:rPr spc="10" dirty="0">
                <a:solidFill>
                  <a:srgbClr val="080808"/>
                </a:solidFill>
                <a:latin typeface="Times New Roman" panose="02020603050405020304" pitchFamily="18" charset="0"/>
                <a:cs typeface="Times New Roman" panose="02020603050405020304" pitchFamily="18" charset="0"/>
              </a:rPr>
              <a:t> </a:t>
            </a:r>
            <a:r>
              <a:rPr spc="85" dirty="0">
                <a:solidFill>
                  <a:srgbClr val="080808"/>
                </a:solidFill>
                <a:latin typeface="Times New Roman" panose="02020603050405020304" pitchFamily="18" charset="0"/>
                <a:cs typeface="Times New Roman" panose="02020603050405020304" pitchFamily="18" charset="0"/>
              </a:rPr>
              <a:t>content</a:t>
            </a:r>
            <a:r>
              <a:rPr spc="130" dirty="0">
                <a:solidFill>
                  <a:srgbClr val="080808"/>
                </a:solidFill>
                <a:latin typeface="Times New Roman" panose="02020603050405020304" pitchFamily="18" charset="0"/>
                <a:cs typeface="Times New Roman" panose="02020603050405020304" pitchFamily="18" charset="0"/>
              </a:rPr>
              <a:t> </a:t>
            </a:r>
            <a:r>
              <a:rPr spc="80" dirty="0">
                <a:solidFill>
                  <a:srgbClr val="080808"/>
                </a:solidFill>
                <a:latin typeface="Times New Roman" panose="02020603050405020304" pitchFamily="18" charset="0"/>
                <a:cs typeface="Times New Roman" panose="02020603050405020304" pitchFamily="18" charset="0"/>
              </a:rPr>
              <a:t>with</a:t>
            </a:r>
            <a:r>
              <a:rPr spc="20" dirty="0">
                <a:solidFill>
                  <a:srgbClr val="080808"/>
                </a:solidFill>
                <a:latin typeface="Times New Roman" panose="02020603050405020304" pitchFamily="18" charset="0"/>
                <a:cs typeface="Times New Roman" panose="02020603050405020304" pitchFamily="18" charset="0"/>
              </a:rPr>
              <a:t> </a:t>
            </a:r>
            <a:r>
              <a:rPr spc="35" dirty="0">
                <a:solidFill>
                  <a:srgbClr val="080808"/>
                </a:solidFill>
                <a:latin typeface="Times New Roman" panose="02020603050405020304" pitchFamily="18" charset="0"/>
                <a:cs typeface="Times New Roman" panose="02020603050405020304" pitchFamily="18" charset="0"/>
              </a:rPr>
              <a:t>no</a:t>
            </a:r>
            <a:r>
              <a:rPr lang="en-US" spc="35" dirty="0">
                <a:solidFill>
                  <a:srgbClr val="080808"/>
                </a:solidFill>
                <a:latin typeface="Times New Roman" panose="02020603050405020304" pitchFamily="18" charset="0"/>
                <a:cs typeface="Times New Roman" panose="02020603050405020304" pitchFamily="18" charset="0"/>
              </a:rPr>
              <a:t> </a:t>
            </a:r>
            <a:r>
              <a:rPr spc="75" dirty="0">
                <a:solidFill>
                  <a:srgbClr val="080808"/>
                </a:solidFill>
                <a:latin typeface="Times New Roman" panose="02020603050405020304" pitchFamily="18" charset="0"/>
                <a:cs typeface="Times New Roman" panose="02020603050405020304" pitchFamily="18" charset="0"/>
              </a:rPr>
              <a:t>mechanism</a:t>
            </a:r>
            <a:r>
              <a:rPr spc="70" dirty="0">
                <a:solidFill>
                  <a:srgbClr val="080808"/>
                </a:solidFill>
                <a:latin typeface="Times New Roman" panose="02020603050405020304" pitchFamily="18" charset="0"/>
                <a:cs typeface="Times New Roman" panose="02020603050405020304" pitchFamily="18" charset="0"/>
              </a:rPr>
              <a:t> </a:t>
            </a:r>
            <a:r>
              <a:rPr spc="55" dirty="0">
                <a:solidFill>
                  <a:srgbClr val="080808"/>
                </a:solidFill>
                <a:latin typeface="Times New Roman" panose="02020603050405020304" pitchFamily="18" charset="0"/>
                <a:cs typeface="Times New Roman" panose="02020603050405020304" pitchFamily="18" charset="0"/>
              </a:rPr>
              <a:t>to</a:t>
            </a:r>
            <a:r>
              <a:rPr spc="65" dirty="0">
                <a:solidFill>
                  <a:srgbClr val="080808"/>
                </a:solidFill>
                <a:latin typeface="Times New Roman" panose="02020603050405020304" pitchFamily="18" charset="0"/>
                <a:cs typeface="Times New Roman" panose="02020603050405020304" pitchFamily="18" charset="0"/>
              </a:rPr>
              <a:t> </a:t>
            </a:r>
            <a:r>
              <a:rPr spc="60" dirty="0">
                <a:solidFill>
                  <a:srgbClr val="080808"/>
                </a:solidFill>
                <a:latin typeface="Times New Roman" panose="02020603050405020304" pitchFamily="18" charset="0"/>
                <a:cs typeface="Times New Roman" panose="02020603050405020304" pitchFamily="18" charset="0"/>
              </a:rPr>
              <a:t>verify</a:t>
            </a:r>
            <a:r>
              <a:rPr spc="20" dirty="0">
                <a:solidFill>
                  <a:srgbClr val="080808"/>
                </a:solidFill>
                <a:latin typeface="Times New Roman" panose="02020603050405020304" pitchFamily="18" charset="0"/>
                <a:cs typeface="Times New Roman" panose="02020603050405020304" pitchFamily="18" charset="0"/>
              </a:rPr>
              <a:t> </a:t>
            </a:r>
            <a:r>
              <a:rPr spc="-10" dirty="0">
                <a:solidFill>
                  <a:srgbClr val="080808"/>
                </a:solidFill>
                <a:latin typeface="Times New Roman" panose="02020603050405020304" pitchFamily="18" charset="0"/>
                <a:cs typeface="Times New Roman" panose="02020603050405020304" pitchFamily="18" charset="0"/>
              </a:rPr>
              <a:t>claims.</a:t>
            </a:r>
            <a:endParaRPr dirty="0">
              <a:solidFill>
                <a:srgbClr val="080808"/>
              </a:solidFill>
              <a:latin typeface="Times New Roman" panose="02020603050405020304" pitchFamily="18" charset="0"/>
              <a:cs typeface="Times New Roman" panose="02020603050405020304" pitchFamily="18" charset="0"/>
            </a:endParaRPr>
          </a:p>
          <a:p>
            <a:pPr marL="14604" marR="90805" indent="-1270" algn="just">
              <a:lnSpc>
                <a:spcPct val="107100"/>
              </a:lnSpc>
            </a:pPr>
            <a:r>
              <a:rPr spc="60" dirty="0">
                <a:solidFill>
                  <a:srgbClr val="080808"/>
                </a:solidFill>
                <a:latin typeface="Times New Roman" panose="02020603050405020304" pitchFamily="18" charset="0"/>
                <a:cs typeface="Times New Roman" panose="02020603050405020304" pitchFamily="18" charset="0"/>
              </a:rPr>
              <a:t>Proposed</a:t>
            </a:r>
            <a:r>
              <a:rPr spc="75" dirty="0">
                <a:solidFill>
                  <a:srgbClr val="080808"/>
                </a:solidFill>
                <a:latin typeface="Times New Roman" panose="02020603050405020304" pitchFamily="18" charset="0"/>
                <a:cs typeface="Times New Roman" panose="02020603050405020304" pitchFamily="18" charset="0"/>
              </a:rPr>
              <a:t> </a:t>
            </a:r>
            <a:r>
              <a:rPr spc="50" dirty="0">
                <a:solidFill>
                  <a:srgbClr val="080808"/>
                </a:solidFill>
                <a:latin typeface="Times New Roman" panose="02020603050405020304" pitchFamily="18" charset="0"/>
                <a:cs typeface="Times New Roman" panose="02020603050405020304" pitchFamily="18" charset="0"/>
              </a:rPr>
              <a:t>fix:</a:t>
            </a:r>
            <a:r>
              <a:rPr spc="-35" dirty="0">
                <a:solidFill>
                  <a:srgbClr val="080808"/>
                </a:solidFill>
                <a:latin typeface="Times New Roman" panose="02020603050405020304" pitchFamily="18" charset="0"/>
                <a:cs typeface="Times New Roman" panose="02020603050405020304" pitchFamily="18" charset="0"/>
              </a:rPr>
              <a:t> </a:t>
            </a:r>
            <a:r>
              <a:rPr spc="95" dirty="0">
                <a:solidFill>
                  <a:srgbClr val="080808"/>
                </a:solidFill>
                <a:latin typeface="Times New Roman" panose="02020603050405020304" pitchFamily="18" charset="0"/>
                <a:cs typeface="Times New Roman" panose="02020603050405020304" pitchFamily="18" charset="0"/>
              </a:rPr>
              <a:t>emotion-</a:t>
            </a:r>
            <a:r>
              <a:rPr spc="80" dirty="0">
                <a:solidFill>
                  <a:srgbClr val="080808"/>
                </a:solidFill>
                <a:latin typeface="Times New Roman" panose="02020603050405020304" pitchFamily="18" charset="0"/>
                <a:cs typeface="Times New Roman" panose="02020603050405020304" pitchFamily="18" charset="0"/>
              </a:rPr>
              <a:t>preserving</a:t>
            </a:r>
            <a:r>
              <a:rPr lang="en-US" spc="80" dirty="0">
                <a:solidFill>
                  <a:srgbClr val="080808"/>
                </a:solidFill>
                <a:latin typeface="Times New Roman" panose="02020603050405020304" pitchFamily="18" charset="0"/>
                <a:cs typeface="Times New Roman" panose="02020603050405020304" pitchFamily="18" charset="0"/>
              </a:rPr>
              <a:t> </a:t>
            </a:r>
            <a:r>
              <a:rPr spc="70" dirty="0">
                <a:solidFill>
                  <a:srgbClr val="080808"/>
                </a:solidFill>
                <a:latin typeface="Times New Roman" panose="02020603050405020304" pitchFamily="18" charset="0"/>
                <a:cs typeface="Times New Roman" panose="02020603050405020304" pitchFamily="18" charset="0"/>
              </a:rPr>
              <a:t>filtering</a:t>
            </a:r>
            <a:r>
              <a:rPr spc="125" dirty="0">
                <a:solidFill>
                  <a:srgbClr val="080808"/>
                </a:solidFill>
                <a:latin typeface="Times New Roman" panose="02020603050405020304" pitchFamily="18" charset="0"/>
                <a:cs typeface="Times New Roman" panose="02020603050405020304" pitchFamily="18" charset="0"/>
              </a:rPr>
              <a:t> </a:t>
            </a:r>
            <a:r>
              <a:rPr dirty="0">
                <a:solidFill>
                  <a:srgbClr val="080808"/>
                </a:solidFill>
                <a:latin typeface="Times New Roman" panose="02020603050405020304" pitchFamily="18" charset="0"/>
                <a:cs typeface="Times New Roman" panose="02020603050405020304" pitchFamily="18" charset="0"/>
              </a:rPr>
              <a:t>via</a:t>
            </a:r>
            <a:r>
              <a:rPr spc="90" dirty="0">
                <a:solidFill>
                  <a:srgbClr val="080808"/>
                </a:solidFill>
                <a:latin typeface="Times New Roman" panose="02020603050405020304" pitchFamily="18" charset="0"/>
                <a:cs typeface="Times New Roman" panose="02020603050405020304" pitchFamily="18" charset="0"/>
              </a:rPr>
              <a:t> </a:t>
            </a:r>
            <a:r>
              <a:rPr dirty="0">
                <a:solidFill>
                  <a:srgbClr val="080808"/>
                </a:solidFill>
                <a:latin typeface="Times New Roman" panose="02020603050405020304" pitchFamily="18" charset="0"/>
                <a:cs typeface="Times New Roman" panose="02020603050405020304" pitchFamily="18" charset="0"/>
              </a:rPr>
              <a:t>cosine</a:t>
            </a:r>
            <a:r>
              <a:rPr spc="100" dirty="0">
                <a:solidFill>
                  <a:srgbClr val="080808"/>
                </a:solidFill>
                <a:latin typeface="Times New Roman" panose="02020603050405020304" pitchFamily="18" charset="0"/>
                <a:cs typeface="Times New Roman" panose="02020603050405020304" pitchFamily="18" charset="0"/>
              </a:rPr>
              <a:t> </a:t>
            </a:r>
            <a:r>
              <a:rPr spc="55" dirty="0">
                <a:solidFill>
                  <a:srgbClr val="080808"/>
                </a:solidFill>
                <a:latin typeface="Times New Roman" panose="02020603050405020304" pitchFamily="18" charset="0"/>
                <a:cs typeface="Times New Roman" panose="02020603050405020304" pitchFamily="18" charset="0"/>
              </a:rPr>
              <a:t>similarity</a:t>
            </a:r>
            <a:r>
              <a:rPr spc="170" dirty="0">
                <a:solidFill>
                  <a:srgbClr val="080808"/>
                </a:solidFill>
                <a:latin typeface="Times New Roman" panose="02020603050405020304" pitchFamily="18" charset="0"/>
                <a:cs typeface="Times New Roman" panose="02020603050405020304" pitchFamily="18" charset="0"/>
              </a:rPr>
              <a:t> </a:t>
            </a:r>
            <a:r>
              <a:rPr spc="50" dirty="0">
                <a:solidFill>
                  <a:srgbClr val="080808"/>
                </a:solidFill>
                <a:latin typeface="Times New Roman" panose="02020603050405020304" pitchFamily="18" charset="0"/>
                <a:cs typeface="Times New Roman" panose="02020603050405020304" pitchFamily="18" charset="0"/>
              </a:rPr>
              <a:t>and</a:t>
            </a:r>
            <a:r>
              <a:rPr lang="en-US" spc="50" dirty="0">
                <a:solidFill>
                  <a:srgbClr val="080808"/>
                </a:solidFill>
                <a:latin typeface="Times New Roman" panose="02020603050405020304" pitchFamily="18" charset="0"/>
                <a:cs typeface="Times New Roman" panose="02020603050405020304" pitchFamily="18" charset="0"/>
              </a:rPr>
              <a:t> </a:t>
            </a:r>
            <a:r>
              <a:rPr spc="60" dirty="0">
                <a:solidFill>
                  <a:srgbClr val="080808"/>
                </a:solidFill>
                <a:latin typeface="Times New Roman" panose="02020603050405020304" pitchFamily="18" charset="0"/>
                <a:cs typeface="Times New Roman" panose="02020603050405020304" pitchFamily="18" charset="0"/>
              </a:rPr>
              <a:t>dynamic </a:t>
            </a:r>
            <a:r>
              <a:rPr spc="50" dirty="0">
                <a:solidFill>
                  <a:srgbClr val="080808"/>
                </a:solidFill>
                <a:latin typeface="Times New Roman" panose="02020603050405020304" pitchFamily="18" charset="0"/>
                <a:cs typeface="Times New Roman" panose="02020603050405020304" pitchFamily="18" charset="0"/>
              </a:rPr>
              <a:t>thresholding.</a:t>
            </a:r>
            <a:endParaRPr dirty="0">
              <a:solidFill>
                <a:srgbClr val="080808"/>
              </a:solidFill>
              <a:latin typeface="Times New Roman" panose="02020603050405020304" pitchFamily="18" charset="0"/>
              <a:cs typeface="Times New Roman" panose="02020603050405020304" pitchFamily="18" charset="0"/>
            </a:endParaRPr>
          </a:p>
          <a:p>
            <a:pPr marL="16510" marR="5080" indent="-3810" algn="just">
              <a:lnSpc>
                <a:spcPct val="107100"/>
              </a:lnSpc>
            </a:pPr>
            <a:r>
              <a:rPr dirty="0">
                <a:solidFill>
                  <a:srgbClr val="080808"/>
                </a:solidFill>
                <a:latin typeface="Times New Roman" panose="02020603050405020304" pitchFamily="18" charset="0"/>
                <a:cs typeface="Times New Roman" panose="02020603050405020304" pitchFamily="18" charset="0"/>
              </a:rPr>
              <a:t>Result:</a:t>
            </a:r>
            <a:r>
              <a:rPr spc="45" dirty="0">
                <a:solidFill>
                  <a:srgbClr val="080808"/>
                </a:solidFill>
                <a:latin typeface="Times New Roman" panose="02020603050405020304" pitchFamily="18" charset="0"/>
                <a:cs typeface="Times New Roman" panose="02020603050405020304" pitchFamily="18" charset="0"/>
              </a:rPr>
              <a:t> </a:t>
            </a:r>
            <a:r>
              <a:rPr spc="65" dirty="0">
                <a:solidFill>
                  <a:srgbClr val="080808"/>
                </a:solidFill>
                <a:latin typeface="Times New Roman" panose="02020603050405020304" pitchFamily="18" charset="0"/>
                <a:cs typeface="Times New Roman" panose="02020603050405020304" pitchFamily="18" charset="0"/>
              </a:rPr>
              <a:t>Predictions</a:t>
            </a:r>
            <a:r>
              <a:rPr spc="145" dirty="0">
                <a:solidFill>
                  <a:srgbClr val="080808"/>
                </a:solidFill>
                <a:latin typeface="Times New Roman" panose="02020603050405020304" pitchFamily="18" charset="0"/>
                <a:cs typeface="Times New Roman" panose="02020603050405020304" pitchFamily="18" charset="0"/>
              </a:rPr>
              <a:t> </a:t>
            </a:r>
            <a:r>
              <a:rPr dirty="0">
                <a:solidFill>
                  <a:srgbClr val="080808"/>
                </a:solidFill>
                <a:latin typeface="Times New Roman" panose="02020603050405020304" pitchFamily="18" charset="0"/>
                <a:cs typeface="Times New Roman" panose="02020603050405020304" pitchFamily="18" charset="0"/>
              </a:rPr>
              <a:t>lack</a:t>
            </a:r>
            <a:r>
              <a:rPr spc="130" dirty="0">
                <a:solidFill>
                  <a:srgbClr val="080808"/>
                </a:solidFill>
                <a:latin typeface="Times New Roman" panose="02020603050405020304" pitchFamily="18" charset="0"/>
                <a:cs typeface="Times New Roman" panose="02020603050405020304" pitchFamily="18" charset="0"/>
              </a:rPr>
              <a:t> </a:t>
            </a:r>
            <a:r>
              <a:rPr spc="50" dirty="0">
                <a:solidFill>
                  <a:srgbClr val="080808"/>
                </a:solidFill>
                <a:latin typeface="Times New Roman" panose="02020603050405020304" pitchFamily="18" charset="0"/>
                <a:cs typeface="Times New Roman" panose="02020603050405020304" pitchFamily="18" charset="0"/>
              </a:rPr>
              <a:t>reliability</a:t>
            </a:r>
            <a:r>
              <a:rPr lang="en-US" spc="50" dirty="0">
                <a:solidFill>
                  <a:srgbClr val="080808"/>
                </a:solidFill>
                <a:latin typeface="Times New Roman" panose="02020603050405020304" pitchFamily="18" charset="0"/>
                <a:cs typeface="Times New Roman" panose="02020603050405020304" pitchFamily="18" charset="0"/>
              </a:rPr>
              <a:t> </a:t>
            </a:r>
            <a:r>
              <a:rPr spc="55" dirty="0">
                <a:solidFill>
                  <a:srgbClr val="080808"/>
                </a:solidFill>
                <a:latin typeface="Times New Roman" panose="02020603050405020304" pitchFamily="18" charset="0"/>
                <a:cs typeface="Times New Roman" panose="02020603050405020304" pitchFamily="18" charset="0"/>
              </a:rPr>
              <a:t>for</a:t>
            </a:r>
            <a:r>
              <a:rPr spc="150" dirty="0">
                <a:solidFill>
                  <a:srgbClr val="080808"/>
                </a:solidFill>
                <a:latin typeface="Times New Roman" panose="02020603050405020304" pitchFamily="18" charset="0"/>
                <a:cs typeface="Times New Roman" panose="02020603050405020304" pitchFamily="18" charset="0"/>
              </a:rPr>
              <a:t> </a:t>
            </a:r>
            <a:r>
              <a:rPr spc="85" dirty="0">
                <a:solidFill>
                  <a:srgbClr val="080808"/>
                </a:solidFill>
                <a:latin typeface="Times New Roman" panose="02020603050405020304" pitchFamily="18" charset="0"/>
                <a:cs typeface="Times New Roman" panose="02020603050405020304" pitchFamily="18" charset="0"/>
              </a:rPr>
              <a:t>high- </a:t>
            </a:r>
            <a:r>
              <a:rPr dirty="0">
                <a:solidFill>
                  <a:srgbClr val="080808"/>
                </a:solidFill>
                <a:latin typeface="Times New Roman" panose="02020603050405020304" pitchFamily="18" charset="0"/>
                <a:cs typeface="Times New Roman" panose="02020603050405020304" pitchFamily="18" charset="0"/>
              </a:rPr>
              <a:t>stakes</a:t>
            </a:r>
            <a:r>
              <a:rPr spc="135" dirty="0">
                <a:solidFill>
                  <a:srgbClr val="080808"/>
                </a:solidFill>
                <a:latin typeface="Times New Roman" panose="02020603050405020304" pitchFamily="18" charset="0"/>
                <a:cs typeface="Times New Roman" panose="02020603050405020304" pitchFamily="18" charset="0"/>
              </a:rPr>
              <a:t> </a:t>
            </a:r>
            <a:r>
              <a:rPr spc="75" dirty="0">
                <a:solidFill>
                  <a:srgbClr val="080808"/>
                </a:solidFill>
                <a:latin typeface="Times New Roman" panose="02020603050405020304" pitchFamily="18" charset="0"/>
                <a:cs typeface="Times New Roman" panose="02020603050405020304" pitchFamily="18" charset="0"/>
              </a:rPr>
              <a:t>moderation</a:t>
            </a:r>
            <a:r>
              <a:rPr lang="en-US" spc="75" dirty="0">
                <a:solidFill>
                  <a:srgbClr val="080808"/>
                </a:solidFill>
                <a:latin typeface="Times New Roman" panose="02020603050405020304" pitchFamily="18" charset="0"/>
                <a:cs typeface="Times New Roman" panose="02020603050405020304" pitchFamily="18" charset="0"/>
              </a:rPr>
              <a:t> </a:t>
            </a:r>
            <a:r>
              <a:rPr spc="-10" dirty="0">
                <a:solidFill>
                  <a:srgbClr val="080808"/>
                </a:solidFill>
                <a:latin typeface="Times New Roman" panose="02020603050405020304" pitchFamily="18" charset="0"/>
                <a:cs typeface="Times New Roman" panose="02020603050405020304" pitchFamily="18" charset="0"/>
              </a:rPr>
              <a:t>decisions.</a:t>
            </a:r>
            <a:endParaRPr dirty="0">
              <a:solidFill>
                <a:srgbClr val="080808"/>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8">
            <a:extLst>
              <a:ext uri="{FF2B5EF4-FFF2-40B4-BE49-F238E27FC236}">
                <a16:creationId xmlns:a16="http://schemas.microsoft.com/office/drawing/2014/main" id="{819F73B5-C2D3-31D0-419F-CCE6927F0B83}"/>
              </a:ext>
            </a:extLst>
          </p:cNvPr>
          <p:cNvSpPr txBox="1"/>
          <p:nvPr/>
        </p:nvSpPr>
        <p:spPr>
          <a:xfrm>
            <a:off x="475527" y="1533525"/>
            <a:ext cx="7772400" cy="1015663"/>
          </a:xfrm>
          <a:prstGeom prst="rect">
            <a:avLst/>
          </a:prstGeom>
          <a:noFill/>
        </p:spPr>
        <p:txBody>
          <a:bodyPr wrap="square" rtlCol="0">
            <a:spAutoFit/>
          </a:bodyPr>
          <a:lstStyle/>
          <a:p>
            <a:r>
              <a:rPr lang="en-IN" sz="6000" dirty="0">
                <a:solidFill>
                  <a:srgbClr val="080808"/>
                </a:solidFill>
                <a:latin typeface="Times New Roman" panose="02020603050405020304" pitchFamily="18" charset="0"/>
                <a:cs typeface="Times New Roman" panose="02020603050405020304" pitchFamily="18" charset="0"/>
              </a:rPr>
              <a:t>Literature Survey </a:t>
            </a:r>
          </a:p>
        </p:txBody>
      </p:sp>
      <p:sp>
        <p:nvSpPr>
          <p:cNvPr id="30" name="Rectangle: Rounded Corners 29">
            <a:extLst>
              <a:ext uri="{FF2B5EF4-FFF2-40B4-BE49-F238E27FC236}">
                <a16:creationId xmlns:a16="http://schemas.microsoft.com/office/drawing/2014/main" id="{C7AC66CA-D014-8DC4-FA2F-76B34143E624}"/>
              </a:ext>
            </a:extLst>
          </p:cNvPr>
          <p:cNvSpPr/>
          <p:nvPr/>
        </p:nvSpPr>
        <p:spPr>
          <a:xfrm>
            <a:off x="475527" y="3590925"/>
            <a:ext cx="2630346" cy="4267200"/>
          </a:xfrm>
          <a:prstGeom prst="roundRect">
            <a:avLst>
              <a:gd name="adj" fmla="val 5359"/>
            </a:avLst>
          </a:prstGeom>
          <a:solidFill>
            <a:srgbClr val="E5F3DB"/>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b="1" dirty="0">
                <a:solidFill>
                  <a:srgbClr val="080808"/>
                </a:solidFill>
              </a:rPr>
              <a:t>2017</a:t>
            </a:r>
          </a:p>
          <a:p>
            <a:r>
              <a:rPr lang="en-US" sz="2400" b="1" dirty="0">
                <a:solidFill>
                  <a:srgbClr val="080808"/>
                </a:solidFill>
              </a:rPr>
              <a:t>Fake News Detection</a:t>
            </a:r>
          </a:p>
          <a:p>
            <a:endParaRPr lang="en-US" b="1" dirty="0">
              <a:solidFill>
                <a:srgbClr val="080808"/>
              </a:solidFill>
            </a:endParaRPr>
          </a:p>
          <a:p>
            <a:pPr marL="285750" indent="-285750">
              <a:buFont typeface="Courier New" panose="02070309020205020404" pitchFamily="49" charset="0"/>
              <a:buChar char="o"/>
            </a:pPr>
            <a:r>
              <a:rPr lang="en-US" dirty="0">
                <a:solidFill>
                  <a:srgbClr val="080808"/>
                </a:solidFill>
              </a:rPr>
              <a:t>Shu et al., ACM SIGKDD </a:t>
            </a:r>
          </a:p>
          <a:p>
            <a:pPr marL="285750" indent="-285750">
              <a:buFont typeface="Courier New" panose="02070309020205020404" pitchFamily="49" charset="0"/>
              <a:buChar char="o"/>
            </a:pPr>
            <a:r>
              <a:rPr lang="en-US" dirty="0">
                <a:solidFill>
                  <a:srgbClr val="080808"/>
                </a:solidFill>
              </a:rPr>
              <a:t>Social context as key signal </a:t>
            </a:r>
          </a:p>
          <a:p>
            <a:pPr marL="285750" indent="-285750">
              <a:buFont typeface="Courier New" panose="02070309020205020404" pitchFamily="49" charset="0"/>
              <a:buChar char="o"/>
            </a:pPr>
            <a:r>
              <a:rPr lang="en-US" dirty="0">
                <a:solidFill>
                  <a:srgbClr val="080808"/>
                </a:solidFill>
              </a:rPr>
              <a:t>No LLM-scale reasoning</a:t>
            </a:r>
          </a:p>
        </p:txBody>
      </p:sp>
      <p:sp>
        <p:nvSpPr>
          <p:cNvPr id="31" name="Rectangle: Rounded Corners 30">
            <a:extLst>
              <a:ext uri="{FF2B5EF4-FFF2-40B4-BE49-F238E27FC236}">
                <a16:creationId xmlns:a16="http://schemas.microsoft.com/office/drawing/2014/main" id="{094CF696-6187-AACF-B301-D15DF3F3DACE}"/>
              </a:ext>
            </a:extLst>
          </p:cNvPr>
          <p:cNvSpPr/>
          <p:nvPr/>
        </p:nvSpPr>
        <p:spPr>
          <a:xfrm>
            <a:off x="3180627" y="3590925"/>
            <a:ext cx="2630346" cy="4289264"/>
          </a:xfrm>
          <a:prstGeom prst="roundRect">
            <a:avLst>
              <a:gd name="adj" fmla="val 3683"/>
            </a:avLst>
          </a:prstGeom>
          <a:solidFill>
            <a:srgbClr val="E5F3DB"/>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solidFill>
                  <a:srgbClr val="080808"/>
                </a:solidFill>
              </a:rPr>
              <a:t>2018</a:t>
            </a:r>
          </a:p>
          <a:p>
            <a:r>
              <a:rPr lang="en-IN" sz="2400" b="1" dirty="0">
                <a:solidFill>
                  <a:srgbClr val="080808"/>
                </a:solidFill>
              </a:rPr>
              <a:t>Propagation Path</a:t>
            </a:r>
          </a:p>
          <a:p>
            <a:endParaRPr lang="en-IN" b="1" dirty="0">
              <a:solidFill>
                <a:srgbClr val="080808"/>
              </a:solidFill>
            </a:endParaRPr>
          </a:p>
          <a:p>
            <a:pPr marL="285750" indent="-285750">
              <a:buFont typeface="Courier New" panose="02070309020205020404" pitchFamily="49" charset="0"/>
              <a:buChar char="o"/>
            </a:pPr>
            <a:r>
              <a:rPr lang="en-IN" dirty="0">
                <a:solidFill>
                  <a:srgbClr val="080808"/>
                </a:solidFill>
              </a:rPr>
              <a:t>Liu et al., AAAI </a:t>
            </a:r>
          </a:p>
          <a:p>
            <a:pPr marL="285750" indent="-285750">
              <a:buFont typeface="Courier New" panose="02070309020205020404" pitchFamily="49" charset="0"/>
              <a:buChar char="o"/>
            </a:pPr>
            <a:r>
              <a:rPr lang="en-IN" dirty="0">
                <a:solidFill>
                  <a:srgbClr val="080808"/>
                </a:solidFill>
              </a:rPr>
              <a:t>RNNs on propagation trees </a:t>
            </a:r>
          </a:p>
          <a:p>
            <a:pPr marL="285750" indent="-285750">
              <a:buFont typeface="Courier New" panose="02070309020205020404" pitchFamily="49" charset="0"/>
              <a:buChar char="o"/>
            </a:pPr>
            <a:r>
              <a:rPr lang="en-IN" dirty="0">
                <a:solidFill>
                  <a:srgbClr val="080808"/>
                </a:solidFill>
              </a:rPr>
              <a:t>Needs real-time metadata</a:t>
            </a:r>
          </a:p>
        </p:txBody>
      </p:sp>
      <p:sp>
        <p:nvSpPr>
          <p:cNvPr id="32" name="Rectangle: Rounded Corners 31">
            <a:extLst>
              <a:ext uri="{FF2B5EF4-FFF2-40B4-BE49-F238E27FC236}">
                <a16:creationId xmlns:a16="http://schemas.microsoft.com/office/drawing/2014/main" id="{47983A59-73C1-F7C2-AEAD-7812906EE24B}"/>
              </a:ext>
            </a:extLst>
          </p:cNvPr>
          <p:cNvSpPr/>
          <p:nvPr/>
        </p:nvSpPr>
        <p:spPr>
          <a:xfrm>
            <a:off x="5885727" y="3590925"/>
            <a:ext cx="2630346" cy="4267200"/>
          </a:xfrm>
          <a:prstGeom prst="roundRect">
            <a:avLst>
              <a:gd name="adj" fmla="val 4102"/>
            </a:avLst>
          </a:prstGeom>
          <a:solidFill>
            <a:srgbClr val="E5F3DB"/>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b="1" dirty="0">
                <a:solidFill>
                  <a:srgbClr val="080808"/>
                </a:solidFill>
              </a:rPr>
              <a:t>2020</a:t>
            </a:r>
          </a:p>
          <a:p>
            <a:r>
              <a:rPr lang="en-US" sz="2400" b="1" dirty="0" err="1">
                <a:solidFill>
                  <a:srgbClr val="080808"/>
                </a:solidFill>
              </a:rPr>
              <a:t>SimCLR</a:t>
            </a:r>
            <a:endParaRPr lang="en-US" sz="2400" b="1" dirty="0">
              <a:solidFill>
                <a:srgbClr val="080808"/>
              </a:solidFill>
            </a:endParaRPr>
          </a:p>
          <a:p>
            <a:endParaRPr lang="en-US" b="1" dirty="0">
              <a:solidFill>
                <a:srgbClr val="080808"/>
              </a:solidFill>
            </a:endParaRPr>
          </a:p>
          <a:p>
            <a:pPr marL="285750" indent="-285750">
              <a:buFont typeface="Courier New" panose="02070309020205020404" pitchFamily="49" charset="0"/>
              <a:buChar char="o"/>
            </a:pPr>
            <a:r>
              <a:rPr lang="en-US" dirty="0">
                <a:solidFill>
                  <a:srgbClr val="080808"/>
                </a:solidFill>
              </a:rPr>
              <a:t>Chen et al., ICML </a:t>
            </a:r>
          </a:p>
          <a:p>
            <a:pPr marL="285750" indent="-285750">
              <a:buFont typeface="Courier New" panose="02070309020205020404" pitchFamily="49" charset="0"/>
              <a:buChar char="o"/>
            </a:pPr>
            <a:r>
              <a:rPr lang="en-US" dirty="0">
                <a:solidFill>
                  <a:srgbClr val="080808"/>
                </a:solidFill>
              </a:rPr>
              <a:t>Contrastive representation learning </a:t>
            </a:r>
          </a:p>
          <a:p>
            <a:pPr marL="285750" indent="-285750">
              <a:buFont typeface="Courier New" panose="02070309020205020404" pitchFamily="49" charset="0"/>
              <a:buChar char="o"/>
            </a:pPr>
            <a:r>
              <a:rPr lang="en-US" dirty="0">
                <a:solidFill>
                  <a:srgbClr val="080808"/>
                </a:solidFill>
              </a:rPr>
              <a:t>Augmentation quality is key </a:t>
            </a:r>
          </a:p>
        </p:txBody>
      </p:sp>
      <p:sp>
        <p:nvSpPr>
          <p:cNvPr id="33" name="Rectangle: Rounded Corners 32">
            <a:extLst>
              <a:ext uri="{FF2B5EF4-FFF2-40B4-BE49-F238E27FC236}">
                <a16:creationId xmlns:a16="http://schemas.microsoft.com/office/drawing/2014/main" id="{760C1EFB-EB3C-A8FC-4338-5CDFA11F6B52}"/>
              </a:ext>
            </a:extLst>
          </p:cNvPr>
          <p:cNvSpPr/>
          <p:nvPr/>
        </p:nvSpPr>
        <p:spPr>
          <a:xfrm>
            <a:off x="8590827" y="3590925"/>
            <a:ext cx="2630346" cy="4267200"/>
          </a:xfrm>
          <a:prstGeom prst="roundRect">
            <a:avLst>
              <a:gd name="adj" fmla="val 4102"/>
            </a:avLst>
          </a:prstGeom>
          <a:solidFill>
            <a:srgbClr val="E5F3DB"/>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solidFill>
                  <a:srgbClr val="080808"/>
                </a:solidFill>
              </a:rPr>
              <a:t>2022</a:t>
            </a:r>
          </a:p>
          <a:p>
            <a:r>
              <a:rPr lang="en-IN" sz="2400" b="1" dirty="0">
                <a:solidFill>
                  <a:srgbClr val="080808"/>
                </a:solidFill>
              </a:rPr>
              <a:t>Graph Contrastive</a:t>
            </a:r>
          </a:p>
          <a:p>
            <a:endParaRPr lang="en-IN" b="1" dirty="0">
              <a:solidFill>
                <a:srgbClr val="080808"/>
              </a:solidFill>
            </a:endParaRPr>
          </a:p>
          <a:p>
            <a:pPr marL="285750" indent="-285750">
              <a:buFont typeface="Courier New" panose="02070309020205020404" pitchFamily="49" charset="0"/>
              <a:buChar char="o"/>
            </a:pPr>
            <a:r>
              <a:rPr lang="en-IN" dirty="0">
                <a:solidFill>
                  <a:srgbClr val="080808"/>
                </a:solidFill>
              </a:rPr>
              <a:t>Feng et al., ICDM </a:t>
            </a:r>
          </a:p>
          <a:p>
            <a:pPr marL="285750" indent="-285750">
              <a:buFont typeface="Courier New" panose="02070309020205020404" pitchFamily="49" charset="0"/>
              <a:buChar char="o"/>
            </a:pPr>
            <a:r>
              <a:rPr lang="en-IN" dirty="0">
                <a:solidFill>
                  <a:srgbClr val="080808"/>
                </a:solidFill>
              </a:rPr>
              <a:t>Structural propagation patterns </a:t>
            </a:r>
          </a:p>
          <a:p>
            <a:pPr marL="285750" indent="-285750">
              <a:buFont typeface="Courier New" panose="02070309020205020404" pitchFamily="49" charset="0"/>
              <a:buChar char="o"/>
            </a:pPr>
            <a:r>
              <a:rPr lang="en-IN" dirty="0">
                <a:solidFill>
                  <a:srgbClr val="080808"/>
                </a:solidFill>
              </a:rPr>
              <a:t>Misses semantic and emotion</a:t>
            </a:r>
          </a:p>
        </p:txBody>
      </p:sp>
      <p:sp>
        <p:nvSpPr>
          <p:cNvPr id="34" name="Rectangle: Rounded Corners 33">
            <a:extLst>
              <a:ext uri="{FF2B5EF4-FFF2-40B4-BE49-F238E27FC236}">
                <a16:creationId xmlns:a16="http://schemas.microsoft.com/office/drawing/2014/main" id="{379B8179-3621-EFAD-D2FD-08213C922A12}"/>
              </a:ext>
            </a:extLst>
          </p:cNvPr>
          <p:cNvSpPr/>
          <p:nvPr/>
        </p:nvSpPr>
        <p:spPr>
          <a:xfrm>
            <a:off x="11295927" y="3590925"/>
            <a:ext cx="2630346" cy="4267200"/>
          </a:xfrm>
          <a:prstGeom prst="roundRect">
            <a:avLst>
              <a:gd name="adj" fmla="val 5358"/>
            </a:avLst>
          </a:prstGeom>
          <a:solidFill>
            <a:srgbClr val="E5F3DB"/>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solidFill>
                  <a:srgbClr val="080808"/>
                </a:solidFill>
              </a:rPr>
              <a:t>2026</a:t>
            </a:r>
          </a:p>
          <a:p>
            <a:r>
              <a:rPr lang="en-IN" sz="2400" b="1" dirty="0">
                <a:solidFill>
                  <a:srgbClr val="080808"/>
                </a:solidFill>
              </a:rPr>
              <a:t>LACL</a:t>
            </a:r>
          </a:p>
          <a:p>
            <a:endParaRPr lang="en-IN" b="1" dirty="0">
              <a:solidFill>
                <a:srgbClr val="080808"/>
              </a:solidFill>
            </a:endParaRPr>
          </a:p>
          <a:p>
            <a:pPr marL="285750" indent="-285750">
              <a:buFont typeface="Courier New" panose="02070309020205020404" pitchFamily="49" charset="0"/>
              <a:buChar char="o"/>
            </a:pPr>
            <a:r>
              <a:rPr lang="en-IN" dirty="0">
                <a:solidFill>
                  <a:srgbClr val="080808"/>
                </a:solidFill>
              </a:rPr>
              <a:t>Shen et al., IEEE TCSS </a:t>
            </a:r>
          </a:p>
          <a:p>
            <a:pPr marL="285750" indent="-285750">
              <a:buFont typeface="Courier New" panose="02070309020205020404" pitchFamily="49" charset="0"/>
              <a:buChar char="o"/>
            </a:pPr>
            <a:r>
              <a:rPr lang="en-IN" dirty="0">
                <a:solidFill>
                  <a:srgbClr val="080808"/>
                </a:solidFill>
              </a:rPr>
              <a:t>LLM augmentation + contrastive </a:t>
            </a:r>
          </a:p>
          <a:p>
            <a:pPr marL="285750" indent="-285750">
              <a:buFont typeface="Courier New" panose="02070309020205020404" pitchFamily="49" charset="0"/>
              <a:buChar char="o"/>
            </a:pPr>
            <a:r>
              <a:rPr lang="en-IN" dirty="0">
                <a:solidFill>
                  <a:srgbClr val="080808"/>
                </a:solidFill>
              </a:rPr>
              <a:t>Gaps: emotion + fact-check</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object 39"/>
          <p:cNvSpPr txBox="1"/>
          <p:nvPr/>
        </p:nvSpPr>
        <p:spPr>
          <a:xfrm>
            <a:off x="504746" y="1069829"/>
            <a:ext cx="9803956" cy="382156"/>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080808"/>
                </a:solidFill>
                <a:latin typeface="Times New Roman" panose="02020603050405020304" pitchFamily="18" charset="0"/>
                <a:cs typeface="Times New Roman" panose="02020603050405020304" pitchFamily="18" charset="0"/>
              </a:rPr>
              <a:t>EAFG-</a:t>
            </a:r>
            <a:r>
              <a:rPr sz="2400" b="1" spc="50" dirty="0">
                <a:solidFill>
                  <a:srgbClr val="080808"/>
                </a:solidFill>
                <a:latin typeface="Times New Roman" panose="02020603050405020304" pitchFamily="18" charset="0"/>
                <a:cs typeface="Times New Roman" panose="02020603050405020304" pitchFamily="18" charset="0"/>
              </a:rPr>
              <a:t>LACL</a:t>
            </a:r>
            <a:r>
              <a:rPr sz="2400" b="1" spc="210" dirty="0">
                <a:solidFill>
                  <a:srgbClr val="080808"/>
                </a:solidFill>
                <a:latin typeface="Times New Roman" panose="02020603050405020304" pitchFamily="18" charset="0"/>
                <a:cs typeface="Times New Roman" panose="02020603050405020304" pitchFamily="18" charset="0"/>
              </a:rPr>
              <a:t> </a:t>
            </a:r>
            <a:r>
              <a:rPr sz="2400" b="1" spc="50" dirty="0">
                <a:solidFill>
                  <a:srgbClr val="080808"/>
                </a:solidFill>
                <a:latin typeface="Times New Roman" panose="02020603050405020304" pitchFamily="18" charset="0"/>
                <a:cs typeface="Times New Roman" panose="02020603050405020304" pitchFamily="18" charset="0"/>
              </a:rPr>
              <a:t>framework</a:t>
            </a:r>
            <a:endParaRPr sz="2400" b="1" dirty="0">
              <a:solidFill>
                <a:srgbClr val="080808"/>
              </a:solidFill>
              <a:latin typeface="Times New Roman" panose="02020603050405020304" pitchFamily="18" charset="0"/>
              <a:cs typeface="Times New Roman" panose="02020603050405020304" pitchFamily="18" charset="0"/>
            </a:endParaRPr>
          </a:p>
        </p:txBody>
      </p:sp>
      <p:sp>
        <p:nvSpPr>
          <p:cNvPr id="42" name="object 42"/>
          <p:cNvSpPr txBox="1"/>
          <p:nvPr/>
        </p:nvSpPr>
        <p:spPr>
          <a:xfrm>
            <a:off x="504746" y="2325083"/>
            <a:ext cx="3849264" cy="5280613"/>
          </a:xfrm>
          <a:prstGeom prst="rect">
            <a:avLst/>
          </a:prstGeom>
        </p:spPr>
        <p:txBody>
          <a:bodyPr vert="horz" wrap="square" lIns="0" tIns="13970" rIns="0" bIns="0" rtlCol="0">
            <a:spAutoFit/>
          </a:bodyPr>
          <a:lstStyle/>
          <a:p>
            <a:pPr marL="12700" marR="5080" indent="1270" algn="just">
              <a:lnSpc>
                <a:spcPct val="103600"/>
              </a:lnSpc>
              <a:spcBef>
                <a:spcPts val="935"/>
              </a:spcBef>
            </a:pPr>
            <a:r>
              <a:rPr sz="1500" spc="70" dirty="0">
                <a:solidFill>
                  <a:srgbClr val="080808"/>
                </a:solidFill>
                <a:latin typeface="Times New Roman" panose="02020603050405020304" pitchFamily="18" charset="0"/>
                <a:cs typeface="Times New Roman" panose="02020603050405020304" pitchFamily="18" charset="0"/>
              </a:rPr>
              <a:t>The</a:t>
            </a:r>
            <a:r>
              <a:rPr sz="1500" spc="-75" dirty="0">
                <a:solidFill>
                  <a:srgbClr val="080808"/>
                </a:solidFill>
                <a:latin typeface="Times New Roman" panose="02020603050405020304" pitchFamily="18" charset="0"/>
                <a:cs typeface="Times New Roman" panose="02020603050405020304" pitchFamily="18" charset="0"/>
              </a:rPr>
              <a:t> </a:t>
            </a:r>
            <a:r>
              <a:rPr sz="1500" spc="60" dirty="0">
                <a:solidFill>
                  <a:srgbClr val="080808"/>
                </a:solidFill>
                <a:latin typeface="Times New Roman" panose="02020603050405020304" pitchFamily="18" charset="0"/>
                <a:cs typeface="Times New Roman" panose="02020603050405020304" pitchFamily="18" charset="0"/>
              </a:rPr>
              <a:t>high-</a:t>
            </a:r>
            <a:r>
              <a:rPr sz="1500" spc="55" dirty="0">
                <a:solidFill>
                  <a:srgbClr val="080808"/>
                </a:solidFill>
                <a:latin typeface="Times New Roman" panose="02020603050405020304" pitchFamily="18" charset="0"/>
                <a:cs typeface="Times New Roman" panose="02020603050405020304" pitchFamily="18" charset="0"/>
              </a:rPr>
              <a:t>level</a:t>
            </a:r>
            <a:r>
              <a:rPr sz="1500" spc="35" dirty="0">
                <a:solidFill>
                  <a:srgbClr val="080808"/>
                </a:solidFill>
                <a:latin typeface="Times New Roman" panose="02020603050405020304" pitchFamily="18" charset="0"/>
                <a:cs typeface="Times New Roman" panose="02020603050405020304" pitchFamily="18" charset="0"/>
              </a:rPr>
              <a:t> </a:t>
            </a:r>
            <a:r>
              <a:rPr sz="1500" spc="10" dirty="0">
                <a:solidFill>
                  <a:srgbClr val="080808"/>
                </a:solidFill>
                <a:latin typeface="Times New Roman" panose="02020603050405020304" pitchFamily="18" charset="0"/>
                <a:cs typeface="Times New Roman" panose="02020603050405020304" pitchFamily="18" charset="0"/>
              </a:rPr>
              <a:t>m</a:t>
            </a:r>
            <a:r>
              <a:rPr lang="en-IN" sz="1500" spc="10" dirty="0">
                <a:solidFill>
                  <a:srgbClr val="080808"/>
                </a:solidFill>
                <a:latin typeface="Times New Roman" panose="02020603050405020304" pitchFamily="18" charset="0"/>
                <a:cs typeface="Times New Roman" panose="02020603050405020304" pitchFamily="18" charset="0"/>
              </a:rPr>
              <a:t>as</a:t>
            </a:r>
            <a:r>
              <a:rPr sz="1500" spc="10" dirty="0">
                <a:solidFill>
                  <a:srgbClr val="080808"/>
                </a:solidFill>
                <a:latin typeface="Times New Roman" panose="02020603050405020304" pitchFamily="18" charset="0"/>
                <a:cs typeface="Times New Roman" panose="02020603050405020304" pitchFamily="18" charset="0"/>
              </a:rPr>
              <a:t>ter</a:t>
            </a:r>
            <a:r>
              <a:rPr sz="1500" spc="95" dirty="0">
                <a:solidFill>
                  <a:srgbClr val="080808"/>
                </a:solidFill>
                <a:latin typeface="Times New Roman" panose="02020603050405020304" pitchFamily="18" charset="0"/>
                <a:cs typeface="Times New Roman" panose="02020603050405020304" pitchFamily="18" charset="0"/>
              </a:rPr>
              <a:t> </a:t>
            </a:r>
            <a:r>
              <a:rPr sz="1500" spc="10" dirty="0">
                <a:solidFill>
                  <a:srgbClr val="080808"/>
                </a:solidFill>
                <a:latin typeface="Times New Roman" panose="02020603050405020304" pitchFamily="18" charset="0"/>
                <a:cs typeface="Times New Roman" panose="02020603050405020304" pitchFamily="18" charset="0"/>
              </a:rPr>
              <a:t>pipeline </a:t>
            </a:r>
            <a:r>
              <a:rPr sz="1500" spc="50" dirty="0">
                <a:solidFill>
                  <a:srgbClr val="080808"/>
                </a:solidFill>
                <a:latin typeface="Times New Roman" panose="02020603050405020304" pitchFamily="18" charset="0"/>
                <a:cs typeface="Times New Roman" panose="02020603050405020304" pitchFamily="18" charset="0"/>
              </a:rPr>
              <a:t>begins</a:t>
            </a:r>
            <a:r>
              <a:rPr sz="1500" spc="35" dirty="0">
                <a:solidFill>
                  <a:srgbClr val="080808"/>
                </a:solidFill>
                <a:latin typeface="Times New Roman" panose="02020603050405020304" pitchFamily="18" charset="0"/>
                <a:cs typeface="Times New Roman" panose="02020603050405020304" pitchFamily="18" charset="0"/>
              </a:rPr>
              <a:t> </a:t>
            </a:r>
            <a:r>
              <a:rPr sz="1500" spc="85" dirty="0">
                <a:solidFill>
                  <a:srgbClr val="080808"/>
                </a:solidFill>
                <a:latin typeface="Times New Roman" panose="02020603050405020304" pitchFamily="18" charset="0"/>
                <a:cs typeface="Times New Roman" panose="02020603050405020304" pitchFamily="18" charset="0"/>
              </a:rPr>
              <a:t>with</a:t>
            </a:r>
            <a:r>
              <a:rPr sz="1500" spc="-40" dirty="0">
                <a:solidFill>
                  <a:srgbClr val="080808"/>
                </a:solidFill>
                <a:latin typeface="Times New Roman" panose="02020603050405020304" pitchFamily="18" charset="0"/>
                <a:cs typeface="Times New Roman" panose="02020603050405020304" pitchFamily="18" charset="0"/>
              </a:rPr>
              <a:t> </a:t>
            </a:r>
            <a:r>
              <a:rPr lang="en-IN" sz="1500" spc="-20" dirty="0">
                <a:solidFill>
                  <a:srgbClr val="080808"/>
                </a:solidFill>
                <a:latin typeface="Times New Roman" panose="02020603050405020304" pitchFamily="18" charset="0"/>
                <a:cs typeface="Times New Roman" panose="02020603050405020304" pitchFamily="18" charset="0"/>
              </a:rPr>
              <a:t>data </a:t>
            </a:r>
            <a:r>
              <a:rPr lang="en-IN" sz="1500" spc="50" dirty="0">
                <a:solidFill>
                  <a:srgbClr val="080808"/>
                </a:solidFill>
                <a:latin typeface="Times New Roman" panose="02020603050405020304" pitchFamily="18" charset="0"/>
                <a:cs typeface="Times New Roman" panose="02020603050405020304" pitchFamily="18" charset="0"/>
              </a:rPr>
              <a:t>p</a:t>
            </a:r>
            <a:r>
              <a:rPr sz="1500" spc="50" dirty="0">
                <a:solidFill>
                  <a:srgbClr val="080808"/>
                </a:solidFill>
                <a:latin typeface="Times New Roman" panose="02020603050405020304" pitchFamily="18" charset="0"/>
                <a:cs typeface="Times New Roman" panose="02020603050405020304" pitchFamily="18" charset="0"/>
              </a:rPr>
              <a:t>reprocessing,</a:t>
            </a:r>
            <a:r>
              <a:rPr sz="1500" spc="-110" dirty="0">
                <a:solidFill>
                  <a:srgbClr val="080808"/>
                </a:solidFill>
                <a:latin typeface="Times New Roman" panose="02020603050405020304" pitchFamily="18" charset="0"/>
                <a:cs typeface="Times New Roman" panose="02020603050405020304" pitchFamily="18" charset="0"/>
              </a:rPr>
              <a:t> </a:t>
            </a:r>
            <a:r>
              <a:rPr sz="1500" spc="50" dirty="0">
                <a:solidFill>
                  <a:srgbClr val="080808"/>
                </a:solidFill>
                <a:latin typeface="Times New Roman" panose="02020603050405020304" pitchFamily="18" charset="0"/>
                <a:cs typeface="Times New Roman" panose="02020603050405020304" pitchFamily="18" charset="0"/>
              </a:rPr>
              <a:t>where</a:t>
            </a:r>
            <a:r>
              <a:rPr sz="1500" spc="-45" dirty="0">
                <a:solidFill>
                  <a:srgbClr val="080808"/>
                </a:solidFill>
                <a:latin typeface="Times New Roman" panose="02020603050405020304" pitchFamily="18" charset="0"/>
                <a:cs typeface="Times New Roman" panose="02020603050405020304" pitchFamily="18" charset="0"/>
              </a:rPr>
              <a:t> </a:t>
            </a:r>
            <a:r>
              <a:rPr sz="1500" spc="75" dirty="0">
                <a:solidFill>
                  <a:srgbClr val="080808"/>
                </a:solidFill>
                <a:latin typeface="Times New Roman" panose="02020603050405020304" pitchFamily="18" charset="0"/>
                <a:cs typeface="Times New Roman" panose="02020603050405020304" pitchFamily="18" charset="0"/>
              </a:rPr>
              <a:t>multiple</a:t>
            </a:r>
            <a:r>
              <a:rPr sz="1500" spc="-65" dirty="0">
                <a:solidFill>
                  <a:srgbClr val="080808"/>
                </a:solidFill>
                <a:latin typeface="Times New Roman" panose="02020603050405020304" pitchFamily="18" charset="0"/>
                <a:cs typeface="Times New Roman" panose="02020603050405020304" pitchFamily="18" charset="0"/>
              </a:rPr>
              <a:t> </a:t>
            </a:r>
            <a:r>
              <a:rPr sz="1500" dirty="0">
                <a:solidFill>
                  <a:srgbClr val="080808"/>
                </a:solidFill>
                <a:latin typeface="Times New Roman" panose="02020603050405020304" pitchFamily="18" charset="0"/>
                <a:cs typeface="Times New Roman" panose="02020603050405020304" pitchFamily="18" charset="0"/>
              </a:rPr>
              <a:t>social</a:t>
            </a:r>
            <a:r>
              <a:rPr sz="1500" spc="50" dirty="0">
                <a:solidFill>
                  <a:srgbClr val="080808"/>
                </a:solidFill>
                <a:latin typeface="Times New Roman" panose="02020603050405020304" pitchFamily="18" charset="0"/>
                <a:cs typeface="Times New Roman" panose="02020603050405020304" pitchFamily="18" charset="0"/>
              </a:rPr>
              <a:t> </a:t>
            </a:r>
            <a:r>
              <a:rPr sz="1500" dirty="0">
                <a:solidFill>
                  <a:srgbClr val="080808"/>
                </a:solidFill>
                <a:latin typeface="Times New Roman" panose="02020603050405020304" pitchFamily="18" charset="0"/>
                <a:cs typeface="Times New Roman" panose="02020603050405020304" pitchFamily="18" charset="0"/>
              </a:rPr>
              <a:t>media</a:t>
            </a:r>
            <a:r>
              <a:rPr sz="1500" spc="-10" dirty="0">
                <a:solidFill>
                  <a:srgbClr val="080808"/>
                </a:solidFill>
                <a:latin typeface="Times New Roman" panose="02020603050405020304" pitchFamily="18" charset="0"/>
                <a:cs typeface="Times New Roman" panose="02020603050405020304" pitchFamily="18" charset="0"/>
              </a:rPr>
              <a:t> datasets </a:t>
            </a:r>
            <a:r>
              <a:rPr sz="1500" spc="10" dirty="0">
                <a:solidFill>
                  <a:srgbClr val="080808"/>
                </a:solidFill>
                <a:latin typeface="Times New Roman" panose="02020603050405020304" pitchFamily="18" charset="0"/>
                <a:cs typeface="Times New Roman" panose="02020603050405020304" pitchFamily="18" charset="0"/>
              </a:rPr>
              <a:t>are</a:t>
            </a:r>
            <a:r>
              <a:rPr sz="1500" spc="-80" dirty="0">
                <a:solidFill>
                  <a:srgbClr val="080808"/>
                </a:solidFill>
                <a:latin typeface="Times New Roman" panose="02020603050405020304" pitchFamily="18" charset="0"/>
                <a:cs typeface="Times New Roman" panose="02020603050405020304" pitchFamily="18" charset="0"/>
              </a:rPr>
              <a:t> </a:t>
            </a:r>
            <a:r>
              <a:rPr sz="1500" spc="10" dirty="0">
                <a:solidFill>
                  <a:srgbClr val="080808"/>
                </a:solidFill>
                <a:latin typeface="Times New Roman" panose="02020603050405020304" pitchFamily="18" charset="0"/>
                <a:cs typeface="Times New Roman" panose="02020603050405020304" pitchFamily="18" charset="0"/>
              </a:rPr>
              <a:t>cleaned,</a:t>
            </a:r>
            <a:r>
              <a:rPr sz="1500" spc="60" dirty="0">
                <a:solidFill>
                  <a:srgbClr val="080808"/>
                </a:solidFill>
                <a:latin typeface="Times New Roman" panose="02020603050405020304" pitchFamily="18" charset="0"/>
                <a:cs typeface="Times New Roman" panose="02020603050405020304" pitchFamily="18" charset="0"/>
              </a:rPr>
              <a:t> </a:t>
            </a:r>
            <a:r>
              <a:rPr sz="1500" spc="10" dirty="0">
                <a:solidFill>
                  <a:srgbClr val="080808"/>
                </a:solidFill>
                <a:latin typeface="Times New Roman" panose="02020603050405020304" pitchFamily="18" charset="0"/>
                <a:cs typeface="Times New Roman" panose="02020603050405020304" pitchFamily="18" charset="0"/>
              </a:rPr>
              <a:t>normalized,</a:t>
            </a:r>
            <a:r>
              <a:rPr sz="1500" spc="20" dirty="0">
                <a:solidFill>
                  <a:srgbClr val="080808"/>
                </a:solidFill>
                <a:latin typeface="Times New Roman" panose="02020603050405020304" pitchFamily="18" charset="0"/>
                <a:cs typeface="Times New Roman" panose="02020603050405020304" pitchFamily="18" charset="0"/>
              </a:rPr>
              <a:t> </a:t>
            </a:r>
            <a:r>
              <a:rPr sz="1500" spc="60" dirty="0">
                <a:solidFill>
                  <a:srgbClr val="080808"/>
                </a:solidFill>
                <a:latin typeface="Times New Roman" panose="02020603050405020304" pitchFamily="18" charset="0"/>
                <a:cs typeface="Times New Roman" panose="02020603050405020304" pitchFamily="18" charset="0"/>
              </a:rPr>
              <a:t>and</a:t>
            </a:r>
            <a:r>
              <a:rPr sz="1500" spc="-30" dirty="0">
                <a:solidFill>
                  <a:srgbClr val="080808"/>
                </a:solidFill>
                <a:latin typeface="Times New Roman" panose="02020603050405020304" pitchFamily="18" charset="0"/>
                <a:cs typeface="Times New Roman" panose="02020603050405020304" pitchFamily="18" charset="0"/>
              </a:rPr>
              <a:t> </a:t>
            </a:r>
            <a:r>
              <a:rPr sz="1500" spc="60" dirty="0">
                <a:solidFill>
                  <a:srgbClr val="080808"/>
                </a:solidFill>
                <a:latin typeface="Times New Roman" panose="02020603050405020304" pitchFamily="18" charset="0"/>
                <a:cs typeface="Times New Roman" panose="02020603050405020304" pitchFamily="18" charset="0"/>
              </a:rPr>
              <a:t>unified</a:t>
            </a:r>
            <a:r>
              <a:rPr sz="1500" spc="10" dirty="0">
                <a:solidFill>
                  <a:srgbClr val="080808"/>
                </a:solidFill>
                <a:latin typeface="Times New Roman" panose="02020603050405020304" pitchFamily="18" charset="0"/>
                <a:cs typeface="Times New Roman" panose="02020603050405020304" pitchFamily="18" charset="0"/>
              </a:rPr>
              <a:t> </a:t>
            </a:r>
            <a:r>
              <a:rPr sz="1500" spc="75" dirty="0">
                <a:solidFill>
                  <a:srgbClr val="080808"/>
                </a:solidFill>
                <a:latin typeface="Times New Roman" panose="02020603050405020304" pitchFamily="18" charset="0"/>
                <a:cs typeface="Times New Roman" panose="02020603050405020304" pitchFamily="18" charset="0"/>
              </a:rPr>
              <a:t>into</a:t>
            </a:r>
            <a:r>
              <a:rPr sz="1500" spc="-80" dirty="0">
                <a:solidFill>
                  <a:srgbClr val="080808"/>
                </a:solidFill>
                <a:latin typeface="Times New Roman" panose="02020603050405020304" pitchFamily="18" charset="0"/>
                <a:cs typeface="Times New Roman" panose="02020603050405020304" pitchFamily="18" charset="0"/>
              </a:rPr>
              <a:t> </a:t>
            </a:r>
            <a:r>
              <a:rPr sz="1500" spc="-50" dirty="0">
                <a:solidFill>
                  <a:srgbClr val="080808"/>
                </a:solidFill>
                <a:latin typeface="Times New Roman" panose="02020603050405020304" pitchFamily="18" charset="0"/>
                <a:cs typeface="Times New Roman" panose="02020603050405020304" pitchFamily="18" charset="0"/>
              </a:rPr>
              <a:t>a</a:t>
            </a:r>
            <a:r>
              <a:rPr sz="1500" spc="500" dirty="0">
                <a:solidFill>
                  <a:srgbClr val="080808"/>
                </a:solidFill>
                <a:latin typeface="Times New Roman" panose="02020603050405020304" pitchFamily="18" charset="0"/>
                <a:cs typeface="Times New Roman" panose="02020603050405020304" pitchFamily="18" charset="0"/>
              </a:rPr>
              <a:t>  </a:t>
            </a:r>
            <a:r>
              <a:rPr sz="1500" spc="10" dirty="0">
                <a:solidFill>
                  <a:srgbClr val="080808"/>
                </a:solidFill>
                <a:latin typeface="Times New Roman" panose="02020603050405020304" pitchFamily="18" charset="0"/>
                <a:cs typeface="Times New Roman" panose="02020603050405020304" pitchFamily="18" charset="0"/>
              </a:rPr>
              <a:t>consistent</a:t>
            </a:r>
            <a:r>
              <a:rPr sz="1500" spc="110" dirty="0">
                <a:solidFill>
                  <a:srgbClr val="080808"/>
                </a:solidFill>
                <a:latin typeface="Times New Roman" panose="02020603050405020304" pitchFamily="18" charset="0"/>
                <a:cs typeface="Times New Roman" panose="02020603050405020304" pitchFamily="18" charset="0"/>
              </a:rPr>
              <a:t> </a:t>
            </a:r>
            <a:r>
              <a:rPr sz="1500" spc="70" dirty="0">
                <a:solidFill>
                  <a:srgbClr val="080808"/>
                </a:solidFill>
                <a:latin typeface="Times New Roman" panose="02020603050405020304" pitchFamily="18" charset="0"/>
                <a:cs typeface="Times New Roman" panose="02020603050405020304" pitchFamily="18" charset="0"/>
              </a:rPr>
              <a:t>format</a:t>
            </a:r>
            <a:r>
              <a:rPr sz="1500" spc="45" dirty="0">
                <a:solidFill>
                  <a:srgbClr val="080808"/>
                </a:solidFill>
                <a:latin typeface="Times New Roman" panose="02020603050405020304" pitchFamily="18" charset="0"/>
                <a:cs typeface="Times New Roman" panose="02020603050405020304" pitchFamily="18" charset="0"/>
              </a:rPr>
              <a:t> </a:t>
            </a:r>
            <a:r>
              <a:rPr sz="1500" spc="60" dirty="0">
                <a:solidFill>
                  <a:srgbClr val="080808"/>
                </a:solidFill>
                <a:latin typeface="Times New Roman" panose="02020603050405020304" pitchFamily="18" charset="0"/>
                <a:cs typeface="Times New Roman" panose="02020603050405020304" pitchFamily="18" charset="0"/>
              </a:rPr>
              <a:t>for</a:t>
            </a:r>
            <a:r>
              <a:rPr sz="1500" spc="5" dirty="0">
                <a:solidFill>
                  <a:srgbClr val="080808"/>
                </a:solidFill>
                <a:latin typeface="Times New Roman" panose="02020603050405020304" pitchFamily="18" charset="0"/>
                <a:cs typeface="Times New Roman" panose="02020603050405020304" pitchFamily="18" charset="0"/>
              </a:rPr>
              <a:t> </a:t>
            </a:r>
            <a:r>
              <a:rPr sz="1500" spc="60" dirty="0">
                <a:solidFill>
                  <a:srgbClr val="080808"/>
                </a:solidFill>
                <a:latin typeface="Times New Roman" panose="02020603050405020304" pitchFamily="18" charset="0"/>
                <a:cs typeface="Times New Roman" panose="02020603050405020304" pitchFamily="18" charset="0"/>
              </a:rPr>
              <a:t>downstream</a:t>
            </a:r>
            <a:r>
              <a:rPr sz="1500" spc="25" dirty="0">
                <a:solidFill>
                  <a:srgbClr val="080808"/>
                </a:solidFill>
                <a:latin typeface="Times New Roman" panose="02020603050405020304" pitchFamily="18" charset="0"/>
                <a:cs typeface="Times New Roman" panose="02020603050405020304" pitchFamily="18" charset="0"/>
              </a:rPr>
              <a:t> </a:t>
            </a:r>
            <a:r>
              <a:rPr sz="1500" spc="90" dirty="0">
                <a:solidFill>
                  <a:srgbClr val="080808"/>
                </a:solidFill>
                <a:latin typeface="Times New Roman" panose="02020603050405020304" pitchFamily="18" charset="0"/>
                <a:cs typeface="Times New Roman" panose="02020603050405020304" pitchFamily="18" charset="0"/>
              </a:rPr>
              <a:t>tasks.</a:t>
            </a:r>
            <a:r>
              <a:rPr sz="1500" spc="-140" dirty="0">
                <a:solidFill>
                  <a:srgbClr val="080808"/>
                </a:solidFill>
                <a:latin typeface="Times New Roman" panose="02020603050405020304" pitchFamily="18" charset="0"/>
                <a:cs typeface="Times New Roman" panose="02020603050405020304" pitchFamily="18" charset="0"/>
              </a:rPr>
              <a:t> </a:t>
            </a:r>
            <a:r>
              <a:rPr sz="1500" spc="-20" dirty="0">
                <a:solidFill>
                  <a:srgbClr val="080808"/>
                </a:solidFill>
                <a:latin typeface="Times New Roman" panose="02020603050405020304" pitchFamily="18" charset="0"/>
                <a:cs typeface="Times New Roman" panose="02020603050405020304" pitchFamily="18" charset="0"/>
              </a:rPr>
              <a:t>This</a:t>
            </a:r>
            <a:r>
              <a:rPr sz="1500" spc="500" dirty="0">
                <a:solidFill>
                  <a:srgbClr val="080808"/>
                </a:solidFill>
                <a:latin typeface="Times New Roman" panose="02020603050405020304" pitchFamily="18" charset="0"/>
                <a:cs typeface="Times New Roman" panose="02020603050405020304" pitchFamily="18" charset="0"/>
              </a:rPr>
              <a:t> </a:t>
            </a:r>
            <a:r>
              <a:rPr sz="1500" spc="60" dirty="0">
                <a:solidFill>
                  <a:srgbClr val="080808"/>
                </a:solidFill>
                <a:latin typeface="Times New Roman" panose="02020603050405020304" pitchFamily="18" charset="0"/>
                <a:cs typeface="Times New Roman" panose="02020603050405020304" pitchFamily="18" charset="0"/>
              </a:rPr>
              <a:t>unified</a:t>
            </a:r>
            <a:r>
              <a:rPr sz="1500" spc="-40" dirty="0">
                <a:solidFill>
                  <a:srgbClr val="080808"/>
                </a:solidFill>
                <a:latin typeface="Times New Roman" panose="02020603050405020304" pitchFamily="18" charset="0"/>
                <a:cs typeface="Times New Roman" panose="02020603050405020304" pitchFamily="18" charset="0"/>
              </a:rPr>
              <a:t> </a:t>
            </a:r>
            <a:r>
              <a:rPr sz="1500" spc="50" dirty="0">
                <a:solidFill>
                  <a:srgbClr val="080808"/>
                </a:solidFill>
                <a:latin typeface="Times New Roman" panose="02020603050405020304" pitchFamily="18" charset="0"/>
                <a:cs typeface="Times New Roman" panose="02020603050405020304" pitchFamily="18" charset="0"/>
              </a:rPr>
              <a:t>data</a:t>
            </a:r>
            <a:r>
              <a:rPr sz="1500" spc="-35" dirty="0">
                <a:solidFill>
                  <a:srgbClr val="080808"/>
                </a:solidFill>
                <a:latin typeface="Times New Roman" panose="02020603050405020304" pitchFamily="18" charset="0"/>
                <a:cs typeface="Times New Roman" panose="02020603050405020304" pitchFamily="18" charset="0"/>
              </a:rPr>
              <a:t> </a:t>
            </a:r>
            <a:r>
              <a:rPr sz="1500" dirty="0">
                <a:solidFill>
                  <a:srgbClr val="080808"/>
                </a:solidFill>
                <a:latin typeface="Times New Roman" panose="02020603050405020304" pitchFamily="18" charset="0"/>
                <a:cs typeface="Times New Roman" panose="02020603050405020304" pitchFamily="18" charset="0"/>
              </a:rPr>
              <a:t>is</a:t>
            </a:r>
            <a:r>
              <a:rPr sz="1500" spc="-114" dirty="0">
                <a:solidFill>
                  <a:srgbClr val="080808"/>
                </a:solidFill>
                <a:latin typeface="Times New Roman" panose="02020603050405020304" pitchFamily="18" charset="0"/>
                <a:cs typeface="Times New Roman" panose="02020603050405020304" pitchFamily="18" charset="0"/>
              </a:rPr>
              <a:t> </a:t>
            </a:r>
            <a:r>
              <a:rPr sz="1500" spc="95" dirty="0">
                <a:solidFill>
                  <a:srgbClr val="080808"/>
                </a:solidFill>
                <a:latin typeface="Times New Roman" panose="02020603050405020304" pitchFamily="18" charset="0"/>
                <a:cs typeface="Times New Roman" panose="02020603050405020304" pitchFamily="18" charset="0"/>
              </a:rPr>
              <a:t>then</a:t>
            </a:r>
            <a:r>
              <a:rPr sz="1500" spc="-85" dirty="0">
                <a:solidFill>
                  <a:srgbClr val="080808"/>
                </a:solidFill>
                <a:latin typeface="Times New Roman" panose="02020603050405020304" pitchFamily="18" charset="0"/>
                <a:cs typeface="Times New Roman" panose="02020603050405020304" pitchFamily="18" charset="0"/>
              </a:rPr>
              <a:t> </a:t>
            </a:r>
            <a:r>
              <a:rPr sz="1500" dirty="0">
                <a:solidFill>
                  <a:srgbClr val="080808"/>
                </a:solidFill>
                <a:latin typeface="Times New Roman" panose="02020603050405020304" pitchFamily="18" charset="0"/>
                <a:cs typeface="Times New Roman" panose="02020603050405020304" pitchFamily="18" charset="0"/>
              </a:rPr>
              <a:t>enhanced</a:t>
            </a:r>
            <a:r>
              <a:rPr sz="1500" spc="80" dirty="0">
                <a:solidFill>
                  <a:srgbClr val="080808"/>
                </a:solidFill>
                <a:latin typeface="Times New Roman" panose="02020603050405020304" pitchFamily="18" charset="0"/>
                <a:cs typeface="Times New Roman" panose="02020603050405020304" pitchFamily="18" charset="0"/>
              </a:rPr>
              <a:t> </a:t>
            </a:r>
            <a:r>
              <a:rPr sz="1500" spc="85" dirty="0">
                <a:solidFill>
                  <a:srgbClr val="080808"/>
                </a:solidFill>
                <a:latin typeface="Times New Roman" panose="02020603050405020304" pitchFamily="18" charset="0"/>
                <a:cs typeface="Times New Roman" panose="02020603050405020304" pitchFamily="18" charset="0"/>
              </a:rPr>
              <a:t>through</a:t>
            </a:r>
            <a:r>
              <a:rPr sz="1500" spc="-50" dirty="0">
                <a:solidFill>
                  <a:srgbClr val="080808"/>
                </a:solidFill>
                <a:latin typeface="Times New Roman" panose="02020603050405020304" pitchFamily="18" charset="0"/>
                <a:cs typeface="Times New Roman" panose="02020603050405020304" pitchFamily="18" charset="0"/>
              </a:rPr>
              <a:t> </a:t>
            </a:r>
            <a:r>
              <a:rPr sz="1500" spc="75" dirty="0">
                <a:solidFill>
                  <a:srgbClr val="080808"/>
                </a:solidFill>
                <a:latin typeface="Times New Roman" panose="02020603050405020304" pitchFamily="18" charset="0"/>
                <a:cs typeface="Times New Roman" panose="02020603050405020304" pitchFamily="18" charset="0"/>
              </a:rPr>
              <a:t>LLM-</a:t>
            </a:r>
            <a:r>
              <a:rPr sz="1500" spc="60" dirty="0">
                <a:solidFill>
                  <a:srgbClr val="080808"/>
                </a:solidFill>
                <a:latin typeface="Times New Roman" panose="02020603050405020304" pitchFamily="18" charset="0"/>
                <a:cs typeface="Times New Roman" panose="02020603050405020304" pitchFamily="18" charset="0"/>
              </a:rPr>
              <a:t>based </a:t>
            </a:r>
            <a:r>
              <a:rPr sz="1500" spc="50" dirty="0">
                <a:solidFill>
                  <a:srgbClr val="080808"/>
                </a:solidFill>
                <a:latin typeface="Times New Roman" panose="02020603050405020304" pitchFamily="18" charset="0"/>
                <a:cs typeface="Times New Roman" panose="02020603050405020304" pitchFamily="18" charset="0"/>
              </a:rPr>
              <a:t>augmentation,</a:t>
            </a:r>
            <a:r>
              <a:rPr sz="1500" spc="70" dirty="0">
                <a:solidFill>
                  <a:srgbClr val="080808"/>
                </a:solidFill>
                <a:latin typeface="Times New Roman" panose="02020603050405020304" pitchFamily="18" charset="0"/>
                <a:cs typeface="Times New Roman" panose="02020603050405020304" pitchFamily="18" charset="0"/>
              </a:rPr>
              <a:t> </a:t>
            </a:r>
            <a:r>
              <a:rPr sz="1500" spc="50" dirty="0">
                <a:solidFill>
                  <a:srgbClr val="080808"/>
                </a:solidFill>
                <a:latin typeface="Times New Roman" panose="02020603050405020304" pitchFamily="18" charset="0"/>
                <a:cs typeface="Times New Roman" panose="02020603050405020304" pitchFamily="18" charset="0"/>
              </a:rPr>
              <a:t>generating</a:t>
            </a:r>
            <a:r>
              <a:rPr sz="1500" spc="90" dirty="0">
                <a:solidFill>
                  <a:srgbClr val="080808"/>
                </a:solidFill>
                <a:latin typeface="Times New Roman" panose="02020603050405020304" pitchFamily="18" charset="0"/>
                <a:cs typeface="Times New Roman" panose="02020603050405020304" pitchFamily="18" charset="0"/>
              </a:rPr>
              <a:t> </a:t>
            </a:r>
            <a:r>
              <a:rPr sz="1500" spc="10" dirty="0">
                <a:solidFill>
                  <a:srgbClr val="080808"/>
                </a:solidFill>
                <a:latin typeface="Times New Roman" panose="02020603050405020304" pitchFamily="18" charset="0"/>
                <a:cs typeface="Times New Roman" panose="02020603050405020304" pitchFamily="18" charset="0"/>
              </a:rPr>
              <a:t>semantically</a:t>
            </a:r>
            <a:r>
              <a:rPr sz="1500" spc="170" dirty="0">
                <a:solidFill>
                  <a:srgbClr val="080808"/>
                </a:solidFill>
                <a:latin typeface="Times New Roman" panose="02020603050405020304" pitchFamily="18" charset="0"/>
                <a:cs typeface="Times New Roman" panose="02020603050405020304" pitchFamily="18" charset="0"/>
              </a:rPr>
              <a:t> </a:t>
            </a:r>
            <a:r>
              <a:rPr sz="1500" spc="-10" dirty="0">
                <a:solidFill>
                  <a:srgbClr val="080808"/>
                </a:solidFill>
                <a:latin typeface="Times New Roman" panose="02020603050405020304" pitchFamily="18" charset="0"/>
                <a:cs typeface="Times New Roman" panose="02020603050405020304" pitchFamily="18" charset="0"/>
              </a:rPr>
              <a:t>similar </a:t>
            </a:r>
            <a:r>
              <a:rPr sz="1500" spc="10" dirty="0">
                <a:solidFill>
                  <a:srgbClr val="080808"/>
                </a:solidFill>
                <a:latin typeface="Times New Roman" panose="02020603050405020304" pitchFamily="18" charset="0"/>
                <a:cs typeface="Times New Roman" panose="02020603050405020304" pitchFamily="18" charset="0"/>
              </a:rPr>
              <a:t>candidate</a:t>
            </a:r>
            <a:r>
              <a:rPr sz="1500" spc="40" dirty="0">
                <a:solidFill>
                  <a:srgbClr val="080808"/>
                </a:solidFill>
                <a:latin typeface="Times New Roman" panose="02020603050405020304" pitchFamily="18" charset="0"/>
                <a:cs typeface="Times New Roman" panose="02020603050405020304" pitchFamily="18" charset="0"/>
              </a:rPr>
              <a:t> </a:t>
            </a:r>
            <a:r>
              <a:rPr sz="1500" spc="10" dirty="0">
                <a:solidFill>
                  <a:srgbClr val="080808"/>
                </a:solidFill>
                <a:latin typeface="Times New Roman" panose="02020603050405020304" pitchFamily="18" charset="0"/>
                <a:cs typeface="Times New Roman" panose="02020603050405020304" pitchFamily="18" charset="0"/>
              </a:rPr>
              <a:t>samples</a:t>
            </a:r>
            <a:r>
              <a:rPr sz="1500" spc="-15" dirty="0">
                <a:solidFill>
                  <a:srgbClr val="080808"/>
                </a:solidFill>
                <a:latin typeface="Times New Roman" panose="02020603050405020304" pitchFamily="18" charset="0"/>
                <a:cs typeface="Times New Roman" panose="02020603050405020304" pitchFamily="18" charset="0"/>
              </a:rPr>
              <a:t> </a:t>
            </a:r>
            <a:r>
              <a:rPr sz="1500" spc="10" dirty="0">
                <a:solidFill>
                  <a:srgbClr val="080808"/>
                </a:solidFill>
                <a:latin typeface="Times New Roman" panose="02020603050405020304" pitchFamily="18" charset="0"/>
                <a:cs typeface="Times New Roman" panose="02020603050405020304" pitchFamily="18" charset="0"/>
              </a:rPr>
              <a:t>to</a:t>
            </a:r>
            <a:r>
              <a:rPr sz="1500" spc="215" dirty="0">
                <a:solidFill>
                  <a:srgbClr val="080808"/>
                </a:solidFill>
                <a:latin typeface="Times New Roman" panose="02020603050405020304" pitchFamily="18" charset="0"/>
                <a:cs typeface="Times New Roman" panose="02020603050405020304" pitchFamily="18" charset="0"/>
              </a:rPr>
              <a:t> </a:t>
            </a:r>
            <a:r>
              <a:rPr sz="1500" spc="60" dirty="0">
                <a:solidFill>
                  <a:srgbClr val="080808"/>
                </a:solidFill>
                <a:latin typeface="Times New Roman" panose="02020603050405020304" pitchFamily="18" charset="0"/>
                <a:cs typeface="Times New Roman" panose="02020603050405020304" pitchFamily="18" charset="0"/>
              </a:rPr>
              <a:t>improve</a:t>
            </a:r>
            <a:r>
              <a:rPr sz="1500" spc="-65" dirty="0">
                <a:solidFill>
                  <a:srgbClr val="080808"/>
                </a:solidFill>
                <a:latin typeface="Times New Roman" panose="02020603050405020304" pitchFamily="18" charset="0"/>
                <a:cs typeface="Times New Roman" panose="02020603050405020304" pitchFamily="18" charset="0"/>
              </a:rPr>
              <a:t> </a:t>
            </a:r>
            <a:r>
              <a:rPr sz="1500" spc="50" dirty="0">
                <a:solidFill>
                  <a:srgbClr val="080808"/>
                </a:solidFill>
                <a:latin typeface="Times New Roman" panose="02020603050405020304" pitchFamily="18" charset="0"/>
                <a:cs typeface="Times New Roman" panose="02020603050405020304" pitchFamily="18" charset="0"/>
              </a:rPr>
              <a:t>data</a:t>
            </a:r>
            <a:r>
              <a:rPr sz="1500" spc="-15" dirty="0">
                <a:solidFill>
                  <a:srgbClr val="080808"/>
                </a:solidFill>
                <a:latin typeface="Times New Roman" panose="02020603050405020304" pitchFamily="18" charset="0"/>
                <a:cs typeface="Times New Roman" panose="02020603050405020304" pitchFamily="18" charset="0"/>
              </a:rPr>
              <a:t> </a:t>
            </a:r>
            <a:r>
              <a:rPr sz="1500" spc="70" dirty="0">
                <a:solidFill>
                  <a:srgbClr val="080808"/>
                </a:solidFill>
                <a:latin typeface="Times New Roman" panose="02020603050405020304" pitchFamily="18" charset="0"/>
                <a:cs typeface="Times New Roman" panose="02020603050405020304" pitchFamily="18" charset="0"/>
              </a:rPr>
              <a:t>diversity.</a:t>
            </a:r>
            <a:r>
              <a:rPr sz="1500" spc="15" dirty="0">
                <a:solidFill>
                  <a:srgbClr val="080808"/>
                </a:solidFill>
                <a:latin typeface="Times New Roman" panose="02020603050405020304" pitchFamily="18" charset="0"/>
                <a:cs typeface="Times New Roman" panose="02020603050405020304" pitchFamily="18" charset="0"/>
              </a:rPr>
              <a:t> </a:t>
            </a:r>
            <a:r>
              <a:rPr sz="1500" spc="-25" dirty="0">
                <a:solidFill>
                  <a:srgbClr val="080808"/>
                </a:solidFill>
                <a:latin typeface="Times New Roman" panose="02020603050405020304" pitchFamily="18" charset="0"/>
                <a:cs typeface="Times New Roman" panose="02020603050405020304" pitchFamily="18" charset="0"/>
              </a:rPr>
              <a:t>To </a:t>
            </a:r>
            <a:r>
              <a:rPr sz="1500" dirty="0">
                <a:solidFill>
                  <a:srgbClr val="080808"/>
                </a:solidFill>
                <a:latin typeface="Times New Roman" panose="02020603050405020304" pitchFamily="18" charset="0"/>
                <a:cs typeface="Times New Roman" panose="02020603050405020304" pitchFamily="18" charset="0"/>
              </a:rPr>
              <a:t>ensure</a:t>
            </a:r>
            <a:r>
              <a:rPr sz="1500" spc="40" dirty="0">
                <a:solidFill>
                  <a:srgbClr val="080808"/>
                </a:solidFill>
                <a:latin typeface="Times New Roman" panose="02020603050405020304" pitchFamily="18" charset="0"/>
                <a:cs typeface="Times New Roman" panose="02020603050405020304" pitchFamily="18" charset="0"/>
              </a:rPr>
              <a:t> </a:t>
            </a:r>
            <a:r>
              <a:rPr sz="1500" dirty="0">
                <a:solidFill>
                  <a:srgbClr val="080808"/>
                </a:solidFill>
                <a:latin typeface="Times New Roman" panose="02020603050405020304" pitchFamily="18" charset="0"/>
                <a:cs typeface="Times New Roman" panose="02020603050405020304" pitchFamily="18" charset="0"/>
              </a:rPr>
              <a:t>quality,</a:t>
            </a:r>
            <a:r>
              <a:rPr sz="1500" spc="75" dirty="0">
                <a:solidFill>
                  <a:srgbClr val="080808"/>
                </a:solidFill>
                <a:latin typeface="Times New Roman" panose="02020603050405020304" pitchFamily="18" charset="0"/>
                <a:cs typeface="Times New Roman" panose="02020603050405020304" pitchFamily="18" charset="0"/>
              </a:rPr>
              <a:t> </a:t>
            </a:r>
            <a:r>
              <a:rPr sz="1500" spc="50" dirty="0">
                <a:solidFill>
                  <a:srgbClr val="080808"/>
                </a:solidFill>
                <a:latin typeface="Times New Roman" panose="02020603050405020304" pitchFamily="18" charset="0"/>
                <a:cs typeface="Times New Roman" panose="02020603050405020304" pitchFamily="18" charset="0"/>
              </a:rPr>
              <a:t>an</a:t>
            </a:r>
            <a:r>
              <a:rPr sz="1500" spc="-25" dirty="0">
                <a:solidFill>
                  <a:srgbClr val="080808"/>
                </a:solidFill>
                <a:latin typeface="Times New Roman" panose="02020603050405020304" pitchFamily="18" charset="0"/>
                <a:cs typeface="Times New Roman" panose="02020603050405020304" pitchFamily="18" charset="0"/>
              </a:rPr>
              <a:t> </a:t>
            </a:r>
            <a:r>
              <a:rPr sz="1500" dirty="0">
                <a:solidFill>
                  <a:srgbClr val="080808"/>
                </a:solidFill>
                <a:latin typeface="Times New Roman" panose="02020603050405020304" pitchFamily="18" charset="0"/>
                <a:cs typeface="Times New Roman" panose="02020603050405020304" pitchFamily="18" charset="0"/>
              </a:rPr>
              <a:t>emotion-</a:t>
            </a:r>
            <a:r>
              <a:rPr sz="1500" spc="50" dirty="0">
                <a:solidFill>
                  <a:srgbClr val="080808"/>
                </a:solidFill>
                <a:latin typeface="Times New Roman" panose="02020603050405020304" pitchFamily="18" charset="0"/>
                <a:cs typeface="Times New Roman" panose="02020603050405020304" pitchFamily="18" charset="0"/>
              </a:rPr>
              <a:t>aware</a:t>
            </a:r>
            <a:r>
              <a:rPr sz="1500" spc="240" dirty="0">
                <a:solidFill>
                  <a:srgbClr val="080808"/>
                </a:solidFill>
                <a:latin typeface="Times New Roman" panose="02020603050405020304" pitchFamily="18" charset="0"/>
                <a:cs typeface="Times New Roman" panose="02020603050405020304" pitchFamily="18" charset="0"/>
              </a:rPr>
              <a:t> </a:t>
            </a:r>
            <a:r>
              <a:rPr sz="1500" spc="65" dirty="0">
                <a:solidFill>
                  <a:srgbClr val="080808"/>
                </a:solidFill>
                <a:latin typeface="Times New Roman" panose="02020603050405020304" pitchFamily="18" charset="0"/>
                <a:cs typeface="Times New Roman" panose="02020603050405020304" pitchFamily="18" charset="0"/>
              </a:rPr>
              <a:t>filtering</a:t>
            </a:r>
            <a:r>
              <a:rPr sz="1500" spc="100" dirty="0">
                <a:solidFill>
                  <a:srgbClr val="080808"/>
                </a:solidFill>
                <a:latin typeface="Times New Roman" panose="02020603050405020304" pitchFamily="18" charset="0"/>
                <a:cs typeface="Times New Roman" panose="02020603050405020304" pitchFamily="18" charset="0"/>
              </a:rPr>
              <a:t> </a:t>
            </a:r>
            <a:r>
              <a:rPr sz="1500" spc="55" dirty="0">
                <a:solidFill>
                  <a:srgbClr val="080808"/>
                </a:solidFill>
                <a:latin typeface="Times New Roman" panose="02020603050405020304" pitchFamily="18" charset="0"/>
                <a:cs typeface="Times New Roman" panose="02020603050405020304" pitchFamily="18" charset="0"/>
              </a:rPr>
              <a:t>module </a:t>
            </a:r>
            <a:r>
              <a:rPr sz="1500" spc="50" dirty="0">
                <a:solidFill>
                  <a:srgbClr val="080808"/>
                </a:solidFill>
                <a:latin typeface="Times New Roman" panose="02020603050405020304" pitchFamily="18" charset="0"/>
                <a:cs typeface="Times New Roman" panose="02020603050405020304" pitchFamily="18" charset="0"/>
              </a:rPr>
              <a:t>retains</a:t>
            </a:r>
            <a:r>
              <a:rPr sz="1500" spc="-120" dirty="0">
                <a:solidFill>
                  <a:srgbClr val="080808"/>
                </a:solidFill>
                <a:latin typeface="Times New Roman" panose="02020603050405020304" pitchFamily="18" charset="0"/>
                <a:cs typeface="Times New Roman" panose="02020603050405020304" pitchFamily="18" charset="0"/>
              </a:rPr>
              <a:t> </a:t>
            </a:r>
            <a:r>
              <a:rPr sz="1500" spc="65" dirty="0">
                <a:solidFill>
                  <a:srgbClr val="080808"/>
                </a:solidFill>
                <a:latin typeface="Times New Roman" panose="02020603050405020304" pitchFamily="18" charset="0"/>
                <a:cs typeface="Times New Roman" panose="02020603050405020304" pitchFamily="18" charset="0"/>
              </a:rPr>
              <a:t>only</a:t>
            </a:r>
            <a:r>
              <a:rPr sz="1500" spc="-110" dirty="0">
                <a:solidFill>
                  <a:srgbClr val="080808"/>
                </a:solidFill>
                <a:latin typeface="Times New Roman" panose="02020603050405020304" pitchFamily="18" charset="0"/>
                <a:cs typeface="Times New Roman" panose="02020603050405020304" pitchFamily="18" charset="0"/>
              </a:rPr>
              <a:t> </a:t>
            </a:r>
            <a:r>
              <a:rPr sz="1500" spc="65" dirty="0">
                <a:solidFill>
                  <a:srgbClr val="080808"/>
                </a:solidFill>
                <a:latin typeface="Times New Roman" panose="02020603050405020304" pitchFamily="18" charset="0"/>
                <a:cs typeface="Times New Roman" panose="02020603050405020304" pitchFamily="18" charset="0"/>
              </a:rPr>
              <a:t>those</a:t>
            </a:r>
            <a:r>
              <a:rPr sz="1500" spc="-50" dirty="0">
                <a:solidFill>
                  <a:srgbClr val="080808"/>
                </a:solidFill>
                <a:latin typeface="Times New Roman" panose="02020603050405020304" pitchFamily="18" charset="0"/>
                <a:cs typeface="Times New Roman" panose="02020603050405020304" pitchFamily="18" charset="0"/>
              </a:rPr>
              <a:t> </a:t>
            </a:r>
            <a:r>
              <a:rPr sz="1500" spc="60" dirty="0">
                <a:solidFill>
                  <a:srgbClr val="080808"/>
                </a:solidFill>
                <a:latin typeface="Times New Roman" panose="02020603050405020304" pitchFamily="18" charset="0"/>
                <a:cs typeface="Times New Roman" panose="02020603050405020304" pitchFamily="18" charset="0"/>
              </a:rPr>
              <a:t>augmented</a:t>
            </a:r>
            <a:r>
              <a:rPr sz="1500" spc="35" dirty="0">
                <a:solidFill>
                  <a:srgbClr val="080808"/>
                </a:solidFill>
                <a:latin typeface="Times New Roman" panose="02020603050405020304" pitchFamily="18" charset="0"/>
                <a:cs typeface="Times New Roman" panose="02020603050405020304" pitchFamily="18" charset="0"/>
              </a:rPr>
              <a:t> </a:t>
            </a:r>
            <a:r>
              <a:rPr sz="1500" spc="10" dirty="0">
                <a:solidFill>
                  <a:srgbClr val="080808"/>
                </a:solidFill>
                <a:latin typeface="Times New Roman" panose="02020603050405020304" pitchFamily="18" charset="0"/>
                <a:cs typeface="Times New Roman" panose="02020603050405020304" pitchFamily="18" charset="0"/>
              </a:rPr>
              <a:t>samples</a:t>
            </a:r>
            <a:r>
              <a:rPr sz="1500" spc="-110" dirty="0">
                <a:solidFill>
                  <a:srgbClr val="080808"/>
                </a:solidFill>
                <a:latin typeface="Times New Roman" panose="02020603050405020304" pitchFamily="18" charset="0"/>
                <a:cs typeface="Times New Roman" panose="02020603050405020304" pitchFamily="18" charset="0"/>
              </a:rPr>
              <a:t> </a:t>
            </a:r>
            <a:r>
              <a:rPr sz="1500" spc="95" dirty="0">
                <a:solidFill>
                  <a:srgbClr val="080808"/>
                </a:solidFill>
                <a:latin typeface="Times New Roman" panose="02020603050405020304" pitchFamily="18" charset="0"/>
                <a:cs typeface="Times New Roman" panose="02020603050405020304" pitchFamily="18" charset="0"/>
              </a:rPr>
              <a:t>that</a:t>
            </a:r>
            <a:r>
              <a:rPr sz="1500" spc="-55" dirty="0">
                <a:solidFill>
                  <a:srgbClr val="080808"/>
                </a:solidFill>
                <a:latin typeface="Times New Roman" panose="02020603050405020304" pitchFamily="18" charset="0"/>
                <a:cs typeface="Times New Roman" panose="02020603050405020304" pitchFamily="18" charset="0"/>
              </a:rPr>
              <a:t> </a:t>
            </a:r>
            <a:r>
              <a:rPr sz="1500" spc="-10" dirty="0">
                <a:solidFill>
                  <a:srgbClr val="080808"/>
                </a:solidFill>
                <a:latin typeface="Times New Roman" panose="02020603050405020304" pitchFamily="18" charset="0"/>
                <a:cs typeface="Times New Roman" panose="02020603050405020304" pitchFamily="18" charset="0"/>
              </a:rPr>
              <a:t>preserve </a:t>
            </a:r>
            <a:r>
              <a:rPr sz="1500" dirty="0">
                <a:solidFill>
                  <a:srgbClr val="080808"/>
                </a:solidFill>
                <a:latin typeface="Times New Roman" panose="02020603050405020304" pitchFamily="18" charset="0"/>
                <a:cs typeface="Times New Roman" panose="02020603050405020304" pitchFamily="18" charset="0"/>
              </a:rPr>
              <a:t>the</a:t>
            </a:r>
            <a:r>
              <a:rPr sz="1500" spc="254" dirty="0">
                <a:solidFill>
                  <a:srgbClr val="080808"/>
                </a:solidFill>
                <a:latin typeface="Times New Roman" panose="02020603050405020304" pitchFamily="18" charset="0"/>
                <a:cs typeface="Times New Roman" panose="02020603050405020304" pitchFamily="18" charset="0"/>
              </a:rPr>
              <a:t> </a:t>
            </a:r>
            <a:r>
              <a:rPr sz="1500" dirty="0">
                <a:solidFill>
                  <a:srgbClr val="080808"/>
                </a:solidFill>
                <a:latin typeface="Times New Roman" panose="02020603050405020304" pitchFamily="18" charset="0"/>
                <a:cs typeface="Times New Roman" panose="02020603050405020304" pitchFamily="18" charset="0"/>
              </a:rPr>
              <a:t>original</a:t>
            </a:r>
            <a:r>
              <a:rPr sz="1500" spc="5" dirty="0">
                <a:solidFill>
                  <a:srgbClr val="080808"/>
                </a:solidFill>
                <a:latin typeface="Times New Roman" panose="02020603050405020304" pitchFamily="18" charset="0"/>
                <a:cs typeface="Times New Roman" panose="02020603050405020304" pitchFamily="18" charset="0"/>
              </a:rPr>
              <a:t> </a:t>
            </a:r>
            <a:r>
              <a:rPr sz="1500" spc="55" dirty="0">
                <a:solidFill>
                  <a:srgbClr val="080808"/>
                </a:solidFill>
                <a:latin typeface="Times New Roman" panose="02020603050405020304" pitchFamily="18" charset="0"/>
                <a:cs typeface="Times New Roman" panose="02020603050405020304" pitchFamily="18" charset="0"/>
              </a:rPr>
              <a:t>emotional</a:t>
            </a:r>
            <a:r>
              <a:rPr sz="1500" spc="10" dirty="0">
                <a:solidFill>
                  <a:srgbClr val="080808"/>
                </a:solidFill>
                <a:latin typeface="Times New Roman" panose="02020603050405020304" pitchFamily="18" charset="0"/>
                <a:cs typeface="Times New Roman" panose="02020603050405020304" pitchFamily="18" charset="0"/>
              </a:rPr>
              <a:t> </a:t>
            </a:r>
            <a:r>
              <a:rPr sz="1500" spc="50" dirty="0">
                <a:solidFill>
                  <a:srgbClr val="080808"/>
                </a:solidFill>
                <a:latin typeface="Times New Roman" panose="02020603050405020304" pitchFamily="18" charset="0"/>
                <a:cs typeface="Times New Roman" panose="02020603050405020304" pitchFamily="18" charset="0"/>
              </a:rPr>
              <a:t>tone,</a:t>
            </a:r>
            <a:r>
              <a:rPr sz="1500" spc="-75" dirty="0">
                <a:solidFill>
                  <a:srgbClr val="080808"/>
                </a:solidFill>
                <a:latin typeface="Times New Roman" panose="02020603050405020304" pitchFamily="18" charset="0"/>
                <a:cs typeface="Times New Roman" panose="02020603050405020304" pitchFamily="18" charset="0"/>
              </a:rPr>
              <a:t> </a:t>
            </a:r>
            <a:r>
              <a:rPr sz="1500" spc="50" dirty="0">
                <a:solidFill>
                  <a:srgbClr val="080808"/>
                </a:solidFill>
                <a:latin typeface="Times New Roman" panose="02020603050405020304" pitchFamily="18" charset="0"/>
                <a:cs typeface="Times New Roman" panose="02020603050405020304" pitchFamily="18" charset="0"/>
              </a:rPr>
              <a:t>eliminating</a:t>
            </a:r>
            <a:r>
              <a:rPr sz="1500" spc="120" dirty="0">
                <a:solidFill>
                  <a:srgbClr val="080808"/>
                </a:solidFill>
                <a:latin typeface="Times New Roman" panose="02020603050405020304" pitchFamily="18" charset="0"/>
                <a:cs typeface="Times New Roman" panose="02020603050405020304" pitchFamily="18" charset="0"/>
              </a:rPr>
              <a:t> </a:t>
            </a:r>
            <a:r>
              <a:rPr sz="1500" dirty="0">
                <a:solidFill>
                  <a:srgbClr val="080808"/>
                </a:solidFill>
                <a:latin typeface="Times New Roman" panose="02020603050405020304" pitchFamily="18" charset="0"/>
                <a:cs typeface="Times New Roman" panose="02020603050405020304" pitchFamily="18" charset="0"/>
              </a:rPr>
              <a:t>noisy</a:t>
            </a:r>
            <a:r>
              <a:rPr sz="1500" spc="25" dirty="0">
                <a:solidFill>
                  <a:srgbClr val="080808"/>
                </a:solidFill>
                <a:latin typeface="Times New Roman" panose="02020603050405020304" pitchFamily="18" charset="0"/>
                <a:cs typeface="Times New Roman" panose="02020603050405020304" pitchFamily="18" charset="0"/>
              </a:rPr>
              <a:t> </a:t>
            </a:r>
            <a:r>
              <a:rPr sz="1500" spc="-25" dirty="0">
                <a:solidFill>
                  <a:srgbClr val="080808"/>
                </a:solidFill>
                <a:latin typeface="Times New Roman" panose="02020603050405020304" pitchFamily="18" charset="0"/>
                <a:cs typeface="Times New Roman" panose="02020603050405020304" pitchFamily="18" charset="0"/>
              </a:rPr>
              <a:t>or </a:t>
            </a:r>
            <a:r>
              <a:rPr sz="1500" spc="10" dirty="0">
                <a:solidFill>
                  <a:srgbClr val="080808"/>
                </a:solidFill>
                <a:latin typeface="Times New Roman" panose="02020603050405020304" pitchFamily="18" charset="0"/>
                <a:cs typeface="Times New Roman" panose="02020603050405020304" pitchFamily="18" charset="0"/>
              </a:rPr>
              <a:t>misleading</a:t>
            </a:r>
            <a:r>
              <a:rPr sz="1500" spc="45" dirty="0">
                <a:solidFill>
                  <a:srgbClr val="080808"/>
                </a:solidFill>
                <a:latin typeface="Times New Roman" panose="02020603050405020304" pitchFamily="18" charset="0"/>
                <a:cs typeface="Times New Roman" panose="02020603050405020304" pitchFamily="18" charset="0"/>
              </a:rPr>
              <a:t> </a:t>
            </a:r>
            <a:r>
              <a:rPr sz="1500" spc="70" dirty="0">
                <a:solidFill>
                  <a:srgbClr val="080808"/>
                </a:solidFill>
                <a:latin typeface="Times New Roman" panose="02020603050405020304" pitchFamily="18" charset="0"/>
                <a:cs typeface="Times New Roman" panose="02020603050405020304" pitchFamily="18" charset="0"/>
              </a:rPr>
              <a:t>pairs.</a:t>
            </a:r>
            <a:r>
              <a:rPr sz="1500" spc="-70" dirty="0">
                <a:solidFill>
                  <a:srgbClr val="080808"/>
                </a:solidFill>
                <a:latin typeface="Times New Roman" panose="02020603050405020304" pitchFamily="18" charset="0"/>
                <a:cs typeface="Times New Roman" panose="02020603050405020304" pitchFamily="18" charset="0"/>
              </a:rPr>
              <a:t> </a:t>
            </a:r>
            <a:r>
              <a:rPr sz="1500" spc="70" dirty="0">
                <a:solidFill>
                  <a:srgbClr val="080808"/>
                </a:solidFill>
                <a:latin typeface="Times New Roman" panose="02020603050405020304" pitchFamily="18" charset="0"/>
                <a:cs typeface="Times New Roman" panose="02020603050405020304" pitchFamily="18" charset="0"/>
              </a:rPr>
              <a:t>The</a:t>
            </a:r>
            <a:r>
              <a:rPr sz="1500" spc="-65" dirty="0">
                <a:solidFill>
                  <a:srgbClr val="080808"/>
                </a:solidFill>
                <a:latin typeface="Times New Roman" panose="02020603050405020304" pitchFamily="18" charset="0"/>
                <a:cs typeface="Times New Roman" panose="02020603050405020304" pitchFamily="18" charset="0"/>
              </a:rPr>
              <a:t> </a:t>
            </a:r>
            <a:r>
              <a:rPr sz="1500" spc="55" dirty="0">
                <a:solidFill>
                  <a:srgbClr val="080808"/>
                </a:solidFill>
                <a:latin typeface="Times New Roman" panose="02020603050405020304" pitchFamily="18" charset="0"/>
                <a:cs typeface="Times New Roman" panose="02020603050405020304" pitchFamily="18" charset="0"/>
              </a:rPr>
              <a:t>refined</a:t>
            </a:r>
            <a:r>
              <a:rPr sz="1500" spc="-70" dirty="0">
                <a:solidFill>
                  <a:srgbClr val="080808"/>
                </a:solidFill>
                <a:latin typeface="Times New Roman" panose="02020603050405020304" pitchFamily="18" charset="0"/>
                <a:cs typeface="Times New Roman" panose="02020603050405020304" pitchFamily="18" charset="0"/>
              </a:rPr>
              <a:t> </a:t>
            </a:r>
            <a:r>
              <a:rPr sz="1500" spc="10" dirty="0">
                <a:solidFill>
                  <a:srgbClr val="080808"/>
                </a:solidFill>
                <a:latin typeface="Times New Roman" panose="02020603050405020304" pitchFamily="18" charset="0"/>
                <a:cs typeface="Times New Roman" panose="02020603050405020304" pitchFamily="18" charset="0"/>
              </a:rPr>
              <a:t>dataset</a:t>
            </a:r>
            <a:r>
              <a:rPr sz="1500" spc="120" dirty="0">
                <a:solidFill>
                  <a:srgbClr val="080808"/>
                </a:solidFill>
                <a:latin typeface="Times New Roman" panose="02020603050405020304" pitchFamily="18" charset="0"/>
                <a:cs typeface="Times New Roman" panose="02020603050405020304" pitchFamily="18" charset="0"/>
              </a:rPr>
              <a:t> </a:t>
            </a:r>
            <a:r>
              <a:rPr sz="1500" spc="10" dirty="0">
                <a:solidFill>
                  <a:srgbClr val="080808"/>
                </a:solidFill>
                <a:latin typeface="Times New Roman" panose="02020603050405020304" pitchFamily="18" charset="0"/>
                <a:cs typeface="Times New Roman" panose="02020603050405020304" pitchFamily="18" charset="0"/>
              </a:rPr>
              <a:t>is</a:t>
            </a:r>
            <a:r>
              <a:rPr sz="1500" spc="-114" dirty="0">
                <a:solidFill>
                  <a:srgbClr val="080808"/>
                </a:solidFill>
                <a:latin typeface="Times New Roman" panose="02020603050405020304" pitchFamily="18" charset="0"/>
                <a:cs typeface="Times New Roman" panose="02020603050405020304" pitchFamily="18" charset="0"/>
              </a:rPr>
              <a:t> </a:t>
            </a:r>
            <a:r>
              <a:rPr sz="1500" spc="95" dirty="0">
                <a:solidFill>
                  <a:srgbClr val="080808"/>
                </a:solidFill>
                <a:latin typeface="Times New Roman" panose="02020603050405020304" pitchFamily="18" charset="0"/>
                <a:cs typeface="Times New Roman" panose="02020603050405020304" pitchFamily="18" charset="0"/>
              </a:rPr>
              <a:t>then</a:t>
            </a:r>
            <a:r>
              <a:rPr sz="1500" spc="-40" dirty="0">
                <a:solidFill>
                  <a:srgbClr val="080808"/>
                </a:solidFill>
                <a:latin typeface="Times New Roman" panose="02020603050405020304" pitchFamily="18" charset="0"/>
                <a:cs typeface="Times New Roman" panose="02020603050405020304" pitchFamily="18" charset="0"/>
              </a:rPr>
              <a:t> </a:t>
            </a:r>
            <a:r>
              <a:rPr sz="1500" spc="50" dirty="0">
                <a:solidFill>
                  <a:srgbClr val="080808"/>
                </a:solidFill>
                <a:latin typeface="Times New Roman" panose="02020603050405020304" pitchFamily="18" charset="0"/>
                <a:cs typeface="Times New Roman" panose="02020603050405020304" pitchFamily="18" charset="0"/>
              </a:rPr>
              <a:t>used</a:t>
            </a:r>
            <a:r>
              <a:rPr sz="1500" spc="-55" dirty="0">
                <a:solidFill>
                  <a:srgbClr val="080808"/>
                </a:solidFill>
                <a:latin typeface="Times New Roman" panose="02020603050405020304" pitchFamily="18" charset="0"/>
                <a:cs typeface="Times New Roman" panose="02020603050405020304" pitchFamily="18" charset="0"/>
              </a:rPr>
              <a:t> </a:t>
            </a:r>
            <a:r>
              <a:rPr sz="1500" spc="-25" dirty="0">
                <a:solidFill>
                  <a:srgbClr val="080808"/>
                </a:solidFill>
                <a:latin typeface="Times New Roman" panose="02020603050405020304" pitchFamily="18" charset="0"/>
                <a:cs typeface="Times New Roman" panose="02020603050405020304" pitchFamily="18" charset="0"/>
              </a:rPr>
              <a:t>to </a:t>
            </a:r>
            <a:r>
              <a:rPr sz="1500" spc="55" dirty="0">
                <a:solidFill>
                  <a:srgbClr val="080808"/>
                </a:solidFill>
                <a:latin typeface="Times New Roman" panose="02020603050405020304" pitchFamily="18" charset="0"/>
                <a:cs typeface="Times New Roman" panose="02020603050405020304" pitchFamily="18" charset="0"/>
              </a:rPr>
              <a:t>train</a:t>
            </a:r>
            <a:r>
              <a:rPr sz="1500" spc="30" dirty="0">
                <a:solidFill>
                  <a:srgbClr val="080808"/>
                </a:solidFill>
                <a:latin typeface="Times New Roman" panose="02020603050405020304" pitchFamily="18" charset="0"/>
                <a:cs typeface="Times New Roman" panose="02020603050405020304" pitchFamily="18" charset="0"/>
              </a:rPr>
              <a:t> </a:t>
            </a:r>
            <a:r>
              <a:rPr sz="1500" dirty="0">
                <a:solidFill>
                  <a:srgbClr val="080808"/>
                </a:solidFill>
                <a:latin typeface="Times New Roman" panose="02020603050405020304" pitchFamily="18" charset="0"/>
                <a:cs typeface="Times New Roman" panose="02020603050405020304" pitchFamily="18" charset="0"/>
              </a:rPr>
              <a:t>a</a:t>
            </a:r>
            <a:r>
              <a:rPr sz="1500" spc="-20" dirty="0">
                <a:solidFill>
                  <a:srgbClr val="080808"/>
                </a:solidFill>
                <a:latin typeface="Times New Roman" panose="02020603050405020304" pitchFamily="18" charset="0"/>
                <a:cs typeface="Times New Roman" panose="02020603050405020304" pitchFamily="18" charset="0"/>
              </a:rPr>
              <a:t> </a:t>
            </a:r>
            <a:r>
              <a:rPr sz="1500" dirty="0">
                <a:solidFill>
                  <a:srgbClr val="080808"/>
                </a:solidFill>
                <a:latin typeface="Times New Roman" panose="02020603050405020304" pitchFamily="18" charset="0"/>
                <a:cs typeface="Times New Roman" panose="02020603050405020304" pitchFamily="18" charset="0"/>
              </a:rPr>
              <a:t>contrastive</a:t>
            </a:r>
            <a:r>
              <a:rPr sz="1500" spc="165" dirty="0">
                <a:solidFill>
                  <a:srgbClr val="080808"/>
                </a:solidFill>
                <a:latin typeface="Times New Roman" panose="02020603050405020304" pitchFamily="18" charset="0"/>
                <a:cs typeface="Times New Roman" panose="02020603050405020304" pitchFamily="18" charset="0"/>
              </a:rPr>
              <a:t> </a:t>
            </a:r>
            <a:r>
              <a:rPr sz="1500" dirty="0">
                <a:solidFill>
                  <a:srgbClr val="080808"/>
                </a:solidFill>
                <a:latin typeface="Times New Roman" panose="02020603050405020304" pitchFamily="18" charset="0"/>
                <a:cs typeface="Times New Roman" panose="02020603050405020304" pitchFamily="18" charset="0"/>
              </a:rPr>
              <a:t>learning</a:t>
            </a:r>
            <a:r>
              <a:rPr sz="1500" spc="190" dirty="0">
                <a:solidFill>
                  <a:srgbClr val="080808"/>
                </a:solidFill>
                <a:latin typeface="Times New Roman" panose="02020603050405020304" pitchFamily="18" charset="0"/>
                <a:cs typeface="Times New Roman" panose="02020603050405020304" pitchFamily="18" charset="0"/>
              </a:rPr>
              <a:t> </a:t>
            </a:r>
            <a:r>
              <a:rPr sz="1500" spc="75" dirty="0">
                <a:solidFill>
                  <a:srgbClr val="080808"/>
                </a:solidFill>
                <a:latin typeface="Times New Roman" panose="02020603050405020304" pitchFamily="18" charset="0"/>
                <a:cs typeface="Times New Roman" panose="02020603050405020304" pitchFamily="18" charset="0"/>
              </a:rPr>
              <a:t>model</a:t>
            </a:r>
            <a:r>
              <a:rPr sz="1500" spc="-20" dirty="0">
                <a:solidFill>
                  <a:srgbClr val="080808"/>
                </a:solidFill>
                <a:latin typeface="Times New Roman" panose="02020603050405020304" pitchFamily="18" charset="0"/>
                <a:cs typeface="Times New Roman" panose="02020603050405020304" pitchFamily="18" charset="0"/>
              </a:rPr>
              <a:t> </a:t>
            </a:r>
            <a:r>
              <a:rPr sz="1500" spc="85" dirty="0">
                <a:solidFill>
                  <a:srgbClr val="080808"/>
                </a:solidFill>
                <a:latin typeface="Times New Roman" panose="02020603050405020304" pitchFamily="18" charset="0"/>
                <a:cs typeface="Times New Roman" panose="02020603050405020304" pitchFamily="18" charset="0"/>
              </a:rPr>
              <a:t>that</a:t>
            </a:r>
            <a:r>
              <a:rPr sz="1500" spc="55" dirty="0">
                <a:solidFill>
                  <a:srgbClr val="080808"/>
                </a:solidFill>
                <a:latin typeface="Times New Roman" panose="02020603050405020304" pitchFamily="18" charset="0"/>
                <a:cs typeface="Times New Roman" panose="02020603050405020304" pitchFamily="18" charset="0"/>
              </a:rPr>
              <a:t> </a:t>
            </a:r>
            <a:r>
              <a:rPr sz="1500" dirty="0">
                <a:solidFill>
                  <a:srgbClr val="080808"/>
                </a:solidFill>
                <a:latin typeface="Times New Roman" panose="02020603050405020304" pitchFamily="18" charset="0"/>
                <a:cs typeface="Times New Roman" panose="02020603050405020304" pitchFamily="18" charset="0"/>
              </a:rPr>
              <a:t>learns</a:t>
            </a:r>
            <a:r>
              <a:rPr sz="1500" spc="-5" dirty="0">
                <a:solidFill>
                  <a:srgbClr val="080808"/>
                </a:solidFill>
                <a:latin typeface="Times New Roman" panose="02020603050405020304" pitchFamily="18" charset="0"/>
                <a:cs typeface="Times New Roman" panose="02020603050405020304" pitchFamily="18" charset="0"/>
              </a:rPr>
              <a:t> </a:t>
            </a:r>
            <a:r>
              <a:rPr sz="1500" spc="50" dirty="0">
                <a:solidFill>
                  <a:srgbClr val="080808"/>
                </a:solidFill>
                <a:latin typeface="Times New Roman" panose="02020603050405020304" pitchFamily="18" charset="0"/>
                <a:cs typeface="Times New Roman" panose="02020603050405020304" pitchFamily="18" charset="0"/>
              </a:rPr>
              <a:t>robust </a:t>
            </a:r>
            <a:r>
              <a:rPr sz="1500" spc="55" dirty="0">
                <a:solidFill>
                  <a:srgbClr val="080808"/>
                </a:solidFill>
                <a:latin typeface="Times New Roman" panose="02020603050405020304" pitchFamily="18" charset="0"/>
                <a:cs typeface="Times New Roman" panose="02020603050405020304" pitchFamily="18" charset="0"/>
              </a:rPr>
              <a:t>textual</a:t>
            </a:r>
            <a:r>
              <a:rPr sz="1500" spc="-20" dirty="0">
                <a:solidFill>
                  <a:srgbClr val="080808"/>
                </a:solidFill>
                <a:latin typeface="Times New Roman" panose="02020603050405020304" pitchFamily="18" charset="0"/>
                <a:cs typeface="Times New Roman" panose="02020603050405020304" pitchFamily="18" charset="0"/>
              </a:rPr>
              <a:t> </a:t>
            </a:r>
            <a:r>
              <a:rPr sz="1500" spc="60" dirty="0">
                <a:solidFill>
                  <a:srgbClr val="080808"/>
                </a:solidFill>
                <a:latin typeface="Times New Roman" panose="02020603050405020304" pitchFamily="18" charset="0"/>
                <a:cs typeface="Times New Roman" panose="02020603050405020304" pitchFamily="18" charset="0"/>
              </a:rPr>
              <a:t>representations</a:t>
            </a:r>
            <a:r>
              <a:rPr sz="1500" spc="-185" dirty="0">
                <a:solidFill>
                  <a:srgbClr val="080808"/>
                </a:solidFill>
                <a:latin typeface="Times New Roman" panose="02020603050405020304" pitchFamily="18" charset="0"/>
                <a:cs typeface="Times New Roman" panose="02020603050405020304" pitchFamily="18" charset="0"/>
              </a:rPr>
              <a:t> </a:t>
            </a:r>
            <a:r>
              <a:rPr sz="1500" spc="30" dirty="0">
                <a:solidFill>
                  <a:srgbClr val="080808"/>
                </a:solidFill>
                <a:latin typeface="Times New Roman" panose="02020603050405020304" pitchFamily="18" charset="0"/>
                <a:cs typeface="Times New Roman" panose="02020603050405020304" pitchFamily="18" charset="0"/>
              </a:rPr>
              <a:t>and</a:t>
            </a:r>
            <a:r>
              <a:rPr sz="1500" spc="-10" dirty="0">
                <a:solidFill>
                  <a:srgbClr val="080808"/>
                </a:solidFill>
                <a:latin typeface="Times New Roman" panose="02020603050405020304" pitchFamily="18" charset="0"/>
                <a:cs typeface="Times New Roman" panose="02020603050405020304" pitchFamily="18" charset="0"/>
              </a:rPr>
              <a:t> </a:t>
            </a:r>
            <a:r>
              <a:rPr sz="1500" spc="60" dirty="0">
                <a:solidFill>
                  <a:srgbClr val="080808"/>
                </a:solidFill>
                <a:latin typeface="Times New Roman" panose="02020603050405020304" pitchFamily="18" charset="0"/>
                <a:cs typeface="Times New Roman" panose="02020603050405020304" pitchFamily="18" charset="0"/>
              </a:rPr>
              <a:t>performs</a:t>
            </a:r>
            <a:r>
              <a:rPr sz="1500" spc="10" dirty="0">
                <a:solidFill>
                  <a:srgbClr val="080808"/>
                </a:solidFill>
                <a:latin typeface="Times New Roman" panose="02020603050405020304" pitchFamily="18" charset="0"/>
                <a:cs typeface="Times New Roman" panose="02020603050405020304" pitchFamily="18" charset="0"/>
              </a:rPr>
              <a:t> </a:t>
            </a:r>
            <a:r>
              <a:rPr sz="1500" spc="30" dirty="0">
                <a:solidFill>
                  <a:srgbClr val="080808"/>
                </a:solidFill>
                <a:latin typeface="Times New Roman" panose="02020603050405020304" pitchFamily="18" charset="0"/>
                <a:cs typeface="Times New Roman" panose="02020603050405020304" pitchFamily="18" charset="0"/>
              </a:rPr>
              <a:t>classification</a:t>
            </a:r>
            <a:r>
              <a:rPr sz="1500" spc="-130" dirty="0">
                <a:solidFill>
                  <a:srgbClr val="080808"/>
                </a:solidFill>
                <a:latin typeface="Times New Roman" panose="02020603050405020304" pitchFamily="18" charset="0"/>
                <a:cs typeface="Times New Roman" panose="02020603050405020304" pitchFamily="18" charset="0"/>
              </a:rPr>
              <a:t> </a:t>
            </a:r>
            <a:r>
              <a:rPr sz="1500" spc="-50" dirty="0">
                <a:solidFill>
                  <a:srgbClr val="080808"/>
                </a:solidFill>
                <a:latin typeface="Times New Roman" panose="02020603050405020304" pitchFamily="18" charset="0"/>
                <a:cs typeface="Times New Roman" panose="02020603050405020304" pitchFamily="18" charset="0"/>
              </a:rPr>
              <a:t>. </a:t>
            </a:r>
            <a:r>
              <a:rPr sz="1500" spc="65" dirty="0">
                <a:solidFill>
                  <a:srgbClr val="080808"/>
                </a:solidFill>
                <a:latin typeface="Times New Roman" panose="02020603050405020304" pitchFamily="18" charset="0"/>
                <a:cs typeface="Times New Roman" panose="02020603050405020304" pitchFamily="18" charset="0"/>
              </a:rPr>
              <a:t>During </a:t>
            </a:r>
            <a:r>
              <a:rPr sz="1500" dirty="0">
                <a:solidFill>
                  <a:srgbClr val="080808"/>
                </a:solidFill>
                <a:latin typeface="Times New Roman" panose="02020603050405020304" pitchFamily="18" charset="0"/>
                <a:cs typeface="Times New Roman" panose="02020603050405020304" pitchFamily="18" charset="0"/>
              </a:rPr>
              <a:t>inference,</a:t>
            </a:r>
            <a:r>
              <a:rPr sz="1500" spc="114" dirty="0">
                <a:solidFill>
                  <a:srgbClr val="080808"/>
                </a:solidFill>
                <a:latin typeface="Times New Roman" panose="02020603050405020304" pitchFamily="18" charset="0"/>
                <a:cs typeface="Times New Roman" panose="02020603050405020304" pitchFamily="18" charset="0"/>
              </a:rPr>
              <a:t> </a:t>
            </a:r>
            <a:r>
              <a:rPr sz="1500" spc="-55" dirty="0">
                <a:solidFill>
                  <a:srgbClr val="080808"/>
                </a:solidFill>
                <a:latin typeface="Times New Roman" panose="02020603050405020304" pitchFamily="18" charset="0"/>
                <a:cs typeface="Times New Roman" panose="02020603050405020304" pitchFamily="18" charset="0"/>
              </a:rPr>
              <a:t>a</a:t>
            </a:r>
            <a:r>
              <a:rPr sz="1500" spc="105" dirty="0">
                <a:solidFill>
                  <a:srgbClr val="080808"/>
                </a:solidFill>
                <a:latin typeface="Times New Roman" panose="02020603050405020304" pitchFamily="18" charset="0"/>
                <a:cs typeface="Times New Roman" panose="02020603050405020304" pitchFamily="18" charset="0"/>
              </a:rPr>
              <a:t> </a:t>
            </a:r>
            <a:r>
              <a:rPr sz="1500" spc="70" dirty="0">
                <a:solidFill>
                  <a:srgbClr val="080808"/>
                </a:solidFill>
                <a:latin typeface="Times New Roman" panose="02020603050405020304" pitchFamily="18" charset="0"/>
                <a:cs typeface="Times New Roman" panose="02020603050405020304" pitchFamily="18" charset="0"/>
              </a:rPr>
              <a:t>fact</a:t>
            </a:r>
            <a:r>
              <a:rPr sz="1500" spc="100" dirty="0">
                <a:solidFill>
                  <a:srgbClr val="080808"/>
                </a:solidFill>
                <a:latin typeface="Times New Roman" panose="02020603050405020304" pitchFamily="18" charset="0"/>
                <a:cs typeface="Times New Roman" panose="02020603050405020304" pitchFamily="18" charset="0"/>
              </a:rPr>
              <a:t> </a:t>
            </a:r>
            <a:r>
              <a:rPr sz="1500" dirty="0">
                <a:solidFill>
                  <a:srgbClr val="080808"/>
                </a:solidFill>
                <a:latin typeface="Times New Roman" panose="02020603050405020304" pitchFamily="18" charset="0"/>
                <a:cs typeface="Times New Roman" panose="02020603050405020304" pitchFamily="18" charset="0"/>
              </a:rPr>
              <a:t>verification</a:t>
            </a:r>
            <a:r>
              <a:rPr sz="1500" spc="170" dirty="0">
                <a:solidFill>
                  <a:srgbClr val="080808"/>
                </a:solidFill>
                <a:latin typeface="Times New Roman" panose="02020603050405020304" pitchFamily="18" charset="0"/>
                <a:cs typeface="Times New Roman" panose="02020603050405020304" pitchFamily="18" charset="0"/>
              </a:rPr>
              <a:t> </a:t>
            </a:r>
            <a:r>
              <a:rPr sz="1500" spc="55" dirty="0">
                <a:solidFill>
                  <a:srgbClr val="080808"/>
                </a:solidFill>
                <a:latin typeface="Times New Roman" panose="02020603050405020304" pitchFamily="18" charset="0"/>
                <a:cs typeface="Times New Roman" panose="02020603050405020304" pitchFamily="18" charset="0"/>
              </a:rPr>
              <a:t>module</a:t>
            </a:r>
            <a:r>
              <a:rPr sz="1500" spc="500" dirty="0">
                <a:solidFill>
                  <a:srgbClr val="080808"/>
                </a:solidFill>
                <a:latin typeface="Times New Roman" panose="02020603050405020304" pitchFamily="18" charset="0"/>
                <a:cs typeface="Times New Roman" panose="02020603050405020304" pitchFamily="18" charset="0"/>
              </a:rPr>
              <a:t> </a:t>
            </a:r>
            <a:r>
              <a:rPr sz="1500" spc="10" dirty="0">
                <a:solidFill>
                  <a:srgbClr val="080808"/>
                </a:solidFill>
                <a:latin typeface="Times New Roman" panose="02020603050405020304" pitchFamily="18" charset="0"/>
                <a:cs typeface="Times New Roman" panose="02020603050405020304" pitchFamily="18" charset="0"/>
              </a:rPr>
              <a:t>evaluates</a:t>
            </a:r>
            <a:r>
              <a:rPr sz="1500" spc="50" dirty="0">
                <a:solidFill>
                  <a:srgbClr val="080808"/>
                </a:solidFill>
                <a:latin typeface="Times New Roman" panose="02020603050405020304" pitchFamily="18" charset="0"/>
                <a:cs typeface="Times New Roman" panose="02020603050405020304" pitchFamily="18" charset="0"/>
              </a:rPr>
              <a:t> </a:t>
            </a:r>
            <a:r>
              <a:rPr sz="1500" spc="55" dirty="0">
                <a:solidFill>
                  <a:srgbClr val="080808"/>
                </a:solidFill>
                <a:latin typeface="Times New Roman" panose="02020603050405020304" pitchFamily="18" charset="0"/>
                <a:cs typeface="Times New Roman" panose="02020603050405020304" pitchFamily="18" charset="0"/>
              </a:rPr>
              <a:t>extracted</a:t>
            </a:r>
            <a:r>
              <a:rPr sz="1500" spc="114" dirty="0">
                <a:solidFill>
                  <a:srgbClr val="080808"/>
                </a:solidFill>
                <a:latin typeface="Times New Roman" panose="02020603050405020304" pitchFamily="18" charset="0"/>
                <a:cs typeface="Times New Roman" panose="02020603050405020304" pitchFamily="18" charset="0"/>
              </a:rPr>
              <a:t> </a:t>
            </a:r>
            <a:r>
              <a:rPr sz="1500" spc="10" dirty="0">
                <a:solidFill>
                  <a:srgbClr val="080808"/>
                </a:solidFill>
                <a:latin typeface="Times New Roman" panose="02020603050405020304" pitchFamily="18" charset="0"/>
                <a:cs typeface="Times New Roman" panose="02020603050405020304" pitchFamily="18" charset="0"/>
              </a:rPr>
              <a:t>claims</a:t>
            </a:r>
            <a:r>
              <a:rPr sz="1500" spc="-50" dirty="0">
                <a:solidFill>
                  <a:srgbClr val="080808"/>
                </a:solidFill>
                <a:latin typeface="Times New Roman" panose="02020603050405020304" pitchFamily="18" charset="0"/>
                <a:cs typeface="Times New Roman" panose="02020603050405020304" pitchFamily="18" charset="0"/>
              </a:rPr>
              <a:t> </a:t>
            </a:r>
            <a:r>
              <a:rPr sz="1500" spc="10" dirty="0">
                <a:solidFill>
                  <a:srgbClr val="080808"/>
                </a:solidFill>
                <a:latin typeface="Times New Roman" panose="02020603050405020304" pitchFamily="18" charset="0"/>
                <a:cs typeface="Times New Roman" panose="02020603050405020304" pitchFamily="18" charset="0"/>
              </a:rPr>
              <a:t>against</a:t>
            </a:r>
            <a:r>
              <a:rPr sz="1500" spc="100" dirty="0">
                <a:solidFill>
                  <a:srgbClr val="080808"/>
                </a:solidFill>
                <a:latin typeface="Times New Roman" panose="02020603050405020304" pitchFamily="18" charset="0"/>
                <a:cs typeface="Times New Roman" panose="02020603050405020304" pitchFamily="18" charset="0"/>
              </a:rPr>
              <a:t> </a:t>
            </a:r>
            <a:r>
              <a:rPr sz="1500" spc="-10" dirty="0">
                <a:solidFill>
                  <a:srgbClr val="080808"/>
                </a:solidFill>
                <a:latin typeface="Times New Roman" panose="02020603050405020304" pitchFamily="18" charset="0"/>
                <a:cs typeface="Times New Roman" panose="02020603050405020304" pitchFamily="18" charset="0"/>
              </a:rPr>
              <a:t>external </a:t>
            </a:r>
            <a:r>
              <a:rPr sz="1500" spc="55" dirty="0">
                <a:solidFill>
                  <a:srgbClr val="080808"/>
                </a:solidFill>
                <a:latin typeface="Times New Roman" panose="02020603050405020304" pitchFamily="18" charset="0"/>
                <a:cs typeface="Times New Roman" panose="02020603050405020304" pitchFamily="18" charset="0"/>
              </a:rPr>
              <a:t>knowledge</a:t>
            </a:r>
            <a:r>
              <a:rPr sz="1500" spc="40" dirty="0">
                <a:solidFill>
                  <a:srgbClr val="080808"/>
                </a:solidFill>
                <a:latin typeface="Times New Roman" panose="02020603050405020304" pitchFamily="18" charset="0"/>
                <a:cs typeface="Times New Roman" panose="02020603050405020304" pitchFamily="18" charset="0"/>
              </a:rPr>
              <a:t> </a:t>
            </a:r>
            <a:r>
              <a:rPr sz="1500" dirty="0">
                <a:solidFill>
                  <a:srgbClr val="080808"/>
                </a:solidFill>
                <a:latin typeface="Times New Roman" panose="02020603050405020304" pitchFamily="18" charset="0"/>
                <a:cs typeface="Times New Roman" panose="02020603050405020304" pitchFamily="18" charset="0"/>
              </a:rPr>
              <a:t>sources</a:t>
            </a:r>
            <a:r>
              <a:rPr sz="1500" spc="20" dirty="0">
                <a:solidFill>
                  <a:srgbClr val="080808"/>
                </a:solidFill>
                <a:latin typeface="Times New Roman" panose="02020603050405020304" pitchFamily="18" charset="0"/>
                <a:cs typeface="Times New Roman" panose="02020603050405020304" pitchFamily="18" charset="0"/>
              </a:rPr>
              <a:t> </a:t>
            </a:r>
            <a:r>
              <a:rPr sz="1500" dirty="0">
                <a:solidFill>
                  <a:srgbClr val="080808"/>
                </a:solidFill>
                <a:latin typeface="Times New Roman" panose="02020603050405020304" pitchFamily="18" charset="0"/>
                <a:cs typeface="Times New Roman" panose="02020603050405020304" pitchFamily="18" charset="0"/>
              </a:rPr>
              <a:t>to</a:t>
            </a:r>
            <a:r>
              <a:rPr sz="1500" spc="210" dirty="0">
                <a:solidFill>
                  <a:srgbClr val="080808"/>
                </a:solidFill>
                <a:latin typeface="Times New Roman" panose="02020603050405020304" pitchFamily="18" charset="0"/>
                <a:cs typeface="Times New Roman" panose="02020603050405020304" pitchFamily="18" charset="0"/>
              </a:rPr>
              <a:t> </a:t>
            </a:r>
            <a:r>
              <a:rPr sz="1500" spc="80" dirty="0">
                <a:solidFill>
                  <a:srgbClr val="080808"/>
                </a:solidFill>
                <a:latin typeface="Times New Roman" panose="02020603050405020304" pitchFamily="18" charset="0"/>
                <a:cs typeface="Times New Roman" panose="02020603050405020304" pitchFamily="18" charset="0"/>
              </a:rPr>
              <a:t>compute</a:t>
            </a:r>
            <a:r>
              <a:rPr sz="1500" spc="60" dirty="0">
                <a:solidFill>
                  <a:srgbClr val="080808"/>
                </a:solidFill>
                <a:latin typeface="Times New Roman" panose="02020603050405020304" pitchFamily="18" charset="0"/>
                <a:cs typeface="Times New Roman" panose="02020603050405020304" pitchFamily="18" charset="0"/>
              </a:rPr>
              <a:t> </a:t>
            </a:r>
            <a:r>
              <a:rPr sz="1500" dirty="0">
                <a:solidFill>
                  <a:srgbClr val="080808"/>
                </a:solidFill>
                <a:latin typeface="Times New Roman" panose="02020603050405020304" pitchFamily="18" charset="0"/>
                <a:cs typeface="Times New Roman" panose="02020603050405020304" pitchFamily="18" charset="0"/>
              </a:rPr>
              <a:t>factual</a:t>
            </a:r>
            <a:r>
              <a:rPr sz="1500" spc="30" dirty="0">
                <a:solidFill>
                  <a:srgbClr val="080808"/>
                </a:solidFill>
                <a:latin typeface="Times New Roman" panose="02020603050405020304" pitchFamily="18" charset="0"/>
                <a:cs typeface="Times New Roman" panose="02020603050405020304" pitchFamily="18" charset="0"/>
              </a:rPr>
              <a:t> </a:t>
            </a:r>
            <a:r>
              <a:rPr sz="1500" spc="50" dirty="0">
                <a:solidFill>
                  <a:srgbClr val="080808"/>
                </a:solidFill>
                <a:latin typeface="Times New Roman" panose="02020603050405020304" pitchFamily="18" charset="0"/>
                <a:cs typeface="Times New Roman" panose="02020603050405020304" pitchFamily="18" charset="0"/>
              </a:rPr>
              <a:t>consistency. </a:t>
            </a:r>
            <a:r>
              <a:rPr sz="1500" dirty="0">
                <a:solidFill>
                  <a:srgbClr val="080808"/>
                </a:solidFill>
                <a:latin typeface="Times New Roman" panose="02020603050405020304" pitchFamily="18" charset="0"/>
                <a:cs typeface="Times New Roman" panose="02020603050405020304" pitchFamily="18" charset="0"/>
              </a:rPr>
              <a:t>Finally,</a:t>
            </a:r>
            <a:r>
              <a:rPr sz="1500" spc="-10" dirty="0">
                <a:solidFill>
                  <a:srgbClr val="080808"/>
                </a:solidFill>
                <a:latin typeface="Times New Roman" panose="02020603050405020304" pitchFamily="18" charset="0"/>
                <a:cs typeface="Times New Roman" panose="02020603050405020304" pitchFamily="18" charset="0"/>
              </a:rPr>
              <a:t> </a:t>
            </a:r>
            <a:r>
              <a:rPr sz="1500" dirty="0">
                <a:solidFill>
                  <a:srgbClr val="080808"/>
                </a:solidFill>
                <a:latin typeface="Times New Roman" panose="02020603050405020304" pitchFamily="18" charset="0"/>
                <a:cs typeface="Times New Roman" panose="02020603050405020304" pitchFamily="18" charset="0"/>
              </a:rPr>
              <a:t>the</a:t>
            </a:r>
            <a:r>
              <a:rPr sz="1500" spc="305" dirty="0">
                <a:solidFill>
                  <a:srgbClr val="080808"/>
                </a:solidFill>
                <a:latin typeface="Times New Roman" panose="02020603050405020304" pitchFamily="18" charset="0"/>
                <a:cs typeface="Times New Roman" panose="02020603050405020304" pitchFamily="18" charset="0"/>
              </a:rPr>
              <a:t> </a:t>
            </a:r>
            <a:r>
              <a:rPr sz="1500" dirty="0">
                <a:solidFill>
                  <a:srgbClr val="080808"/>
                </a:solidFill>
                <a:latin typeface="Times New Roman" panose="02020603050405020304" pitchFamily="18" charset="0"/>
                <a:cs typeface="Times New Roman" panose="02020603050405020304" pitchFamily="18" charset="0"/>
              </a:rPr>
              <a:t>system</a:t>
            </a:r>
            <a:r>
              <a:rPr sz="1500" spc="-65" dirty="0">
                <a:solidFill>
                  <a:srgbClr val="080808"/>
                </a:solidFill>
                <a:latin typeface="Times New Roman" panose="02020603050405020304" pitchFamily="18" charset="0"/>
                <a:cs typeface="Times New Roman" panose="02020603050405020304" pitchFamily="18" charset="0"/>
              </a:rPr>
              <a:t> </a:t>
            </a:r>
            <a:r>
              <a:rPr sz="1500" spc="60" dirty="0">
                <a:solidFill>
                  <a:srgbClr val="080808"/>
                </a:solidFill>
                <a:latin typeface="Times New Roman" panose="02020603050405020304" pitchFamily="18" charset="0"/>
                <a:cs typeface="Times New Roman" panose="02020603050405020304" pitchFamily="18" charset="0"/>
              </a:rPr>
              <a:t>combines</a:t>
            </a:r>
            <a:r>
              <a:rPr sz="1500" spc="-10" dirty="0">
                <a:solidFill>
                  <a:srgbClr val="080808"/>
                </a:solidFill>
                <a:latin typeface="Times New Roman" panose="02020603050405020304" pitchFamily="18" charset="0"/>
                <a:cs typeface="Times New Roman" panose="02020603050405020304" pitchFamily="18" charset="0"/>
              </a:rPr>
              <a:t> learned</a:t>
            </a:r>
            <a:r>
              <a:rPr sz="1500" spc="500" dirty="0">
                <a:solidFill>
                  <a:srgbClr val="080808"/>
                </a:solidFill>
                <a:latin typeface="Times New Roman" panose="02020603050405020304" pitchFamily="18" charset="0"/>
                <a:cs typeface="Times New Roman" panose="02020603050405020304" pitchFamily="18" charset="0"/>
              </a:rPr>
              <a:t> </a:t>
            </a:r>
            <a:r>
              <a:rPr sz="1500" spc="60" dirty="0">
                <a:solidFill>
                  <a:srgbClr val="080808"/>
                </a:solidFill>
                <a:latin typeface="Times New Roman" panose="02020603050405020304" pitchFamily="18" charset="0"/>
                <a:cs typeface="Times New Roman" panose="02020603050405020304" pitchFamily="18" charset="0"/>
              </a:rPr>
              <a:t>representations</a:t>
            </a:r>
            <a:r>
              <a:rPr sz="1500" spc="-175" dirty="0">
                <a:solidFill>
                  <a:srgbClr val="080808"/>
                </a:solidFill>
                <a:latin typeface="Times New Roman" panose="02020603050405020304" pitchFamily="18" charset="0"/>
                <a:cs typeface="Times New Roman" panose="02020603050405020304" pitchFamily="18" charset="0"/>
              </a:rPr>
              <a:t> </a:t>
            </a:r>
            <a:r>
              <a:rPr sz="1500" spc="85" dirty="0">
                <a:solidFill>
                  <a:srgbClr val="080808"/>
                </a:solidFill>
                <a:latin typeface="Times New Roman" panose="02020603050405020304" pitchFamily="18" charset="0"/>
                <a:cs typeface="Times New Roman" panose="02020603050405020304" pitchFamily="18" charset="0"/>
              </a:rPr>
              <a:t>with</a:t>
            </a:r>
            <a:r>
              <a:rPr sz="1500" spc="-55" dirty="0">
                <a:solidFill>
                  <a:srgbClr val="080808"/>
                </a:solidFill>
                <a:latin typeface="Times New Roman" panose="02020603050405020304" pitchFamily="18" charset="0"/>
                <a:cs typeface="Times New Roman" panose="02020603050405020304" pitchFamily="18" charset="0"/>
              </a:rPr>
              <a:t> </a:t>
            </a:r>
            <a:r>
              <a:rPr sz="1500" dirty="0">
                <a:solidFill>
                  <a:srgbClr val="080808"/>
                </a:solidFill>
                <a:latin typeface="Times New Roman" panose="02020603050405020304" pitchFamily="18" charset="0"/>
                <a:cs typeface="Times New Roman" panose="02020603050405020304" pitchFamily="18" charset="0"/>
              </a:rPr>
              <a:t>factual </a:t>
            </a:r>
            <a:r>
              <a:rPr sz="1500" spc="60" dirty="0">
                <a:solidFill>
                  <a:srgbClr val="080808"/>
                </a:solidFill>
                <a:latin typeface="Times New Roman" panose="02020603050405020304" pitchFamily="18" charset="0"/>
                <a:cs typeface="Times New Roman" panose="02020603050405020304" pitchFamily="18" charset="0"/>
              </a:rPr>
              <a:t>grounding</a:t>
            </a:r>
            <a:r>
              <a:rPr sz="1500" spc="75" dirty="0">
                <a:solidFill>
                  <a:srgbClr val="080808"/>
                </a:solidFill>
                <a:latin typeface="Times New Roman" panose="02020603050405020304" pitchFamily="18" charset="0"/>
                <a:cs typeface="Times New Roman" panose="02020603050405020304" pitchFamily="18" charset="0"/>
              </a:rPr>
              <a:t> </a:t>
            </a:r>
            <a:r>
              <a:rPr sz="1500" spc="50" dirty="0">
                <a:solidFill>
                  <a:srgbClr val="080808"/>
                </a:solidFill>
                <a:latin typeface="Times New Roman" panose="02020603050405020304" pitchFamily="18" charset="0"/>
                <a:cs typeface="Times New Roman" panose="02020603050405020304" pitchFamily="18" charset="0"/>
              </a:rPr>
              <a:t>to</a:t>
            </a:r>
            <a:r>
              <a:rPr sz="1500" spc="75" dirty="0">
                <a:solidFill>
                  <a:srgbClr val="080808"/>
                </a:solidFill>
                <a:latin typeface="Times New Roman" panose="02020603050405020304" pitchFamily="18" charset="0"/>
                <a:cs typeface="Times New Roman" panose="02020603050405020304" pitchFamily="18" charset="0"/>
              </a:rPr>
              <a:t> </a:t>
            </a:r>
            <a:r>
              <a:rPr sz="1500" spc="50" dirty="0">
                <a:solidFill>
                  <a:srgbClr val="080808"/>
                </a:solidFill>
                <a:latin typeface="Times New Roman" panose="02020603050405020304" pitchFamily="18" charset="0"/>
                <a:cs typeface="Times New Roman" panose="02020603050405020304" pitchFamily="18" charset="0"/>
              </a:rPr>
              <a:t>produce </a:t>
            </a:r>
            <a:r>
              <a:rPr sz="1500" dirty="0">
                <a:solidFill>
                  <a:srgbClr val="080808"/>
                </a:solidFill>
                <a:latin typeface="Times New Roman" panose="02020603050405020304" pitchFamily="18" charset="0"/>
                <a:cs typeface="Times New Roman" panose="02020603050405020304" pitchFamily="18" charset="0"/>
              </a:rPr>
              <a:t>reliable</a:t>
            </a:r>
            <a:r>
              <a:rPr sz="1500" spc="50" dirty="0">
                <a:solidFill>
                  <a:srgbClr val="080808"/>
                </a:solidFill>
                <a:latin typeface="Times New Roman" panose="02020603050405020304" pitchFamily="18" charset="0"/>
                <a:cs typeface="Times New Roman" panose="02020603050405020304" pitchFamily="18" charset="0"/>
              </a:rPr>
              <a:t> </a:t>
            </a:r>
            <a:r>
              <a:rPr sz="1500" dirty="0">
                <a:solidFill>
                  <a:srgbClr val="080808"/>
                </a:solidFill>
                <a:latin typeface="Times New Roman" panose="02020603050405020304" pitchFamily="18" charset="0"/>
                <a:cs typeface="Times New Roman" panose="02020603050405020304" pitchFamily="18" charset="0"/>
              </a:rPr>
              <a:t>and</a:t>
            </a:r>
            <a:r>
              <a:rPr sz="1500" spc="50" dirty="0">
                <a:solidFill>
                  <a:srgbClr val="080808"/>
                </a:solidFill>
                <a:latin typeface="Times New Roman" panose="02020603050405020304" pitchFamily="18" charset="0"/>
                <a:cs typeface="Times New Roman" panose="02020603050405020304" pitchFamily="18" charset="0"/>
              </a:rPr>
              <a:t> interpretable</a:t>
            </a:r>
            <a:r>
              <a:rPr sz="1500" spc="90" dirty="0">
                <a:solidFill>
                  <a:srgbClr val="080808"/>
                </a:solidFill>
                <a:latin typeface="Times New Roman" panose="02020603050405020304" pitchFamily="18" charset="0"/>
                <a:cs typeface="Times New Roman" panose="02020603050405020304" pitchFamily="18" charset="0"/>
              </a:rPr>
              <a:t> </a:t>
            </a:r>
            <a:r>
              <a:rPr sz="1500" spc="65" dirty="0">
                <a:solidFill>
                  <a:srgbClr val="080808"/>
                </a:solidFill>
                <a:latin typeface="Times New Roman" panose="02020603050405020304" pitchFamily="18" charset="0"/>
                <a:cs typeface="Times New Roman" panose="02020603050405020304" pitchFamily="18" charset="0"/>
              </a:rPr>
              <a:t>misinformation</a:t>
            </a:r>
            <a:r>
              <a:rPr sz="1500" spc="-105" dirty="0">
                <a:solidFill>
                  <a:srgbClr val="080808"/>
                </a:solidFill>
                <a:latin typeface="Times New Roman" panose="02020603050405020304" pitchFamily="18" charset="0"/>
                <a:cs typeface="Times New Roman" panose="02020603050405020304" pitchFamily="18" charset="0"/>
              </a:rPr>
              <a:t> </a:t>
            </a:r>
            <a:r>
              <a:rPr sz="1500" spc="65" dirty="0">
                <a:solidFill>
                  <a:srgbClr val="080808"/>
                </a:solidFill>
                <a:latin typeface="Times New Roman" panose="02020603050405020304" pitchFamily="18" charset="0"/>
                <a:cs typeface="Times New Roman" panose="02020603050405020304" pitchFamily="18" charset="0"/>
              </a:rPr>
              <a:t>detection </a:t>
            </a:r>
            <a:r>
              <a:rPr sz="1500" spc="55" dirty="0">
                <a:solidFill>
                  <a:srgbClr val="080808"/>
                </a:solidFill>
                <a:latin typeface="Times New Roman" panose="02020603050405020304" pitchFamily="18" charset="0"/>
                <a:cs typeface="Times New Roman" panose="02020603050405020304" pitchFamily="18" charset="0"/>
              </a:rPr>
              <a:t>outcomes.</a:t>
            </a:r>
            <a:endParaRPr sz="1500" dirty="0">
              <a:solidFill>
                <a:srgbClr val="080808"/>
              </a:solidFill>
              <a:latin typeface="Times New Roman" panose="02020603050405020304" pitchFamily="18" charset="0"/>
              <a:cs typeface="Times New Roman" panose="02020603050405020304" pitchFamily="18" charset="0"/>
            </a:endParaRPr>
          </a:p>
        </p:txBody>
      </p:sp>
      <p:pic>
        <p:nvPicPr>
          <p:cNvPr id="93" name="Picture 92" descr="A diagram of a company&#10;&#10;AI-generated content may be incorrect.">
            <a:extLst>
              <a:ext uri="{FF2B5EF4-FFF2-40B4-BE49-F238E27FC236}">
                <a16:creationId xmlns:a16="http://schemas.microsoft.com/office/drawing/2014/main" id="{23E8AF69-FDAF-0F02-8446-44518D1860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17826" y="1609724"/>
            <a:ext cx="9683974" cy="6486525"/>
          </a:xfrm>
          <a:prstGeom prst="rect">
            <a:avLst/>
          </a:prstGeom>
        </p:spPr>
      </p:pic>
      <p:sp>
        <p:nvSpPr>
          <p:cNvPr id="2" name="TextBox 1">
            <a:extLst>
              <a:ext uri="{FF2B5EF4-FFF2-40B4-BE49-F238E27FC236}">
                <a16:creationId xmlns:a16="http://schemas.microsoft.com/office/drawing/2014/main" id="{6A341361-EBB6-0059-6FD1-1E0B4786663A}"/>
              </a:ext>
            </a:extLst>
          </p:cNvPr>
          <p:cNvSpPr txBox="1"/>
          <p:nvPr/>
        </p:nvSpPr>
        <p:spPr>
          <a:xfrm>
            <a:off x="419100" y="1295401"/>
            <a:ext cx="6696154" cy="830997"/>
          </a:xfrm>
          <a:prstGeom prst="rect">
            <a:avLst/>
          </a:prstGeom>
          <a:noFill/>
        </p:spPr>
        <p:txBody>
          <a:bodyPr wrap="square" rtlCol="0">
            <a:spAutoFit/>
          </a:bodyPr>
          <a:lstStyle/>
          <a:p>
            <a:r>
              <a:rPr lang="en-IN" sz="4800" b="1" spc="-170" dirty="0">
                <a:solidFill>
                  <a:srgbClr val="080808"/>
                </a:solidFill>
                <a:latin typeface="Times New Roman" panose="02020603050405020304" pitchFamily="18" charset="0"/>
                <a:cs typeface="Times New Roman" panose="02020603050405020304" pitchFamily="18" charset="0"/>
              </a:rPr>
              <a:t>Master </a:t>
            </a:r>
            <a:r>
              <a:rPr lang="en-IN" sz="4800" b="1" spc="-10" dirty="0">
                <a:solidFill>
                  <a:srgbClr val="080808"/>
                </a:solidFill>
                <a:latin typeface="Times New Roman" panose="02020603050405020304" pitchFamily="18" charset="0"/>
                <a:cs typeface="Times New Roman" panose="02020603050405020304" pitchFamily="18" charset="0"/>
              </a:rPr>
              <a:t>pipeline </a:t>
            </a:r>
            <a:r>
              <a:rPr lang="en-IN" sz="4400" b="1" spc="-10" dirty="0">
                <a:solidFill>
                  <a:srgbClr val="080808"/>
                </a:solidFill>
                <a:latin typeface="Times New Roman" panose="02020603050405020304" pitchFamily="18" charset="0"/>
                <a:cs typeface="Times New Roman" panose="02020603050405020304" pitchFamily="18" charset="0"/>
              </a:rPr>
              <a:t>overview</a:t>
            </a:r>
            <a:endParaRPr lang="en-IN" sz="4800" dirty="0">
              <a:solidFill>
                <a:srgbClr val="080808"/>
              </a:solidFill>
            </a:endParaRPr>
          </a:p>
        </p:txBody>
      </p:sp>
      <p:sp>
        <p:nvSpPr>
          <p:cNvPr id="3" name="TextBox 2">
            <a:extLst>
              <a:ext uri="{FF2B5EF4-FFF2-40B4-BE49-F238E27FC236}">
                <a16:creationId xmlns:a16="http://schemas.microsoft.com/office/drawing/2014/main" id="{7BA8E3A0-F9DE-2E11-2A07-3F2A877AF550}"/>
              </a:ext>
            </a:extLst>
          </p:cNvPr>
          <p:cNvSpPr txBox="1"/>
          <p:nvPr/>
        </p:nvSpPr>
        <p:spPr>
          <a:xfrm>
            <a:off x="408008" y="327275"/>
            <a:ext cx="7762954" cy="769441"/>
          </a:xfrm>
          <a:prstGeom prst="rect">
            <a:avLst/>
          </a:prstGeom>
          <a:noFill/>
        </p:spPr>
        <p:txBody>
          <a:bodyPr wrap="square" rtlCol="0">
            <a:spAutoFit/>
          </a:bodyPr>
          <a:lstStyle/>
          <a:p>
            <a:r>
              <a:rPr lang="en-US" sz="4400" b="1" dirty="0">
                <a:solidFill>
                  <a:srgbClr val="080808"/>
                </a:solidFill>
                <a:latin typeface="Times New Roman" panose="02020603050405020304" pitchFamily="18" charset="0"/>
                <a:cs typeface="Times New Roman" panose="02020603050405020304" pitchFamily="18" charset="0"/>
              </a:rPr>
              <a:t>Proposed Methodology</a:t>
            </a:r>
            <a:endParaRPr lang="en-IN" sz="4400" b="1" dirty="0">
              <a:solidFill>
                <a:srgbClr val="080808"/>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24538" y="625539"/>
            <a:ext cx="13534362" cy="843821"/>
          </a:xfrm>
          <a:prstGeom prst="rect">
            <a:avLst/>
          </a:prstGeom>
        </p:spPr>
        <p:txBody>
          <a:bodyPr vert="horz" wrap="square" lIns="0" tIns="12700" rIns="0" bIns="0" rtlCol="0">
            <a:spAutoFit/>
          </a:bodyPr>
          <a:lstStyle/>
          <a:p>
            <a:pPr marL="12700">
              <a:lnSpc>
                <a:spcPct val="100000"/>
              </a:lnSpc>
              <a:spcBef>
                <a:spcPts val="100"/>
              </a:spcBef>
            </a:pPr>
            <a:r>
              <a:rPr sz="5400" spc="55" dirty="0">
                <a:solidFill>
                  <a:srgbClr val="080808"/>
                </a:solidFill>
                <a:latin typeface="Times New Roman" panose="02020603050405020304" pitchFamily="18" charset="0"/>
                <a:cs typeface="Times New Roman" panose="02020603050405020304" pitchFamily="18" charset="0"/>
              </a:rPr>
              <a:t>Phase</a:t>
            </a:r>
            <a:r>
              <a:rPr sz="5400" spc="-200" dirty="0">
                <a:solidFill>
                  <a:srgbClr val="080808"/>
                </a:solidFill>
                <a:latin typeface="Times New Roman" panose="02020603050405020304" pitchFamily="18" charset="0"/>
                <a:cs typeface="Times New Roman" panose="02020603050405020304" pitchFamily="18" charset="0"/>
              </a:rPr>
              <a:t> </a:t>
            </a:r>
            <a:r>
              <a:rPr sz="5400" spc="10" dirty="0">
                <a:solidFill>
                  <a:srgbClr val="080808"/>
                </a:solidFill>
                <a:latin typeface="Times New Roman" panose="02020603050405020304" pitchFamily="18" charset="0"/>
                <a:cs typeface="Times New Roman" panose="02020603050405020304" pitchFamily="18" charset="0"/>
              </a:rPr>
              <a:t>1</a:t>
            </a:r>
            <a:r>
              <a:rPr lang="en-US" sz="5400" spc="10" dirty="0">
                <a:solidFill>
                  <a:srgbClr val="080808"/>
                </a:solidFill>
                <a:latin typeface="Times New Roman" panose="02020603050405020304" pitchFamily="18" charset="0"/>
                <a:cs typeface="Times New Roman" panose="02020603050405020304" pitchFamily="18" charset="0"/>
              </a:rPr>
              <a:t>: Data Preprocessing and Unification</a:t>
            </a:r>
            <a:endParaRPr sz="5400" dirty="0">
              <a:solidFill>
                <a:srgbClr val="080808"/>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515644" y="2426709"/>
            <a:ext cx="252095" cy="529590"/>
          </a:xfrm>
          <a:prstGeom prst="rect">
            <a:avLst/>
          </a:prstGeom>
        </p:spPr>
        <p:txBody>
          <a:bodyPr vert="horz" wrap="square" lIns="0" tIns="13335" rIns="0" bIns="0" rtlCol="0">
            <a:spAutoFit/>
          </a:bodyPr>
          <a:lstStyle/>
          <a:p>
            <a:pPr marL="12700">
              <a:lnSpc>
                <a:spcPct val="100000"/>
              </a:lnSpc>
              <a:spcBef>
                <a:spcPts val="105"/>
              </a:spcBef>
            </a:pPr>
            <a:r>
              <a:rPr sz="3300" spc="80" dirty="0">
                <a:solidFill>
                  <a:srgbClr val="0F0F0F"/>
                </a:solidFill>
                <a:latin typeface="Times New Roman" panose="02020603050405020304" pitchFamily="18" charset="0"/>
                <a:cs typeface="Times New Roman" panose="02020603050405020304" pitchFamily="18" charset="0"/>
              </a:rPr>
              <a:t>1</a:t>
            </a:r>
            <a:endParaRPr sz="3300">
              <a:latin typeface="Times New Roman" panose="02020603050405020304" pitchFamily="18" charset="0"/>
              <a:cs typeface="Times New Roman" panose="02020603050405020304" pitchFamily="18" charset="0"/>
            </a:endParaRPr>
          </a:p>
        </p:txBody>
      </p:sp>
      <p:sp>
        <p:nvSpPr>
          <p:cNvPr id="4" name="object 4"/>
          <p:cNvSpPr txBox="1"/>
          <p:nvPr/>
        </p:nvSpPr>
        <p:spPr>
          <a:xfrm>
            <a:off x="1488326" y="2355102"/>
            <a:ext cx="4525645" cy="667385"/>
          </a:xfrm>
          <a:prstGeom prst="rect">
            <a:avLst/>
          </a:prstGeom>
        </p:spPr>
        <p:txBody>
          <a:bodyPr vert="horz" wrap="square" lIns="0" tIns="13970" rIns="0" bIns="0" rtlCol="0">
            <a:spAutoFit/>
          </a:bodyPr>
          <a:lstStyle/>
          <a:p>
            <a:pPr marL="12700">
              <a:lnSpc>
                <a:spcPct val="100000"/>
              </a:lnSpc>
              <a:spcBef>
                <a:spcPts val="110"/>
              </a:spcBef>
            </a:pPr>
            <a:r>
              <a:rPr sz="4200" spc="50" dirty="0">
                <a:solidFill>
                  <a:srgbClr val="0F0F0F"/>
                </a:solidFill>
                <a:latin typeface="Times New Roman" panose="02020603050405020304" pitchFamily="18" charset="0"/>
                <a:cs typeface="Times New Roman" panose="02020603050405020304" pitchFamily="18" charset="0"/>
              </a:rPr>
              <a:t>Label</a:t>
            </a:r>
            <a:r>
              <a:rPr sz="4200" spc="25" dirty="0">
                <a:solidFill>
                  <a:srgbClr val="0F0F0F"/>
                </a:solidFill>
                <a:latin typeface="Times New Roman" panose="02020603050405020304" pitchFamily="18" charset="0"/>
                <a:cs typeface="Times New Roman" panose="02020603050405020304" pitchFamily="18" charset="0"/>
              </a:rPr>
              <a:t> </a:t>
            </a:r>
            <a:r>
              <a:rPr sz="4200" spc="75" dirty="0">
                <a:solidFill>
                  <a:srgbClr val="0F0F0F"/>
                </a:solidFill>
                <a:latin typeface="Times New Roman" panose="02020603050405020304" pitchFamily="18" charset="0"/>
                <a:cs typeface="Times New Roman" panose="02020603050405020304" pitchFamily="18" charset="0"/>
              </a:rPr>
              <a:t>normalization</a:t>
            </a:r>
            <a:endParaRPr sz="4200" dirty="0">
              <a:latin typeface="Times New Roman" panose="02020603050405020304" pitchFamily="18" charset="0"/>
              <a:cs typeface="Times New Roman" panose="02020603050405020304" pitchFamily="18" charset="0"/>
            </a:endParaRPr>
          </a:p>
        </p:txBody>
      </p:sp>
      <p:sp>
        <p:nvSpPr>
          <p:cNvPr id="5" name="object 5"/>
          <p:cNvSpPr txBox="1"/>
          <p:nvPr/>
        </p:nvSpPr>
        <p:spPr>
          <a:xfrm>
            <a:off x="524538" y="3826995"/>
            <a:ext cx="266700" cy="499109"/>
          </a:xfrm>
          <a:prstGeom prst="rect">
            <a:avLst/>
          </a:prstGeom>
        </p:spPr>
        <p:txBody>
          <a:bodyPr vert="horz" wrap="square" lIns="0" tIns="13335" rIns="0" bIns="0" rtlCol="0">
            <a:spAutoFit/>
          </a:bodyPr>
          <a:lstStyle/>
          <a:p>
            <a:pPr marL="12700">
              <a:lnSpc>
                <a:spcPct val="100000"/>
              </a:lnSpc>
              <a:spcBef>
                <a:spcPts val="105"/>
              </a:spcBef>
            </a:pPr>
            <a:r>
              <a:rPr sz="3100" spc="120" dirty="0">
                <a:solidFill>
                  <a:srgbClr val="0F0F0F"/>
                </a:solidFill>
                <a:latin typeface="Times New Roman" panose="02020603050405020304" pitchFamily="18" charset="0"/>
                <a:cs typeface="Times New Roman" panose="02020603050405020304" pitchFamily="18" charset="0"/>
              </a:rPr>
              <a:t>2</a:t>
            </a:r>
            <a:endParaRPr sz="3100">
              <a:latin typeface="Times New Roman" panose="02020603050405020304" pitchFamily="18" charset="0"/>
              <a:cs typeface="Times New Roman" panose="02020603050405020304" pitchFamily="18" charset="0"/>
            </a:endParaRPr>
          </a:p>
        </p:txBody>
      </p:sp>
      <p:sp>
        <p:nvSpPr>
          <p:cNvPr id="6" name="object 6"/>
          <p:cNvSpPr txBox="1"/>
          <p:nvPr/>
        </p:nvSpPr>
        <p:spPr>
          <a:xfrm>
            <a:off x="1475432" y="3749024"/>
            <a:ext cx="4299585" cy="667385"/>
          </a:xfrm>
          <a:prstGeom prst="rect">
            <a:avLst/>
          </a:prstGeom>
        </p:spPr>
        <p:txBody>
          <a:bodyPr vert="horz" wrap="square" lIns="0" tIns="13970" rIns="0" bIns="0" rtlCol="0">
            <a:spAutoFit/>
          </a:bodyPr>
          <a:lstStyle/>
          <a:p>
            <a:pPr marL="12700">
              <a:lnSpc>
                <a:spcPct val="100000"/>
              </a:lnSpc>
              <a:spcBef>
                <a:spcPts val="110"/>
              </a:spcBef>
            </a:pPr>
            <a:r>
              <a:rPr sz="4200" spc="80" dirty="0">
                <a:solidFill>
                  <a:srgbClr val="0F0F0F"/>
                </a:solidFill>
                <a:latin typeface="Times New Roman" panose="02020603050405020304" pitchFamily="18" charset="0"/>
                <a:cs typeface="Times New Roman" panose="02020603050405020304" pitchFamily="18" charset="0"/>
              </a:rPr>
              <a:t>Schema</a:t>
            </a:r>
            <a:r>
              <a:rPr sz="4200" spc="-20" dirty="0">
                <a:solidFill>
                  <a:srgbClr val="0F0F0F"/>
                </a:solidFill>
                <a:latin typeface="Times New Roman" panose="02020603050405020304" pitchFamily="18" charset="0"/>
                <a:cs typeface="Times New Roman" panose="02020603050405020304" pitchFamily="18" charset="0"/>
              </a:rPr>
              <a:t> </a:t>
            </a:r>
            <a:r>
              <a:rPr sz="4200" spc="-10" dirty="0">
                <a:solidFill>
                  <a:srgbClr val="0F0F0F"/>
                </a:solidFill>
                <a:latin typeface="Times New Roman" panose="02020603050405020304" pitchFamily="18" charset="0"/>
                <a:cs typeface="Times New Roman" panose="02020603050405020304" pitchFamily="18" charset="0"/>
              </a:rPr>
              <a:t>conversion</a:t>
            </a:r>
            <a:endParaRPr sz="4200" dirty="0">
              <a:latin typeface="Times New Roman" panose="02020603050405020304" pitchFamily="18" charset="0"/>
              <a:cs typeface="Times New Roman" panose="02020603050405020304" pitchFamily="18" charset="0"/>
            </a:endParaRPr>
          </a:p>
        </p:txBody>
      </p:sp>
      <p:sp>
        <p:nvSpPr>
          <p:cNvPr id="7" name="object 7"/>
          <p:cNvSpPr txBox="1"/>
          <p:nvPr/>
        </p:nvSpPr>
        <p:spPr>
          <a:xfrm>
            <a:off x="6896100" y="2428073"/>
            <a:ext cx="6425479" cy="623440"/>
          </a:xfrm>
          <a:prstGeom prst="rect">
            <a:avLst/>
          </a:prstGeom>
        </p:spPr>
        <p:txBody>
          <a:bodyPr vert="horz" wrap="square" lIns="0" tIns="3175" rIns="0" bIns="0" rtlCol="0">
            <a:spAutoFit/>
          </a:bodyPr>
          <a:lstStyle/>
          <a:p>
            <a:pPr marL="12700" marR="5080" indent="-635">
              <a:lnSpc>
                <a:spcPct val="103800"/>
              </a:lnSpc>
              <a:spcBef>
                <a:spcPts val="25"/>
              </a:spcBef>
            </a:pPr>
            <a:r>
              <a:rPr sz="2000" spc="75" dirty="0">
                <a:solidFill>
                  <a:srgbClr val="080808"/>
                </a:solidFill>
                <a:latin typeface="Times New Roman" panose="02020603050405020304" pitchFamily="18" charset="0"/>
                <a:cs typeface="Times New Roman" panose="02020603050405020304" pitchFamily="18" charset="0"/>
              </a:rPr>
              <a:t>Map</a:t>
            </a:r>
            <a:r>
              <a:rPr sz="2000" spc="40" dirty="0">
                <a:solidFill>
                  <a:srgbClr val="080808"/>
                </a:solidFill>
                <a:latin typeface="Times New Roman" panose="02020603050405020304" pitchFamily="18" charset="0"/>
                <a:cs typeface="Times New Roman" panose="02020603050405020304" pitchFamily="18" charset="0"/>
              </a:rPr>
              <a:t> </a:t>
            </a:r>
            <a:r>
              <a:rPr sz="2000" dirty="0">
                <a:solidFill>
                  <a:srgbClr val="080808"/>
                </a:solidFill>
                <a:latin typeface="Times New Roman" panose="02020603050405020304" pitchFamily="18" charset="0"/>
                <a:cs typeface="Times New Roman" panose="02020603050405020304" pitchFamily="18" charset="0"/>
              </a:rPr>
              <a:t>disparate</a:t>
            </a:r>
            <a:r>
              <a:rPr sz="2000" spc="105" dirty="0">
                <a:solidFill>
                  <a:srgbClr val="080808"/>
                </a:solidFill>
                <a:latin typeface="Times New Roman" panose="02020603050405020304" pitchFamily="18" charset="0"/>
                <a:cs typeface="Times New Roman" panose="02020603050405020304" pitchFamily="18" charset="0"/>
              </a:rPr>
              <a:t> </a:t>
            </a:r>
            <a:r>
              <a:rPr sz="2000" dirty="0">
                <a:solidFill>
                  <a:srgbClr val="080808"/>
                </a:solidFill>
                <a:latin typeface="Times New Roman" panose="02020603050405020304" pitchFamily="18" charset="0"/>
                <a:cs typeface="Times New Roman" panose="02020603050405020304" pitchFamily="18" charset="0"/>
              </a:rPr>
              <a:t>labeling</a:t>
            </a:r>
            <a:r>
              <a:rPr sz="2000" spc="120" dirty="0">
                <a:solidFill>
                  <a:srgbClr val="080808"/>
                </a:solidFill>
                <a:latin typeface="Times New Roman" panose="02020603050405020304" pitchFamily="18" charset="0"/>
                <a:cs typeface="Times New Roman" panose="02020603050405020304" pitchFamily="18" charset="0"/>
              </a:rPr>
              <a:t> </a:t>
            </a:r>
            <a:r>
              <a:rPr sz="2000" dirty="0">
                <a:solidFill>
                  <a:srgbClr val="080808"/>
                </a:solidFill>
                <a:latin typeface="Times New Roman" panose="02020603050405020304" pitchFamily="18" charset="0"/>
                <a:cs typeface="Times New Roman" panose="02020603050405020304" pitchFamily="18" charset="0"/>
              </a:rPr>
              <a:t>schemes</a:t>
            </a:r>
            <a:r>
              <a:rPr sz="2000" spc="135" dirty="0">
                <a:solidFill>
                  <a:srgbClr val="080808"/>
                </a:solidFill>
                <a:latin typeface="Times New Roman" panose="02020603050405020304" pitchFamily="18" charset="0"/>
                <a:cs typeface="Times New Roman" panose="02020603050405020304" pitchFamily="18" charset="0"/>
              </a:rPr>
              <a:t> </a:t>
            </a:r>
            <a:r>
              <a:rPr sz="2000" dirty="0">
                <a:solidFill>
                  <a:srgbClr val="080808"/>
                </a:solidFill>
                <a:latin typeface="Times New Roman" panose="02020603050405020304" pitchFamily="18" charset="0"/>
                <a:cs typeface="Times New Roman" panose="02020603050405020304" pitchFamily="18" charset="0"/>
              </a:rPr>
              <a:t>to</a:t>
            </a:r>
            <a:r>
              <a:rPr sz="2000" spc="320" dirty="0">
                <a:solidFill>
                  <a:srgbClr val="080808"/>
                </a:solidFill>
                <a:latin typeface="Times New Roman" panose="02020603050405020304" pitchFamily="18" charset="0"/>
                <a:cs typeface="Times New Roman" panose="02020603050405020304" pitchFamily="18" charset="0"/>
              </a:rPr>
              <a:t> </a:t>
            </a:r>
            <a:r>
              <a:rPr sz="2000" spc="-45" dirty="0">
                <a:solidFill>
                  <a:srgbClr val="080808"/>
                </a:solidFill>
                <a:latin typeface="Times New Roman" panose="02020603050405020304" pitchFamily="18" charset="0"/>
                <a:cs typeface="Times New Roman" panose="02020603050405020304" pitchFamily="18" charset="0"/>
              </a:rPr>
              <a:t>a</a:t>
            </a:r>
            <a:r>
              <a:rPr sz="2000" spc="20" dirty="0">
                <a:solidFill>
                  <a:srgbClr val="080808"/>
                </a:solidFill>
                <a:latin typeface="Times New Roman" panose="02020603050405020304" pitchFamily="18" charset="0"/>
                <a:cs typeface="Times New Roman" panose="02020603050405020304" pitchFamily="18" charset="0"/>
              </a:rPr>
              <a:t> </a:t>
            </a:r>
            <a:r>
              <a:rPr sz="2000" spc="75" dirty="0">
                <a:solidFill>
                  <a:srgbClr val="080808"/>
                </a:solidFill>
                <a:latin typeface="Times New Roman" panose="02020603050405020304" pitchFamily="18" charset="0"/>
                <a:cs typeface="Times New Roman" panose="02020603050405020304" pitchFamily="18" charset="0"/>
              </a:rPr>
              <a:t>unified</a:t>
            </a:r>
            <a:r>
              <a:rPr sz="2000" spc="45" dirty="0">
                <a:solidFill>
                  <a:srgbClr val="080808"/>
                </a:solidFill>
                <a:latin typeface="Times New Roman" panose="02020603050405020304" pitchFamily="18" charset="0"/>
                <a:cs typeface="Times New Roman" panose="02020603050405020304" pitchFamily="18" charset="0"/>
              </a:rPr>
              <a:t> </a:t>
            </a:r>
            <a:r>
              <a:rPr sz="2000" dirty="0">
                <a:solidFill>
                  <a:srgbClr val="080808"/>
                </a:solidFill>
                <a:latin typeface="Times New Roman" panose="02020603050405020304" pitchFamily="18" charset="0"/>
                <a:cs typeface="Times New Roman" panose="02020603050405020304" pitchFamily="18" charset="0"/>
              </a:rPr>
              <a:t>four-</a:t>
            </a:r>
            <a:r>
              <a:rPr sz="2000" spc="-10" dirty="0">
                <a:solidFill>
                  <a:srgbClr val="080808"/>
                </a:solidFill>
                <a:latin typeface="Times New Roman" panose="02020603050405020304" pitchFamily="18" charset="0"/>
                <a:cs typeface="Times New Roman" panose="02020603050405020304" pitchFamily="18" charset="0"/>
              </a:rPr>
              <a:t>class </a:t>
            </a:r>
            <a:r>
              <a:rPr sz="2000" spc="10" dirty="0">
                <a:solidFill>
                  <a:srgbClr val="080808"/>
                </a:solidFill>
                <a:latin typeface="Times New Roman" panose="02020603050405020304" pitchFamily="18" charset="0"/>
                <a:cs typeface="Times New Roman" panose="02020603050405020304" pitchFamily="18" charset="0"/>
              </a:rPr>
              <a:t>space:</a:t>
            </a:r>
            <a:r>
              <a:rPr sz="2000" spc="-20" dirty="0">
                <a:solidFill>
                  <a:srgbClr val="080808"/>
                </a:solidFill>
                <a:latin typeface="Times New Roman" panose="02020603050405020304" pitchFamily="18" charset="0"/>
                <a:cs typeface="Times New Roman" panose="02020603050405020304" pitchFamily="18" charset="0"/>
              </a:rPr>
              <a:t> </a:t>
            </a:r>
            <a:r>
              <a:rPr sz="2000" spc="80" dirty="0">
                <a:solidFill>
                  <a:srgbClr val="080808"/>
                </a:solidFill>
                <a:latin typeface="Times New Roman" panose="02020603050405020304" pitchFamily="18" charset="0"/>
                <a:cs typeface="Times New Roman" panose="02020603050405020304" pitchFamily="18" charset="0"/>
              </a:rPr>
              <a:t>true,</a:t>
            </a:r>
            <a:r>
              <a:rPr sz="2000" spc="-155" dirty="0">
                <a:solidFill>
                  <a:srgbClr val="080808"/>
                </a:solidFill>
                <a:latin typeface="Times New Roman" panose="02020603050405020304" pitchFamily="18" charset="0"/>
                <a:cs typeface="Times New Roman" panose="02020603050405020304" pitchFamily="18" charset="0"/>
              </a:rPr>
              <a:t> </a:t>
            </a:r>
            <a:r>
              <a:rPr sz="2000" spc="10" dirty="0">
                <a:solidFill>
                  <a:srgbClr val="080808"/>
                </a:solidFill>
                <a:latin typeface="Times New Roman" panose="02020603050405020304" pitchFamily="18" charset="0"/>
                <a:cs typeface="Times New Roman" panose="02020603050405020304" pitchFamily="18" charset="0"/>
              </a:rPr>
              <a:t>false,</a:t>
            </a:r>
            <a:r>
              <a:rPr sz="2000" spc="-180" dirty="0">
                <a:solidFill>
                  <a:srgbClr val="080808"/>
                </a:solidFill>
                <a:latin typeface="Times New Roman" panose="02020603050405020304" pitchFamily="18" charset="0"/>
                <a:cs typeface="Times New Roman" panose="02020603050405020304" pitchFamily="18" charset="0"/>
              </a:rPr>
              <a:t> </a:t>
            </a:r>
            <a:r>
              <a:rPr sz="2000" spc="10" dirty="0">
                <a:solidFill>
                  <a:srgbClr val="080808"/>
                </a:solidFill>
                <a:latin typeface="Times New Roman" panose="02020603050405020304" pitchFamily="18" charset="0"/>
                <a:cs typeface="Times New Roman" panose="02020603050405020304" pitchFamily="18" charset="0"/>
              </a:rPr>
              <a:t>unverified,</a:t>
            </a:r>
            <a:r>
              <a:rPr sz="2000" spc="190" dirty="0">
                <a:solidFill>
                  <a:srgbClr val="080808"/>
                </a:solidFill>
                <a:latin typeface="Times New Roman" panose="02020603050405020304" pitchFamily="18" charset="0"/>
                <a:cs typeface="Times New Roman" panose="02020603050405020304" pitchFamily="18" charset="0"/>
              </a:rPr>
              <a:t> </a:t>
            </a:r>
            <a:r>
              <a:rPr sz="2000" spc="65" dirty="0">
                <a:solidFill>
                  <a:srgbClr val="080808"/>
                </a:solidFill>
                <a:latin typeface="Times New Roman" panose="02020603050405020304" pitchFamily="18" charset="0"/>
                <a:cs typeface="Times New Roman" panose="02020603050405020304" pitchFamily="18" charset="0"/>
              </a:rPr>
              <a:t>non-</a:t>
            </a:r>
            <a:r>
              <a:rPr sz="2000" spc="50" dirty="0">
                <a:solidFill>
                  <a:srgbClr val="080808"/>
                </a:solidFill>
                <a:latin typeface="Times New Roman" panose="02020603050405020304" pitchFamily="18" charset="0"/>
                <a:cs typeface="Times New Roman" panose="02020603050405020304" pitchFamily="18" charset="0"/>
              </a:rPr>
              <a:t>rumor.</a:t>
            </a:r>
            <a:endParaRPr sz="2000" dirty="0">
              <a:solidFill>
                <a:srgbClr val="080808"/>
              </a:solidFill>
              <a:latin typeface="Times New Roman" panose="02020603050405020304" pitchFamily="18" charset="0"/>
              <a:cs typeface="Times New Roman" panose="02020603050405020304" pitchFamily="18" charset="0"/>
            </a:endParaRPr>
          </a:p>
        </p:txBody>
      </p:sp>
      <p:sp>
        <p:nvSpPr>
          <p:cNvPr id="8" name="object 8"/>
          <p:cNvSpPr txBox="1"/>
          <p:nvPr/>
        </p:nvSpPr>
        <p:spPr>
          <a:xfrm>
            <a:off x="6896100" y="3749024"/>
            <a:ext cx="6229899" cy="623440"/>
          </a:xfrm>
          <a:prstGeom prst="rect">
            <a:avLst/>
          </a:prstGeom>
        </p:spPr>
        <p:txBody>
          <a:bodyPr vert="horz" wrap="square" lIns="0" tIns="3175" rIns="0" bIns="0" rtlCol="0">
            <a:spAutoFit/>
          </a:bodyPr>
          <a:lstStyle/>
          <a:p>
            <a:pPr marL="13335" marR="5080" indent="-1270">
              <a:lnSpc>
                <a:spcPct val="103800"/>
              </a:lnSpc>
              <a:spcBef>
                <a:spcPts val="25"/>
              </a:spcBef>
            </a:pPr>
            <a:r>
              <a:rPr sz="2000" spc="55" dirty="0">
                <a:solidFill>
                  <a:srgbClr val="080808"/>
                </a:solidFill>
                <a:latin typeface="Times New Roman" panose="02020603050405020304" pitchFamily="18" charset="0"/>
                <a:cs typeface="Times New Roman" panose="02020603050405020304" pitchFamily="18" charset="0"/>
              </a:rPr>
              <a:t>Convert</a:t>
            </a:r>
            <a:r>
              <a:rPr sz="2000" spc="60" dirty="0">
                <a:solidFill>
                  <a:srgbClr val="080808"/>
                </a:solidFill>
                <a:latin typeface="Times New Roman" panose="02020603050405020304" pitchFamily="18" charset="0"/>
                <a:cs typeface="Times New Roman" panose="02020603050405020304" pitchFamily="18" charset="0"/>
              </a:rPr>
              <a:t> </a:t>
            </a:r>
            <a:r>
              <a:rPr sz="2000" spc="70" dirty="0">
                <a:solidFill>
                  <a:srgbClr val="080808"/>
                </a:solidFill>
                <a:latin typeface="Times New Roman" panose="02020603050405020304" pitchFamily="18" charset="0"/>
                <a:cs typeface="Times New Roman" panose="02020603050405020304" pitchFamily="18" charset="0"/>
              </a:rPr>
              <a:t>thread</a:t>
            </a:r>
            <a:r>
              <a:rPr sz="2000" spc="-55" dirty="0">
                <a:solidFill>
                  <a:srgbClr val="080808"/>
                </a:solidFill>
                <a:latin typeface="Times New Roman" panose="02020603050405020304" pitchFamily="18" charset="0"/>
                <a:cs typeface="Times New Roman" panose="02020603050405020304" pitchFamily="18" charset="0"/>
              </a:rPr>
              <a:t> </a:t>
            </a:r>
            <a:r>
              <a:rPr sz="2000" spc="60" dirty="0">
                <a:solidFill>
                  <a:srgbClr val="080808"/>
                </a:solidFill>
                <a:latin typeface="Times New Roman" panose="02020603050405020304" pitchFamily="18" charset="0"/>
                <a:cs typeface="Times New Roman" panose="02020603050405020304" pitchFamily="18" charset="0"/>
              </a:rPr>
              <a:t>structures</a:t>
            </a:r>
            <a:r>
              <a:rPr sz="2000" spc="5" dirty="0">
                <a:solidFill>
                  <a:srgbClr val="080808"/>
                </a:solidFill>
                <a:latin typeface="Times New Roman" panose="02020603050405020304" pitchFamily="18" charset="0"/>
                <a:cs typeface="Times New Roman" panose="02020603050405020304" pitchFamily="18" charset="0"/>
              </a:rPr>
              <a:t> </a:t>
            </a:r>
            <a:r>
              <a:rPr sz="2000" spc="100" dirty="0">
                <a:solidFill>
                  <a:srgbClr val="080808"/>
                </a:solidFill>
                <a:latin typeface="Times New Roman" panose="02020603050405020304" pitchFamily="18" charset="0"/>
                <a:cs typeface="Times New Roman" panose="02020603050405020304" pitchFamily="18" charset="0"/>
              </a:rPr>
              <a:t>into</a:t>
            </a:r>
            <a:r>
              <a:rPr sz="2000" spc="-85" dirty="0">
                <a:solidFill>
                  <a:srgbClr val="080808"/>
                </a:solidFill>
                <a:latin typeface="Times New Roman" panose="02020603050405020304" pitchFamily="18" charset="0"/>
                <a:cs typeface="Times New Roman" panose="02020603050405020304" pitchFamily="18" charset="0"/>
              </a:rPr>
              <a:t> </a:t>
            </a:r>
            <a:r>
              <a:rPr sz="2000" dirty="0">
                <a:solidFill>
                  <a:srgbClr val="080808"/>
                </a:solidFill>
                <a:latin typeface="Times New Roman" panose="02020603050405020304" pitchFamily="18" charset="0"/>
                <a:cs typeface="Times New Roman" panose="02020603050405020304" pitchFamily="18" charset="0"/>
              </a:rPr>
              <a:t>standardized</a:t>
            </a:r>
            <a:r>
              <a:rPr sz="2000" spc="120" dirty="0">
                <a:solidFill>
                  <a:srgbClr val="080808"/>
                </a:solidFill>
                <a:latin typeface="Times New Roman" panose="02020603050405020304" pitchFamily="18" charset="0"/>
                <a:cs typeface="Times New Roman" panose="02020603050405020304" pitchFamily="18" charset="0"/>
              </a:rPr>
              <a:t> </a:t>
            </a:r>
            <a:r>
              <a:rPr sz="2000" spc="-10" dirty="0">
                <a:solidFill>
                  <a:srgbClr val="080808"/>
                </a:solidFill>
                <a:latin typeface="Times New Roman" panose="02020603050405020304" pitchFamily="18" charset="0"/>
                <a:cs typeface="Times New Roman" panose="02020603050405020304" pitchFamily="18" charset="0"/>
              </a:rPr>
              <a:t>JSONL; </a:t>
            </a:r>
            <a:r>
              <a:rPr sz="2000" spc="65" dirty="0">
                <a:solidFill>
                  <a:srgbClr val="080808"/>
                </a:solidFill>
                <a:latin typeface="Times New Roman" panose="02020603050405020304" pitchFamily="18" charset="0"/>
                <a:cs typeface="Times New Roman" panose="02020603050405020304" pitchFamily="18" charset="0"/>
              </a:rPr>
              <a:t>ingest</a:t>
            </a:r>
            <a:r>
              <a:rPr sz="2000" spc="25" dirty="0">
                <a:solidFill>
                  <a:srgbClr val="080808"/>
                </a:solidFill>
                <a:latin typeface="Times New Roman" panose="02020603050405020304" pitchFamily="18" charset="0"/>
                <a:cs typeface="Times New Roman" panose="02020603050405020304" pitchFamily="18" charset="0"/>
              </a:rPr>
              <a:t> </a:t>
            </a:r>
            <a:r>
              <a:rPr sz="2000" dirty="0">
                <a:solidFill>
                  <a:srgbClr val="080808"/>
                </a:solidFill>
                <a:latin typeface="Times New Roman" panose="02020603050405020304" pitchFamily="18" charset="0"/>
                <a:cs typeface="Times New Roman" panose="02020603050405020304" pitchFamily="18" charset="0"/>
              </a:rPr>
              <a:t>source</a:t>
            </a:r>
            <a:r>
              <a:rPr sz="2000" spc="10" dirty="0">
                <a:solidFill>
                  <a:srgbClr val="080808"/>
                </a:solidFill>
                <a:latin typeface="Times New Roman" panose="02020603050405020304" pitchFamily="18" charset="0"/>
                <a:cs typeface="Times New Roman" panose="02020603050405020304" pitchFamily="18" charset="0"/>
              </a:rPr>
              <a:t> </a:t>
            </a:r>
            <a:r>
              <a:rPr sz="2000" spc="65" dirty="0">
                <a:solidFill>
                  <a:srgbClr val="080808"/>
                </a:solidFill>
                <a:latin typeface="Times New Roman" panose="02020603050405020304" pitchFamily="18" charset="0"/>
                <a:cs typeface="Times New Roman" panose="02020603050405020304" pitchFamily="18" charset="0"/>
              </a:rPr>
              <a:t>posts</a:t>
            </a:r>
            <a:r>
              <a:rPr sz="2000" spc="-70" dirty="0">
                <a:solidFill>
                  <a:srgbClr val="080808"/>
                </a:solidFill>
                <a:latin typeface="Times New Roman" panose="02020603050405020304" pitchFamily="18" charset="0"/>
                <a:cs typeface="Times New Roman" panose="02020603050405020304" pitchFamily="18" charset="0"/>
              </a:rPr>
              <a:t> </a:t>
            </a:r>
            <a:r>
              <a:rPr sz="2000" spc="60" dirty="0">
                <a:solidFill>
                  <a:srgbClr val="080808"/>
                </a:solidFill>
                <a:latin typeface="Times New Roman" panose="02020603050405020304" pitchFamily="18" charset="0"/>
                <a:cs typeface="Times New Roman" panose="02020603050405020304" pitchFamily="18" charset="0"/>
              </a:rPr>
              <a:t>only</a:t>
            </a:r>
            <a:r>
              <a:rPr sz="2000" spc="-10" dirty="0">
                <a:solidFill>
                  <a:srgbClr val="080808"/>
                </a:solidFill>
                <a:latin typeface="Times New Roman" panose="02020603050405020304" pitchFamily="18" charset="0"/>
                <a:cs typeface="Times New Roman" panose="02020603050405020304" pitchFamily="18" charset="0"/>
              </a:rPr>
              <a:t> </a:t>
            </a:r>
            <a:r>
              <a:rPr sz="2000" dirty="0">
                <a:solidFill>
                  <a:srgbClr val="080808"/>
                </a:solidFill>
                <a:latin typeface="Times New Roman" panose="02020603050405020304" pitchFamily="18" charset="0"/>
                <a:cs typeface="Times New Roman" panose="02020603050405020304" pitchFamily="18" charset="0"/>
              </a:rPr>
              <a:t>to</a:t>
            </a:r>
            <a:r>
              <a:rPr sz="2000" spc="140" dirty="0">
                <a:solidFill>
                  <a:srgbClr val="080808"/>
                </a:solidFill>
                <a:latin typeface="Times New Roman" panose="02020603050405020304" pitchFamily="18" charset="0"/>
                <a:cs typeface="Times New Roman" panose="02020603050405020304" pitchFamily="18" charset="0"/>
              </a:rPr>
              <a:t> </a:t>
            </a:r>
            <a:r>
              <a:rPr sz="2000" dirty="0">
                <a:solidFill>
                  <a:srgbClr val="080808"/>
                </a:solidFill>
                <a:latin typeface="Times New Roman" panose="02020603050405020304" pitchFamily="18" charset="0"/>
                <a:cs typeface="Times New Roman" panose="02020603050405020304" pitchFamily="18" charset="0"/>
              </a:rPr>
              <a:t>isolate</a:t>
            </a:r>
            <a:r>
              <a:rPr sz="2000" spc="-10" dirty="0">
                <a:solidFill>
                  <a:srgbClr val="080808"/>
                </a:solidFill>
                <a:latin typeface="Times New Roman" panose="02020603050405020304" pitchFamily="18" charset="0"/>
                <a:cs typeface="Times New Roman" panose="02020603050405020304" pitchFamily="18" charset="0"/>
              </a:rPr>
              <a:t> </a:t>
            </a:r>
            <a:r>
              <a:rPr sz="2000" dirty="0">
                <a:solidFill>
                  <a:srgbClr val="080808"/>
                </a:solidFill>
                <a:latin typeface="Times New Roman" panose="02020603050405020304" pitchFamily="18" charset="0"/>
                <a:cs typeface="Times New Roman" panose="02020603050405020304" pitchFamily="18" charset="0"/>
              </a:rPr>
              <a:t>the</a:t>
            </a:r>
            <a:r>
              <a:rPr sz="2000" spc="200" dirty="0">
                <a:solidFill>
                  <a:srgbClr val="080808"/>
                </a:solidFill>
                <a:latin typeface="Times New Roman" panose="02020603050405020304" pitchFamily="18" charset="0"/>
                <a:cs typeface="Times New Roman" panose="02020603050405020304" pitchFamily="18" charset="0"/>
              </a:rPr>
              <a:t> </a:t>
            </a:r>
            <a:r>
              <a:rPr sz="2000" spc="65" dirty="0">
                <a:solidFill>
                  <a:srgbClr val="080808"/>
                </a:solidFill>
                <a:latin typeface="Times New Roman" panose="02020603050405020304" pitchFamily="18" charset="0"/>
                <a:cs typeface="Times New Roman" panose="02020603050405020304" pitchFamily="18" charset="0"/>
              </a:rPr>
              <a:t>primary</a:t>
            </a:r>
            <a:r>
              <a:rPr sz="2000" spc="-15" dirty="0">
                <a:solidFill>
                  <a:srgbClr val="080808"/>
                </a:solidFill>
                <a:latin typeface="Times New Roman" panose="02020603050405020304" pitchFamily="18" charset="0"/>
                <a:cs typeface="Times New Roman" panose="02020603050405020304" pitchFamily="18" charset="0"/>
              </a:rPr>
              <a:t> </a:t>
            </a:r>
            <a:r>
              <a:rPr sz="2000" spc="-10" dirty="0">
                <a:solidFill>
                  <a:srgbClr val="080808"/>
                </a:solidFill>
                <a:latin typeface="Times New Roman" panose="02020603050405020304" pitchFamily="18" charset="0"/>
                <a:cs typeface="Times New Roman" panose="02020603050405020304" pitchFamily="18" charset="0"/>
              </a:rPr>
              <a:t>claim.</a:t>
            </a:r>
            <a:endParaRPr sz="2000" dirty="0">
              <a:solidFill>
                <a:srgbClr val="080808"/>
              </a:solidFill>
              <a:latin typeface="Times New Roman" panose="02020603050405020304" pitchFamily="18" charset="0"/>
              <a:cs typeface="Times New Roman" panose="02020603050405020304" pitchFamily="18" charset="0"/>
            </a:endParaRPr>
          </a:p>
        </p:txBody>
      </p:sp>
      <p:sp>
        <p:nvSpPr>
          <p:cNvPr id="9" name="object 9"/>
          <p:cNvSpPr txBox="1"/>
          <p:nvPr/>
        </p:nvSpPr>
        <p:spPr>
          <a:xfrm>
            <a:off x="527700" y="5214553"/>
            <a:ext cx="266700" cy="552450"/>
          </a:xfrm>
          <a:prstGeom prst="rect">
            <a:avLst/>
          </a:prstGeom>
        </p:spPr>
        <p:txBody>
          <a:bodyPr vert="horz" wrap="square" lIns="0" tIns="13335" rIns="0" bIns="0" rtlCol="0">
            <a:spAutoFit/>
          </a:bodyPr>
          <a:lstStyle/>
          <a:p>
            <a:pPr marL="12700">
              <a:lnSpc>
                <a:spcPct val="100000"/>
              </a:lnSpc>
              <a:spcBef>
                <a:spcPts val="105"/>
              </a:spcBef>
            </a:pPr>
            <a:r>
              <a:rPr sz="3450" spc="120" dirty="0">
                <a:solidFill>
                  <a:srgbClr val="0F0F0F"/>
                </a:solidFill>
                <a:latin typeface="Times New Roman" panose="02020603050405020304" pitchFamily="18" charset="0"/>
                <a:cs typeface="Times New Roman" panose="02020603050405020304" pitchFamily="18" charset="0"/>
              </a:rPr>
              <a:t>3</a:t>
            </a:r>
            <a:endParaRPr sz="3450">
              <a:latin typeface="Times New Roman" panose="02020603050405020304" pitchFamily="18" charset="0"/>
              <a:cs typeface="Times New Roman" panose="02020603050405020304" pitchFamily="18" charset="0"/>
            </a:endParaRPr>
          </a:p>
        </p:txBody>
      </p:sp>
      <p:sp>
        <p:nvSpPr>
          <p:cNvPr id="10" name="object 10"/>
          <p:cNvSpPr txBox="1"/>
          <p:nvPr/>
        </p:nvSpPr>
        <p:spPr>
          <a:xfrm>
            <a:off x="1478128" y="5096801"/>
            <a:ext cx="2080260" cy="728345"/>
          </a:xfrm>
          <a:prstGeom prst="rect">
            <a:avLst/>
          </a:prstGeom>
        </p:spPr>
        <p:txBody>
          <a:bodyPr vert="horz" wrap="square" lIns="0" tIns="13970" rIns="0" bIns="0" rtlCol="0">
            <a:spAutoFit/>
          </a:bodyPr>
          <a:lstStyle/>
          <a:p>
            <a:pPr marL="12700">
              <a:lnSpc>
                <a:spcPct val="100000"/>
              </a:lnSpc>
              <a:spcBef>
                <a:spcPts val="110"/>
              </a:spcBef>
            </a:pPr>
            <a:r>
              <a:rPr sz="4600" spc="-225" dirty="0">
                <a:solidFill>
                  <a:srgbClr val="0F0F0F"/>
                </a:solidFill>
                <a:latin typeface="Times New Roman" panose="02020603050405020304" pitchFamily="18" charset="0"/>
                <a:cs typeface="Times New Roman" panose="02020603050405020304" pitchFamily="18" charset="0"/>
              </a:rPr>
              <a:t>Shuffling</a:t>
            </a:r>
            <a:endParaRPr sz="4600" dirty="0">
              <a:latin typeface="Times New Roman" panose="02020603050405020304" pitchFamily="18" charset="0"/>
              <a:cs typeface="Times New Roman" panose="02020603050405020304" pitchFamily="18" charset="0"/>
            </a:endParaRPr>
          </a:p>
        </p:txBody>
      </p:sp>
      <p:sp>
        <p:nvSpPr>
          <p:cNvPr id="11" name="object 11"/>
          <p:cNvSpPr txBox="1"/>
          <p:nvPr/>
        </p:nvSpPr>
        <p:spPr>
          <a:xfrm>
            <a:off x="6896100" y="5214553"/>
            <a:ext cx="6595024" cy="623440"/>
          </a:xfrm>
          <a:prstGeom prst="rect">
            <a:avLst/>
          </a:prstGeom>
        </p:spPr>
        <p:txBody>
          <a:bodyPr vert="horz" wrap="square" lIns="0" tIns="3175" rIns="0" bIns="0" rtlCol="0">
            <a:spAutoFit/>
          </a:bodyPr>
          <a:lstStyle/>
          <a:p>
            <a:pPr marL="12700" marR="5080" indent="8255">
              <a:lnSpc>
                <a:spcPct val="103800"/>
              </a:lnSpc>
              <a:spcBef>
                <a:spcPts val="25"/>
              </a:spcBef>
            </a:pPr>
            <a:r>
              <a:rPr sz="2000" spc="70" dirty="0">
                <a:solidFill>
                  <a:srgbClr val="080808"/>
                </a:solidFill>
                <a:latin typeface="Times New Roman" panose="02020603050405020304" pitchFamily="18" charset="0"/>
                <a:cs typeface="Times New Roman" panose="02020603050405020304" pitchFamily="18" charset="0"/>
              </a:rPr>
              <a:t>Apply</a:t>
            </a:r>
            <a:r>
              <a:rPr sz="2000" spc="15" dirty="0">
                <a:solidFill>
                  <a:srgbClr val="080808"/>
                </a:solidFill>
                <a:latin typeface="Times New Roman" panose="02020603050405020304" pitchFamily="18" charset="0"/>
                <a:cs typeface="Times New Roman" panose="02020603050405020304" pitchFamily="18" charset="0"/>
              </a:rPr>
              <a:t> </a:t>
            </a:r>
            <a:r>
              <a:rPr sz="2000" spc="65" dirty="0">
                <a:solidFill>
                  <a:srgbClr val="080808"/>
                </a:solidFill>
                <a:latin typeface="Times New Roman" panose="02020603050405020304" pitchFamily="18" charset="0"/>
                <a:cs typeface="Times New Roman" panose="02020603050405020304" pitchFamily="18" charset="0"/>
              </a:rPr>
              <a:t>deterministic</a:t>
            </a:r>
            <a:r>
              <a:rPr sz="2000" spc="140" dirty="0">
                <a:solidFill>
                  <a:srgbClr val="080808"/>
                </a:solidFill>
                <a:latin typeface="Times New Roman" panose="02020603050405020304" pitchFamily="18" charset="0"/>
                <a:cs typeface="Times New Roman" panose="02020603050405020304" pitchFamily="18" charset="0"/>
              </a:rPr>
              <a:t> </a:t>
            </a:r>
            <a:r>
              <a:rPr sz="2000" dirty="0">
                <a:solidFill>
                  <a:srgbClr val="080808"/>
                </a:solidFill>
                <a:latin typeface="Times New Roman" panose="02020603050405020304" pitchFamily="18" charset="0"/>
                <a:cs typeface="Times New Roman" panose="02020603050405020304" pitchFamily="18" charset="0"/>
              </a:rPr>
              <a:t>seeded</a:t>
            </a:r>
            <a:r>
              <a:rPr sz="2000" spc="60" dirty="0">
                <a:solidFill>
                  <a:srgbClr val="080808"/>
                </a:solidFill>
                <a:latin typeface="Times New Roman" panose="02020603050405020304" pitchFamily="18" charset="0"/>
                <a:cs typeface="Times New Roman" panose="02020603050405020304" pitchFamily="18" charset="0"/>
              </a:rPr>
              <a:t> </a:t>
            </a:r>
            <a:r>
              <a:rPr sz="2000" spc="65" dirty="0">
                <a:solidFill>
                  <a:srgbClr val="080808"/>
                </a:solidFill>
                <a:latin typeface="Times New Roman" panose="02020603050405020304" pitchFamily="18" charset="0"/>
                <a:cs typeface="Times New Roman" panose="02020603050405020304" pitchFamily="18" charset="0"/>
              </a:rPr>
              <a:t>shuffling</a:t>
            </a:r>
            <a:r>
              <a:rPr sz="2000" spc="-10" dirty="0">
                <a:solidFill>
                  <a:srgbClr val="080808"/>
                </a:solidFill>
                <a:latin typeface="Times New Roman" panose="02020603050405020304" pitchFamily="18" charset="0"/>
                <a:cs typeface="Times New Roman" panose="02020603050405020304" pitchFamily="18" charset="0"/>
              </a:rPr>
              <a:t> </a:t>
            </a:r>
            <a:r>
              <a:rPr sz="2000" spc="60" dirty="0">
                <a:solidFill>
                  <a:srgbClr val="080808"/>
                </a:solidFill>
                <a:latin typeface="Times New Roman" panose="02020603050405020304" pitchFamily="18" charset="0"/>
                <a:cs typeface="Times New Roman" panose="02020603050405020304" pitchFamily="18" charset="0"/>
              </a:rPr>
              <a:t>to </a:t>
            </a:r>
            <a:r>
              <a:rPr sz="2000" dirty="0">
                <a:solidFill>
                  <a:srgbClr val="080808"/>
                </a:solidFill>
                <a:latin typeface="Times New Roman" panose="02020603050405020304" pitchFamily="18" charset="0"/>
                <a:cs typeface="Times New Roman" panose="02020603050405020304" pitchFamily="18" charset="0"/>
              </a:rPr>
              <a:t>ensure</a:t>
            </a:r>
            <a:r>
              <a:rPr sz="2000" spc="-40" dirty="0">
                <a:solidFill>
                  <a:srgbClr val="080808"/>
                </a:solidFill>
                <a:latin typeface="Times New Roman" panose="02020603050405020304" pitchFamily="18" charset="0"/>
                <a:cs typeface="Times New Roman" panose="02020603050405020304" pitchFamily="18" charset="0"/>
              </a:rPr>
              <a:t> </a:t>
            </a:r>
            <a:r>
              <a:rPr sz="2000" spc="45" dirty="0">
                <a:solidFill>
                  <a:srgbClr val="080808"/>
                </a:solidFill>
                <a:latin typeface="Times New Roman" panose="02020603050405020304" pitchFamily="18" charset="0"/>
                <a:cs typeface="Times New Roman" panose="02020603050405020304" pitchFamily="18" charset="0"/>
              </a:rPr>
              <a:t>diversity </a:t>
            </a:r>
            <a:r>
              <a:rPr sz="2000" dirty="0">
                <a:solidFill>
                  <a:srgbClr val="080808"/>
                </a:solidFill>
                <a:latin typeface="Times New Roman" panose="02020603050405020304" pitchFamily="18" charset="0"/>
                <a:cs typeface="Times New Roman" panose="02020603050405020304" pitchFamily="18" charset="0"/>
              </a:rPr>
              <a:t>across</a:t>
            </a:r>
            <a:r>
              <a:rPr sz="2000" spc="-55" dirty="0">
                <a:solidFill>
                  <a:srgbClr val="080808"/>
                </a:solidFill>
                <a:latin typeface="Times New Roman" panose="02020603050405020304" pitchFamily="18" charset="0"/>
                <a:cs typeface="Times New Roman" panose="02020603050405020304" pitchFamily="18" charset="0"/>
              </a:rPr>
              <a:t> </a:t>
            </a:r>
            <a:r>
              <a:rPr sz="2000" spc="55" dirty="0">
                <a:solidFill>
                  <a:srgbClr val="080808"/>
                </a:solidFill>
                <a:latin typeface="Times New Roman" panose="02020603050405020304" pitchFamily="18" charset="0"/>
                <a:cs typeface="Times New Roman" panose="02020603050405020304" pitchFamily="18" charset="0"/>
              </a:rPr>
              <a:t>downstream</a:t>
            </a:r>
            <a:r>
              <a:rPr sz="2000" spc="100" dirty="0">
                <a:solidFill>
                  <a:srgbClr val="080808"/>
                </a:solidFill>
                <a:latin typeface="Times New Roman" panose="02020603050405020304" pitchFamily="18" charset="0"/>
                <a:cs typeface="Times New Roman" panose="02020603050405020304" pitchFamily="18" charset="0"/>
              </a:rPr>
              <a:t> </a:t>
            </a:r>
            <a:r>
              <a:rPr sz="2000" spc="60" dirty="0">
                <a:solidFill>
                  <a:srgbClr val="080808"/>
                </a:solidFill>
                <a:latin typeface="Times New Roman" panose="02020603050405020304" pitchFamily="18" charset="0"/>
                <a:cs typeface="Times New Roman" panose="02020603050405020304" pitchFamily="18" charset="0"/>
              </a:rPr>
              <a:t>training</a:t>
            </a:r>
            <a:r>
              <a:rPr sz="2000" spc="55" dirty="0">
                <a:solidFill>
                  <a:srgbClr val="080808"/>
                </a:solidFill>
                <a:latin typeface="Times New Roman" panose="02020603050405020304" pitchFamily="18" charset="0"/>
                <a:cs typeface="Times New Roman" panose="02020603050405020304" pitchFamily="18" charset="0"/>
              </a:rPr>
              <a:t> </a:t>
            </a:r>
            <a:r>
              <a:rPr sz="2000" spc="-10" dirty="0">
                <a:solidFill>
                  <a:srgbClr val="080808"/>
                </a:solidFill>
                <a:latin typeface="Times New Roman" panose="02020603050405020304" pitchFamily="18" charset="0"/>
                <a:cs typeface="Times New Roman" panose="02020603050405020304" pitchFamily="18" charset="0"/>
              </a:rPr>
              <a:t>batches.</a:t>
            </a:r>
            <a:endParaRPr sz="2000" dirty="0">
              <a:solidFill>
                <a:srgbClr val="080808"/>
              </a:solidFill>
              <a:latin typeface="Times New Roman" panose="02020603050405020304" pitchFamily="18" charset="0"/>
              <a:cs typeface="Times New Roman" panose="02020603050405020304" pitchFamily="18" charset="0"/>
            </a:endParaRPr>
          </a:p>
        </p:txBody>
      </p:sp>
      <p:sp>
        <p:nvSpPr>
          <p:cNvPr id="12" name="object 12"/>
          <p:cNvSpPr txBox="1"/>
          <p:nvPr/>
        </p:nvSpPr>
        <p:spPr>
          <a:xfrm>
            <a:off x="526212" y="6672124"/>
            <a:ext cx="266700" cy="499109"/>
          </a:xfrm>
          <a:prstGeom prst="rect">
            <a:avLst/>
          </a:prstGeom>
        </p:spPr>
        <p:txBody>
          <a:bodyPr vert="horz" wrap="square" lIns="0" tIns="13335" rIns="0" bIns="0" rtlCol="0">
            <a:spAutoFit/>
          </a:bodyPr>
          <a:lstStyle/>
          <a:p>
            <a:pPr marL="12700">
              <a:lnSpc>
                <a:spcPct val="100000"/>
              </a:lnSpc>
              <a:spcBef>
                <a:spcPts val="105"/>
              </a:spcBef>
            </a:pPr>
            <a:r>
              <a:rPr sz="3100" spc="120" dirty="0">
                <a:solidFill>
                  <a:srgbClr val="0F0F0F"/>
                </a:solidFill>
                <a:latin typeface="Times New Roman" panose="02020603050405020304" pitchFamily="18" charset="0"/>
                <a:cs typeface="Times New Roman" panose="02020603050405020304" pitchFamily="18" charset="0"/>
              </a:rPr>
              <a:t>4</a:t>
            </a:r>
            <a:endParaRPr sz="3100">
              <a:latin typeface="Times New Roman" panose="02020603050405020304" pitchFamily="18" charset="0"/>
              <a:cs typeface="Times New Roman" panose="02020603050405020304" pitchFamily="18" charset="0"/>
            </a:endParaRPr>
          </a:p>
        </p:txBody>
      </p:sp>
      <p:sp>
        <p:nvSpPr>
          <p:cNvPr id="13" name="object 13"/>
          <p:cNvSpPr txBox="1"/>
          <p:nvPr/>
        </p:nvSpPr>
        <p:spPr>
          <a:xfrm>
            <a:off x="1491086" y="6490723"/>
            <a:ext cx="1755139" cy="728345"/>
          </a:xfrm>
          <a:prstGeom prst="rect">
            <a:avLst/>
          </a:prstGeom>
        </p:spPr>
        <p:txBody>
          <a:bodyPr vert="horz" wrap="square" lIns="0" tIns="13970" rIns="0" bIns="0" rtlCol="0">
            <a:spAutoFit/>
          </a:bodyPr>
          <a:lstStyle/>
          <a:p>
            <a:pPr marL="12700">
              <a:lnSpc>
                <a:spcPct val="100000"/>
              </a:lnSpc>
              <a:spcBef>
                <a:spcPts val="110"/>
              </a:spcBef>
            </a:pPr>
            <a:r>
              <a:rPr sz="4600" spc="-120" dirty="0">
                <a:solidFill>
                  <a:srgbClr val="0F0F0F"/>
                </a:solidFill>
                <a:latin typeface="Times New Roman" panose="02020603050405020304" pitchFamily="18" charset="0"/>
                <a:cs typeface="Times New Roman" panose="02020603050405020304" pitchFamily="18" charset="0"/>
              </a:rPr>
              <a:t>Output</a:t>
            </a:r>
            <a:endParaRPr sz="4600" dirty="0">
              <a:latin typeface="Times New Roman" panose="02020603050405020304" pitchFamily="18" charset="0"/>
              <a:cs typeface="Times New Roman" panose="02020603050405020304" pitchFamily="18" charset="0"/>
            </a:endParaRPr>
          </a:p>
        </p:txBody>
      </p:sp>
      <p:sp>
        <p:nvSpPr>
          <p:cNvPr id="14" name="object 14"/>
          <p:cNvSpPr txBox="1"/>
          <p:nvPr/>
        </p:nvSpPr>
        <p:spPr>
          <a:xfrm>
            <a:off x="6896100" y="6527183"/>
            <a:ext cx="6272444" cy="943528"/>
          </a:xfrm>
          <a:prstGeom prst="rect">
            <a:avLst/>
          </a:prstGeom>
        </p:spPr>
        <p:txBody>
          <a:bodyPr vert="horz" wrap="square" lIns="0" tIns="3175" rIns="0" bIns="0" rtlCol="0">
            <a:spAutoFit/>
          </a:bodyPr>
          <a:lstStyle/>
          <a:p>
            <a:pPr marL="12700" marR="5080" algn="l">
              <a:lnSpc>
                <a:spcPct val="103800"/>
              </a:lnSpc>
              <a:spcBef>
                <a:spcPts val="25"/>
              </a:spcBef>
            </a:pPr>
            <a:r>
              <a:rPr sz="2000" spc="55" dirty="0">
                <a:solidFill>
                  <a:srgbClr val="080808"/>
                </a:solidFill>
                <a:latin typeface="Times New Roman" panose="02020603050405020304" pitchFamily="18" charset="0"/>
                <a:cs typeface="Times New Roman" panose="02020603050405020304" pitchFamily="18" charset="0"/>
              </a:rPr>
              <a:t>Produces</a:t>
            </a:r>
            <a:r>
              <a:rPr sz="2000" spc="-90" dirty="0">
                <a:solidFill>
                  <a:srgbClr val="080808"/>
                </a:solidFill>
                <a:latin typeface="Times New Roman" panose="02020603050405020304" pitchFamily="18" charset="0"/>
                <a:cs typeface="Times New Roman" panose="02020603050405020304" pitchFamily="18" charset="0"/>
              </a:rPr>
              <a:t> </a:t>
            </a:r>
            <a:r>
              <a:rPr sz="2000" spc="35" dirty="0">
                <a:solidFill>
                  <a:srgbClr val="080808"/>
                </a:solidFill>
                <a:latin typeface="Times New Roman" panose="02020603050405020304" pitchFamily="18" charset="0"/>
                <a:cs typeface="Times New Roman" panose="02020603050405020304" pitchFamily="18" charset="0"/>
              </a:rPr>
              <a:t>unified_records.jsonl</a:t>
            </a:r>
            <a:r>
              <a:rPr sz="2000" spc="-135" dirty="0">
                <a:solidFill>
                  <a:srgbClr val="080808"/>
                </a:solidFill>
                <a:latin typeface="Times New Roman" panose="02020603050405020304" pitchFamily="18" charset="0"/>
                <a:cs typeface="Times New Roman" panose="02020603050405020304" pitchFamily="18" charset="0"/>
              </a:rPr>
              <a:t> </a:t>
            </a:r>
            <a:r>
              <a:rPr sz="2000" spc="25" dirty="0">
                <a:solidFill>
                  <a:srgbClr val="080808"/>
                </a:solidFill>
                <a:latin typeface="Times New Roman" panose="02020603050405020304" pitchFamily="18" charset="0"/>
                <a:cs typeface="Times New Roman" panose="02020603050405020304" pitchFamily="18" charset="0"/>
              </a:rPr>
              <a:t>-</a:t>
            </a:r>
            <a:r>
              <a:rPr sz="2000" spc="800" dirty="0">
                <a:solidFill>
                  <a:srgbClr val="080808"/>
                </a:solidFill>
                <a:latin typeface="Times New Roman" panose="02020603050405020304" pitchFamily="18" charset="0"/>
                <a:cs typeface="Times New Roman" panose="02020603050405020304" pitchFamily="18" charset="0"/>
              </a:rPr>
              <a:t> </a:t>
            </a:r>
            <a:r>
              <a:rPr sz="2000" spc="-40" dirty="0">
                <a:solidFill>
                  <a:srgbClr val="080808"/>
                </a:solidFill>
                <a:latin typeface="Times New Roman" panose="02020603050405020304" pitchFamily="18" charset="0"/>
                <a:cs typeface="Times New Roman" panose="02020603050405020304" pitchFamily="18" charset="0"/>
              </a:rPr>
              <a:t>a</a:t>
            </a:r>
            <a:r>
              <a:rPr sz="2000" spc="-125" dirty="0">
                <a:solidFill>
                  <a:srgbClr val="080808"/>
                </a:solidFill>
                <a:latin typeface="Times New Roman" panose="02020603050405020304" pitchFamily="18" charset="0"/>
                <a:cs typeface="Times New Roman" panose="02020603050405020304" pitchFamily="18" charset="0"/>
              </a:rPr>
              <a:t> </a:t>
            </a:r>
            <a:r>
              <a:rPr sz="2000" spc="35" dirty="0">
                <a:solidFill>
                  <a:srgbClr val="080808"/>
                </a:solidFill>
                <a:latin typeface="Times New Roman" panose="02020603050405020304" pitchFamily="18" charset="0"/>
                <a:cs typeface="Times New Roman" panose="02020603050405020304" pitchFamily="18" charset="0"/>
              </a:rPr>
              <a:t>clean,</a:t>
            </a:r>
            <a:r>
              <a:rPr sz="2000" spc="-215" dirty="0">
                <a:solidFill>
                  <a:srgbClr val="080808"/>
                </a:solidFill>
                <a:latin typeface="Times New Roman" panose="02020603050405020304" pitchFamily="18" charset="0"/>
                <a:cs typeface="Times New Roman" panose="02020603050405020304" pitchFamily="18" charset="0"/>
              </a:rPr>
              <a:t> </a:t>
            </a:r>
            <a:r>
              <a:rPr sz="2000" spc="35" dirty="0">
                <a:solidFill>
                  <a:srgbClr val="080808"/>
                </a:solidFill>
                <a:latin typeface="Times New Roman" panose="02020603050405020304" pitchFamily="18" charset="0"/>
                <a:cs typeface="Times New Roman" panose="02020603050405020304" pitchFamily="18" charset="0"/>
              </a:rPr>
              <a:t>normalized</a:t>
            </a:r>
            <a:r>
              <a:rPr sz="2000" spc="15" dirty="0">
                <a:solidFill>
                  <a:srgbClr val="080808"/>
                </a:solidFill>
                <a:latin typeface="Times New Roman" panose="02020603050405020304" pitchFamily="18" charset="0"/>
                <a:cs typeface="Times New Roman" panose="02020603050405020304" pitchFamily="18" charset="0"/>
              </a:rPr>
              <a:t> </a:t>
            </a:r>
            <a:r>
              <a:rPr sz="2000" spc="45" dirty="0">
                <a:solidFill>
                  <a:srgbClr val="080808"/>
                </a:solidFill>
                <a:latin typeface="Times New Roman" panose="02020603050405020304" pitchFamily="18" charset="0"/>
                <a:cs typeface="Times New Roman" panose="02020603050405020304" pitchFamily="18" charset="0"/>
              </a:rPr>
              <a:t>dataset</a:t>
            </a:r>
            <a:r>
              <a:rPr sz="2000" spc="-25" dirty="0">
                <a:solidFill>
                  <a:srgbClr val="080808"/>
                </a:solidFill>
                <a:latin typeface="Times New Roman" panose="02020603050405020304" pitchFamily="18" charset="0"/>
                <a:cs typeface="Times New Roman" panose="02020603050405020304" pitchFamily="18" charset="0"/>
              </a:rPr>
              <a:t> </a:t>
            </a:r>
            <a:r>
              <a:rPr sz="2000" spc="15" dirty="0">
                <a:solidFill>
                  <a:srgbClr val="080808"/>
                </a:solidFill>
                <a:latin typeface="Times New Roman" panose="02020603050405020304" pitchFamily="18" charset="0"/>
                <a:cs typeface="Times New Roman" panose="02020603050405020304" pitchFamily="18" charset="0"/>
              </a:rPr>
              <a:t>across</a:t>
            </a:r>
            <a:r>
              <a:rPr sz="2000" spc="-75" dirty="0">
                <a:solidFill>
                  <a:srgbClr val="080808"/>
                </a:solidFill>
                <a:latin typeface="Times New Roman" panose="02020603050405020304" pitchFamily="18" charset="0"/>
                <a:cs typeface="Times New Roman" panose="02020603050405020304" pitchFamily="18" charset="0"/>
              </a:rPr>
              <a:t> </a:t>
            </a:r>
            <a:r>
              <a:rPr sz="2000" dirty="0">
                <a:solidFill>
                  <a:srgbClr val="080808"/>
                </a:solidFill>
                <a:latin typeface="Times New Roman" panose="02020603050405020304" pitchFamily="18" charset="0"/>
                <a:cs typeface="Times New Roman" panose="02020603050405020304" pitchFamily="18" charset="0"/>
              </a:rPr>
              <a:t>Twitter15,</a:t>
            </a:r>
            <a:r>
              <a:rPr sz="2000" spc="-25" dirty="0">
                <a:solidFill>
                  <a:srgbClr val="080808"/>
                </a:solidFill>
                <a:latin typeface="Times New Roman" panose="02020603050405020304" pitchFamily="18" charset="0"/>
                <a:cs typeface="Times New Roman" panose="02020603050405020304" pitchFamily="18" charset="0"/>
              </a:rPr>
              <a:t> </a:t>
            </a:r>
            <a:r>
              <a:rPr sz="2000" spc="10" dirty="0">
                <a:solidFill>
                  <a:srgbClr val="080808"/>
                </a:solidFill>
                <a:latin typeface="Times New Roman" panose="02020603050405020304" pitchFamily="18" charset="0"/>
                <a:cs typeface="Times New Roman" panose="02020603050405020304" pitchFamily="18" charset="0"/>
              </a:rPr>
              <a:t>Twitter16,</a:t>
            </a:r>
            <a:r>
              <a:rPr sz="2000" spc="-10" dirty="0">
                <a:solidFill>
                  <a:srgbClr val="080808"/>
                </a:solidFill>
                <a:latin typeface="Times New Roman" panose="02020603050405020304" pitchFamily="18" charset="0"/>
                <a:cs typeface="Times New Roman" panose="02020603050405020304" pitchFamily="18" charset="0"/>
              </a:rPr>
              <a:t> </a:t>
            </a:r>
            <a:r>
              <a:rPr sz="2000" spc="10" dirty="0">
                <a:solidFill>
                  <a:srgbClr val="080808"/>
                </a:solidFill>
                <a:latin typeface="Times New Roman" panose="02020603050405020304" pitchFamily="18" charset="0"/>
                <a:cs typeface="Times New Roman" panose="02020603050405020304" pitchFamily="18" charset="0"/>
              </a:rPr>
              <a:t>RumourEval, </a:t>
            </a:r>
            <a:r>
              <a:rPr sz="2000" spc="60" dirty="0">
                <a:solidFill>
                  <a:srgbClr val="080808"/>
                </a:solidFill>
                <a:latin typeface="Times New Roman" panose="02020603050405020304" pitchFamily="18" charset="0"/>
                <a:cs typeface="Times New Roman" panose="02020603050405020304" pitchFamily="18" charset="0"/>
              </a:rPr>
              <a:t>and</a:t>
            </a:r>
            <a:r>
              <a:rPr sz="2000" spc="25" dirty="0">
                <a:solidFill>
                  <a:srgbClr val="080808"/>
                </a:solidFill>
                <a:latin typeface="Times New Roman" panose="02020603050405020304" pitchFamily="18" charset="0"/>
                <a:cs typeface="Times New Roman" panose="02020603050405020304" pitchFamily="18" charset="0"/>
              </a:rPr>
              <a:t> </a:t>
            </a:r>
            <a:r>
              <a:rPr sz="2000" spc="5" dirty="0">
                <a:solidFill>
                  <a:srgbClr val="080808"/>
                </a:solidFill>
                <a:latin typeface="Times New Roman" panose="02020603050405020304" pitchFamily="18" charset="0"/>
                <a:cs typeface="Times New Roman" panose="02020603050405020304" pitchFamily="18" charset="0"/>
              </a:rPr>
              <a:t>PHEME.</a:t>
            </a:r>
            <a:endParaRPr sz="2000" dirty="0">
              <a:solidFill>
                <a:srgbClr val="080808"/>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25373" y="556805"/>
            <a:ext cx="13767192" cy="810991"/>
          </a:xfrm>
          <a:prstGeom prst="rect">
            <a:avLst/>
          </a:prstGeom>
        </p:spPr>
        <p:txBody>
          <a:bodyPr vert="horz" wrap="square" lIns="0" tIns="5080" rIns="0" bIns="0" rtlCol="0">
            <a:spAutoFit/>
          </a:bodyPr>
          <a:lstStyle/>
          <a:p>
            <a:pPr marL="12700" marR="5080" indent="635">
              <a:lnSpc>
                <a:spcPct val="103699"/>
              </a:lnSpc>
              <a:spcBef>
                <a:spcPts val="40"/>
              </a:spcBef>
            </a:pPr>
            <a:r>
              <a:rPr sz="5400" dirty="0">
                <a:solidFill>
                  <a:srgbClr val="080808"/>
                </a:solidFill>
                <a:latin typeface="Times New Roman" panose="02020603050405020304" pitchFamily="18" charset="0"/>
                <a:cs typeface="Times New Roman" panose="02020603050405020304" pitchFamily="18" charset="0"/>
              </a:rPr>
              <a:t>Phase</a:t>
            </a:r>
            <a:r>
              <a:rPr sz="5400" spc="-65" dirty="0">
                <a:solidFill>
                  <a:srgbClr val="080808"/>
                </a:solidFill>
                <a:latin typeface="Times New Roman" panose="02020603050405020304" pitchFamily="18" charset="0"/>
                <a:cs typeface="Times New Roman" panose="02020603050405020304" pitchFamily="18" charset="0"/>
              </a:rPr>
              <a:t> </a:t>
            </a:r>
            <a:r>
              <a:rPr sz="5400" dirty="0">
                <a:solidFill>
                  <a:srgbClr val="080808"/>
                </a:solidFill>
                <a:latin typeface="Times New Roman" panose="02020603050405020304" pitchFamily="18" charset="0"/>
                <a:cs typeface="Times New Roman" panose="02020603050405020304" pitchFamily="18" charset="0"/>
              </a:rPr>
              <a:t>2:</a:t>
            </a:r>
            <a:r>
              <a:rPr sz="5400" spc="-135" dirty="0">
                <a:solidFill>
                  <a:srgbClr val="080808"/>
                </a:solidFill>
                <a:latin typeface="Times New Roman" panose="02020603050405020304" pitchFamily="18" charset="0"/>
                <a:cs typeface="Times New Roman" panose="02020603050405020304" pitchFamily="18" charset="0"/>
              </a:rPr>
              <a:t> </a:t>
            </a:r>
            <a:r>
              <a:rPr sz="5400" spc="75" dirty="0">
                <a:solidFill>
                  <a:srgbClr val="080808"/>
                </a:solidFill>
                <a:latin typeface="Times New Roman" panose="02020603050405020304" pitchFamily="18" charset="0"/>
                <a:cs typeface="Times New Roman" panose="02020603050405020304" pitchFamily="18" charset="0"/>
              </a:rPr>
              <a:t>LLM-augmented</a:t>
            </a:r>
            <a:r>
              <a:rPr sz="5400" spc="40" dirty="0">
                <a:solidFill>
                  <a:srgbClr val="080808"/>
                </a:solidFill>
                <a:latin typeface="Times New Roman" panose="02020603050405020304" pitchFamily="18" charset="0"/>
                <a:cs typeface="Times New Roman" panose="02020603050405020304" pitchFamily="18" charset="0"/>
              </a:rPr>
              <a:t> </a:t>
            </a:r>
            <a:r>
              <a:rPr sz="5400" spc="30" dirty="0">
                <a:solidFill>
                  <a:srgbClr val="080808"/>
                </a:solidFill>
                <a:latin typeface="Times New Roman" panose="02020603050405020304" pitchFamily="18" charset="0"/>
                <a:cs typeface="Times New Roman" panose="02020603050405020304" pitchFamily="18" charset="0"/>
              </a:rPr>
              <a:t>data </a:t>
            </a:r>
            <a:r>
              <a:rPr sz="5400" spc="40" dirty="0">
                <a:solidFill>
                  <a:srgbClr val="080808"/>
                </a:solidFill>
                <a:latin typeface="Times New Roman" panose="02020603050405020304" pitchFamily="18" charset="0"/>
                <a:cs typeface="Times New Roman" panose="02020603050405020304" pitchFamily="18" charset="0"/>
              </a:rPr>
              <a:t>generation</a:t>
            </a:r>
            <a:endParaRPr sz="5400" dirty="0">
              <a:solidFill>
                <a:srgbClr val="080808"/>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525373" y="2426709"/>
            <a:ext cx="487045" cy="529590"/>
          </a:xfrm>
          <a:prstGeom prst="rect">
            <a:avLst/>
          </a:prstGeom>
        </p:spPr>
        <p:txBody>
          <a:bodyPr vert="horz" wrap="square" lIns="0" tIns="13335" rIns="0" bIns="0" rtlCol="0">
            <a:spAutoFit/>
          </a:bodyPr>
          <a:lstStyle/>
          <a:p>
            <a:pPr marL="12700">
              <a:lnSpc>
                <a:spcPct val="100000"/>
              </a:lnSpc>
              <a:spcBef>
                <a:spcPts val="105"/>
              </a:spcBef>
            </a:pPr>
            <a:r>
              <a:rPr sz="3300" spc="140" dirty="0">
                <a:solidFill>
                  <a:srgbClr val="080808"/>
                </a:solidFill>
                <a:latin typeface="Times New Roman" panose="02020603050405020304" pitchFamily="18" charset="0"/>
                <a:cs typeface="Times New Roman" panose="02020603050405020304" pitchFamily="18" charset="0"/>
              </a:rPr>
              <a:t>01</a:t>
            </a:r>
            <a:endParaRPr sz="3300">
              <a:solidFill>
                <a:srgbClr val="080808"/>
              </a:solidFill>
              <a:latin typeface="Times New Roman" panose="02020603050405020304" pitchFamily="18" charset="0"/>
              <a:cs typeface="Times New Roman" panose="02020603050405020304" pitchFamily="18" charset="0"/>
            </a:endParaRPr>
          </a:p>
        </p:txBody>
      </p:sp>
      <p:sp>
        <p:nvSpPr>
          <p:cNvPr id="4" name="object 4"/>
          <p:cNvSpPr txBox="1"/>
          <p:nvPr/>
        </p:nvSpPr>
        <p:spPr>
          <a:xfrm>
            <a:off x="1493554" y="2359876"/>
            <a:ext cx="4879340" cy="667385"/>
          </a:xfrm>
          <a:prstGeom prst="rect">
            <a:avLst/>
          </a:prstGeom>
        </p:spPr>
        <p:txBody>
          <a:bodyPr vert="horz" wrap="square" lIns="0" tIns="13970" rIns="0" bIns="0" rtlCol="0">
            <a:spAutoFit/>
          </a:bodyPr>
          <a:lstStyle/>
          <a:p>
            <a:pPr marL="12700">
              <a:lnSpc>
                <a:spcPct val="100000"/>
              </a:lnSpc>
              <a:spcBef>
                <a:spcPts val="110"/>
              </a:spcBef>
            </a:pPr>
            <a:r>
              <a:rPr sz="4200" spc="145" dirty="0">
                <a:solidFill>
                  <a:srgbClr val="080808"/>
                </a:solidFill>
                <a:latin typeface="Times New Roman" panose="02020603050405020304" pitchFamily="18" charset="0"/>
                <a:cs typeface="Times New Roman" panose="02020603050405020304" pitchFamily="18" charset="0"/>
              </a:rPr>
              <a:t>Candidate</a:t>
            </a:r>
            <a:r>
              <a:rPr sz="4200" spc="-15" dirty="0">
                <a:solidFill>
                  <a:srgbClr val="080808"/>
                </a:solidFill>
                <a:latin typeface="Times New Roman" panose="02020603050405020304" pitchFamily="18" charset="0"/>
                <a:cs typeface="Times New Roman" panose="02020603050405020304" pitchFamily="18" charset="0"/>
              </a:rPr>
              <a:t> </a:t>
            </a:r>
            <a:r>
              <a:rPr sz="4200" spc="95" dirty="0">
                <a:solidFill>
                  <a:srgbClr val="080808"/>
                </a:solidFill>
                <a:latin typeface="Times New Roman" panose="02020603050405020304" pitchFamily="18" charset="0"/>
                <a:cs typeface="Times New Roman" panose="02020603050405020304" pitchFamily="18" charset="0"/>
              </a:rPr>
              <a:t>generation</a:t>
            </a:r>
            <a:endParaRPr sz="4200">
              <a:solidFill>
                <a:srgbClr val="080808"/>
              </a:solidFill>
              <a:latin typeface="Times New Roman" panose="02020603050405020304" pitchFamily="18" charset="0"/>
              <a:cs typeface="Times New Roman" panose="02020603050405020304" pitchFamily="18" charset="0"/>
            </a:endParaRPr>
          </a:p>
        </p:txBody>
      </p:sp>
      <p:sp>
        <p:nvSpPr>
          <p:cNvPr id="5" name="object 5"/>
          <p:cNvSpPr txBox="1"/>
          <p:nvPr/>
        </p:nvSpPr>
        <p:spPr>
          <a:xfrm>
            <a:off x="525373" y="3801536"/>
            <a:ext cx="478790" cy="529590"/>
          </a:xfrm>
          <a:prstGeom prst="rect">
            <a:avLst/>
          </a:prstGeom>
        </p:spPr>
        <p:txBody>
          <a:bodyPr vert="horz" wrap="square" lIns="0" tIns="13335" rIns="0" bIns="0" rtlCol="0">
            <a:spAutoFit/>
          </a:bodyPr>
          <a:lstStyle/>
          <a:p>
            <a:pPr marL="12700">
              <a:lnSpc>
                <a:spcPct val="100000"/>
              </a:lnSpc>
              <a:spcBef>
                <a:spcPts val="105"/>
              </a:spcBef>
            </a:pPr>
            <a:r>
              <a:rPr sz="3300" spc="105" dirty="0">
                <a:solidFill>
                  <a:srgbClr val="080808"/>
                </a:solidFill>
                <a:latin typeface="Times New Roman" panose="02020603050405020304" pitchFamily="18" charset="0"/>
                <a:cs typeface="Times New Roman" panose="02020603050405020304" pitchFamily="18" charset="0"/>
              </a:rPr>
              <a:t>02</a:t>
            </a:r>
            <a:endParaRPr sz="3300">
              <a:solidFill>
                <a:srgbClr val="080808"/>
              </a:solidFill>
              <a:latin typeface="Times New Roman" panose="02020603050405020304" pitchFamily="18" charset="0"/>
              <a:cs typeface="Times New Roman" panose="02020603050405020304" pitchFamily="18" charset="0"/>
            </a:endParaRPr>
          </a:p>
        </p:txBody>
      </p:sp>
      <p:sp>
        <p:nvSpPr>
          <p:cNvPr id="6" name="object 6"/>
          <p:cNvSpPr txBox="1"/>
          <p:nvPr/>
        </p:nvSpPr>
        <p:spPr>
          <a:xfrm>
            <a:off x="1480455" y="3753798"/>
            <a:ext cx="4951095" cy="667385"/>
          </a:xfrm>
          <a:prstGeom prst="rect">
            <a:avLst/>
          </a:prstGeom>
        </p:spPr>
        <p:txBody>
          <a:bodyPr vert="horz" wrap="square" lIns="0" tIns="13970" rIns="0" bIns="0" rtlCol="0">
            <a:spAutoFit/>
          </a:bodyPr>
          <a:lstStyle/>
          <a:p>
            <a:pPr marL="12700">
              <a:lnSpc>
                <a:spcPct val="100000"/>
              </a:lnSpc>
              <a:spcBef>
                <a:spcPts val="110"/>
              </a:spcBef>
            </a:pPr>
            <a:r>
              <a:rPr sz="4200" spc="90" dirty="0">
                <a:solidFill>
                  <a:srgbClr val="080808"/>
                </a:solidFill>
                <a:latin typeface="Times New Roman" panose="02020603050405020304" pitchFamily="18" charset="0"/>
                <a:cs typeface="Times New Roman" panose="02020603050405020304" pitchFamily="18" charset="0"/>
              </a:rPr>
              <a:t>Adaptive</a:t>
            </a:r>
            <a:r>
              <a:rPr sz="4200" spc="-50" dirty="0">
                <a:solidFill>
                  <a:srgbClr val="080808"/>
                </a:solidFill>
                <a:latin typeface="Times New Roman" panose="02020603050405020304" pitchFamily="18" charset="0"/>
                <a:cs typeface="Times New Roman" panose="02020603050405020304" pitchFamily="18" charset="0"/>
              </a:rPr>
              <a:t> </a:t>
            </a:r>
            <a:r>
              <a:rPr sz="4200" spc="50" dirty="0">
                <a:solidFill>
                  <a:srgbClr val="080808"/>
                </a:solidFill>
                <a:latin typeface="Times New Roman" panose="02020603050405020304" pitchFamily="18" charset="0"/>
                <a:cs typeface="Times New Roman" panose="02020603050405020304" pitchFamily="18" charset="0"/>
              </a:rPr>
              <a:t>flow</a:t>
            </a:r>
            <a:r>
              <a:rPr sz="4200" spc="-175" dirty="0">
                <a:solidFill>
                  <a:srgbClr val="080808"/>
                </a:solidFill>
                <a:latin typeface="Times New Roman" panose="02020603050405020304" pitchFamily="18" charset="0"/>
                <a:cs typeface="Times New Roman" panose="02020603050405020304" pitchFamily="18" charset="0"/>
              </a:rPr>
              <a:t> </a:t>
            </a:r>
            <a:r>
              <a:rPr sz="4200" spc="120" dirty="0">
                <a:solidFill>
                  <a:srgbClr val="080808"/>
                </a:solidFill>
                <a:latin typeface="Times New Roman" panose="02020603050405020304" pitchFamily="18" charset="0"/>
                <a:cs typeface="Times New Roman" panose="02020603050405020304" pitchFamily="18" charset="0"/>
              </a:rPr>
              <a:t>control</a:t>
            </a:r>
            <a:endParaRPr sz="4200">
              <a:solidFill>
                <a:srgbClr val="080808"/>
              </a:solidFill>
              <a:latin typeface="Times New Roman" panose="02020603050405020304" pitchFamily="18" charset="0"/>
              <a:cs typeface="Times New Roman" panose="02020603050405020304" pitchFamily="18" charset="0"/>
            </a:endParaRPr>
          </a:p>
        </p:txBody>
      </p:sp>
      <p:sp>
        <p:nvSpPr>
          <p:cNvPr id="7" name="object 7"/>
          <p:cNvSpPr txBox="1"/>
          <p:nvPr/>
        </p:nvSpPr>
        <p:spPr>
          <a:xfrm>
            <a:off x="7200900" y="2400386"/>
            <a:ext cx="6035964" cy="943528"/>
          </a:xfrm>
          <a:prstGeom prst="rect">
            <a:avLst/>
          </a:prstGeom>
        </p:spPr>
        <p:txBody>
          <a:bodyPr vert="horz" wrap="square" lIns="0" tIns="3175" rIns="0" bIns="0" rtlCol="0">
            <a:spAutoFit/>
          </a:bodyPr>
          <a:lstStyle/>
          <a:p>
            <a:pPr marL="12700" marR="5080" indent="1270">
              <a:lnSpc>
                <a:spcPct val="103800"/>
              </a:lnSpc>
              <a:spcBef>
                <a:spcPts val="25"/>
              </a:spcBef>
            </a:pPr>
            <a:r>
              <a:rPr sz="2000" spc="60" dirty="0">
                <a:solidFill>
                  <a:srgbClr val="080808"/>
                </a:solidFill>
                <a:latin typeface="Times New Roman" panose="02020603050405020304" pitchFamily="18" charset="0"/>
                <a:cs typeface="Times New Roman" panose="02020603050405020304" pitchFamily="18" charset="0"/>
              </a:rPr>
              <a:t>Gemini</a:t>
            </a:r>
            <a:r>
              <a:rPr sz="2000" spc="-25" dirty="0">
                <a:solidFill>
                  <a:srgbClr val="080808"/>
                </a:solidFill>
                <a:latin typeface="Times New Roman" panose="02020603050405020304" pitchFamily="18" charset="0"/>
                <a:cs typeface="Times New Roman" panose="02020603050405020304" pitchFamily="18" charset="0"/>
              </a:rPr>
              <a:t> </a:t>
            </a:r>
            <a:r>
              <a:rPr sz="2000" spc="50" dirty="0">
                <a:solidFill>
                  <a:srgbClr val="080808"/>
                </a:solidFill>
                <a:latin typeface="Times New Roman" panose="02020603050405020304" pitchFamily="18" charset="0"/>
                <a:cs typeface="Times New Roman" panose="02020603050405020304" pitchFamily="18" charset="0"/>
              </a:rPr>
              <a:t>rewrites</a:t>
            </a:r>
            <a:r>
              <a:rPr sz="2000" spc="-85" dirty="0">
                <a:solidFill>
                  <a:srgbClr val="080808"/>
                </a:solidFill>
                <a:latin typeface="Times New Roman" panose="02020603050405020304" pitchFamily="18" charset="0"/>
                <a:cs typeface="Times New Roman" panose="02020603050405020304" pitchFamily="18" charset="0"/>
              </a:rPr>
              <a:t> </a:t>
            </a:r>
            <a:r>
              <a:rPr sz="2000" dirty="0">
                <a:solidFill>
                  <a:srgbClr val="080808"/>
                </a:solidFill>
                <a:latin typeface="Times New Roman" panose="02020603050405020304" pitchFamily="18" charset="0"/>
                <a:cs typeface="Times New Roman" panose="02020603050405020304" pitchFamily="18" charset="0"/>
              </a:rPr>
              <a:t>each</a:t>
            </a:r>
            <a:r>
              <a:rPr sz="2000" spc="-55" dirty="0">
                <a:solidFill>
                  <a:srgbClr val="080808"/>
                </a:solidFill>
                <a:latin typeface="Times New Roman" panose="02020603050405020304" pitchFamily="18" charset="0"/>
                <a:cs typeface="Times New Roman" panose="02020603050405020304" pitchFamily="18" charset="0"/>
              </a:rPr>
              <a:t> </a:t>
            </a:r>
            <a:r>
              <a:rPr sz="2000" spc="65" dirty="0">
                <a:solidFill>
                  <a:srgbClr val="080808"/>
                </a:solidFill>
                <a:latin typeface="Times New Roman" panose="02020603050405020304" pitchFamily="18" charset="0"/>
                <a:cs typeface="Times New Roman" panose="02020603050405020304" pitchFamily="18" charset="0"/>
              </a:rPr>
              <a:t>unified</a:t>
            </a:r>
            <a:r>
              <a:rPr sz="2000" spc="-5" dirty="0">
                <a:solidFill>
                  <a:srgbClr val="080808"/>
                </a:solidFill>
                <a:latin typeface="Times New Roman" panose="02020603050405020304" pitchFamily="18" charset="0"/>
                <a:cs typeface="Times New Roman" panose="02020603050405020304" pitchFamily="18" charset="0"/>
              </a:rPr>
              <a:t> </a:t>
            </a:r>
            <a:r>
              <a:rPr sz="2000" spc="50" dirty="0">
                <a:solidFill>
                  <a:srgbClr val="080808"/>
                </a:solidFill>
                <a:latin typeface="Times New Roman" panose="02020603050405020304" pitchFamily="18" charset="0"/>
                <a:cs typeface="Times New Roman" panose="02020603050405020304" pitchFamily="18" charset="0"/>
              </a:rPr>
              <a:t>record</a:t>
            </a:r>
            <a:r>
              <a:rPr sz="2000" spc="-75" dirty="0">
                <a:solidFill>
                  <a:srgbClr val="080808"/>
                </a:solidFill>
                <a:latin typeface="Times New Roman" panose="02020603050405020304" pitchFamily="18" charset="0"/>
                <a:cs typeface="Times New Roman" panose="02020603050405020304" pitchFamily="18" charset="0"/>
              </a:rPr>
              <a:t> </a:t>
            </a:r>
            <a:r>
              <a:rPr sz="2000" spc="85" dirty="0">
                <a:solidFill>
                  <a:srgbClr val="080808"/>
                </a:solidFill>
                <a:latin typeface="Times New Roman" panose="02020603050405020304" pitchFamily="18" charset="0"/>
                <a:cs typeface="Times New Roman" panose="02020603050405020304" pitchFamily="18" charset="0"/>
              </a:rPr>
              <a:t>into</a:t>
            </a:r>
            <a:r>
              <a:rPr sz="2000" spc="-75" dirty="0">
                <a:solidFill>
                  <a:srgbClr val="080808"/>
                </a:solidFill>
                <a:latin typeface="Times New Roman" panose="02020603050405020304" pitchFamily="18" charset="0"/>
                <a:cs typeface="Times New Roman" panose="02020603050405020304" pitchFamily="18" charset="0"/>
              </a:rPr>
              <a:t> </a:t>
            </a:r>
            <a:r>
              <a:rPr sz="2000" spc="75" dirty="0">
                <a:solidFill>
                  <a:srgbClr val="080808"/>
                </a:solidFill>
                <a:latin typeface="Times New Roman" panose="02020603050405020304" pitchFamily="18" charset="0"/>
                <a:cs typeface="Times New Roman" panose="02020603050405020304" pitchFamily="18" charset="0"/>
              </a:rPr>
              <a:t>multiple </a:t>
            </a:r>
            <a:r>
              <a:rPr sz="2000" spc="50" dirty="0">
                <a:solidFill>
                  <a:srgbClr val="080808"/>
                </a:solidFill>
                <a:latin typeface="Times New Roman" panose="02020603050405020304" pitchFamily="18" charset="0"/>
                <a:cs typeface="Times New Roman" panose="02020603050405020304" pitchFamily="18" charset="0"/>
              </a:rPr>
              <a:t>candidates</a:t>
            </a:r>
            <a:r>
              <a:rPr sz="2000" spc="95" dirty="0">
                <a:solidFill>
                  <a:srgbClr val="080808"/>
                </a:solidFill>
                <a:latin typeface="Times New Roman" panose="02020603050405020304" pitchFamily="18" charset="0"/>
                <a:cs typeface="Times New Roman" panose="02020603050405020304" pitchFamily="18" charset="0"/>
              </a:rPr>
              <a:t> </a:t>
            </a:r>
            <a:r>
              <a:rPr sz="2000" dirty="0">
                <a:solidFill>
                  <a:srgbClr val="080808"/>
                </a:solidFill>
                <a:latin typeface="Times New Roman" panose="02020603050405020304" pitchFamily="18" charset="0"/>
                <a:cs typeface="Times New Roman" panose="02020603050405020304" pitchFamily="18" charset="0"/>
              </a:rPr>
              <a:t>preserving</a:t>
            </a:r>
            <a:r>
              <a:rPr sz="2000" spc="75" dirty="0">
                <a:solidFill>
                  <a:srgbClr val="080808"/>
                </a:solidFill>
                <a:latin typeface="Times New Roman" panose="02020603050405020304" pitchFamily="18" charset="0"/>
                <a:cs typeface="Times New Roman" panose="02020603050405020304" pitchFamily="18" charset="0"/>
              </a:rPr>
              <a:t> </a:t>
            </a:r>
            <a:r>
              <a:rPr sz="2000" spc="55" dirty="0">
                <a:solidFill>
                  <a:srgbClr val="080808"/>
                </a:solidFill>
                <a:latin typeface="Times New Roman" panose="02020603050405020304" pitchFamily="18" charset="0"/>
                <a:cs typeface="Times New Roman" panose="02020603050405020304" pitchFamily="18" charset="0"/>
              </a:rPr>
              <a:t>core</a:t>
            </a:r>
            <a:r>
              <a:rPr sz="2000" spc="-25" dirty="0">
                <a:solidFill>
                  <a:srgbClr val="080808"/>
                </a:solidFill>
                <a:latin typeface="Times New Roman" panose="02020603050405020304" pitchFamily="18" charset="0"/>
                <a:cs typeface="Times New Roman" panose="02020603050405020304" pitchFamily="18" charset="0"/>
              </a:rPr>
              <a:t> </a:t>
            </a:r>
            <a:r>
              <a:rPr sz="2000" spc="50" dirty="0">
                <a:solidFill>
                  <a:srgbClr val="080808"/>
                </a:solidFill>
                <a:latin typeface="Times New Roman" panose="02020603050405020304" pitchFamily="18" charset="0"/>
                <a:cs typeface="Times New Roman" panose="02020603050405020304" pitchFamily="18" charset="0"/>
              </a:rPr>
              <a:t>meaning</a:t>
            </a:r>
            <a:r>
              <a:rPr sz="2000" spc="170" dirty="0">
                <a:solidFill>
                  <a:srgbClr val="080808"/>
                </a:solidFill>
                <a:latin typeface="Times New Roman" panose="02020603050405020304" pitchFamily="18" charset="0"/>
                <a:cs typeface="Times New Roman" panose="02020603050405020304" pitchFamily="18" charset="0"/>
              </a:rPr>
              <a:t> </a:t>
            </a:r>
            <a:r>
              <a:rPr sz="2000" dirty="0">
                <a:solidFill>
                  <a:srgbClr val="080808"/>
                </a:solidFill>
                <a:latin typeface="Times New Roman" panose="02020603050405020304" pitchFamily="18" charset="0"/>
                <a:cs typeface="Times New Roman" panose="02020603050405020304" pitchFamily="18" charset="0"/>
              </a:rPr>
              <a:t>-</a:t>
            </a:r>
            <a:r>
              <a:rPr sz="2000" spc="250" dirty="0">
                <a:solidFill>
                  <a:srgbClr val="080808"/>
                </a:solidFill>
                <a:latin typeface="Times New Roman" panose="02020603050405020304" pitchFamily="18" charset="0"/>
                <a:cs typeface="Times New Roman" panose="02020603050405020304" pitchFamily="18" charset="0"/>
              </a:rPr>
              <a:t> </a:t>
            </a:r>
            <a:r>
              <a:rPr sz="2000" dirty="0">
                <a:solidFill>
                  <a:srgbClr val="080808"/>
                </a:solidFill>
                <a:latin typeface="Times New Roman" panose="02020603050405020304" pitchFamily="18" charset="0"/>
                <a:cs typeface="Times New Roman" panose="02020603050405020304" pitchFamily="18" charset="0"/>
              </a:rPr>
              <a:t>used</a:t>
            </a:r>
            <a:r>
              <a:rPr sz="2000" spc="-15" dirty="0">
                <a:solidFill>
                  <a:srgbClr val="080808"/>
                </a:solidFill>
                <a:latin typeface="Times New Roman" panose="02020603050405020304" pitchFamily="18" charset="0"/>
                <a:cs typeface="Times New Roman" panose="02020603050405020304" pitchFamily="18" charset="0"/>
              </a:rPr>
              <a:t> </a:t>
            </a:r>
            <a:r>
              <a:rPr sz="2000" spc="-25" dirty="0">
                <a:solidFill>
                  <a:srgbClr val="080808"/>
                </a:solidFill>
                <a:latin typeface="Times New Roman" panose="02020603050405020304" pitchFamily="18" charset="0"/>
                <a:cs typeface="Times New Roman" panose="02020603050405020304" pitchFamily="18" charset="0"/>
              </a:rPr>
              <a:t>as </a:t>
            </a:r>
            <a:r>
              <a:rPr sz="2000" spc="55" dirty="0">
                <a:solidFill>
                  <a:srgbClr val="080808"/>
                </a:solidFill>
                <a:latin typeface="Times New Roman" panose="02020603050405020304" pitchFamily="18" charset="0"/>
                <a:cs typeface="Times New Roman" panose="02020603050405020304" pitchFamily="18" charset="0"/>
              </a:rPr>
              <a:t>positive</a:t>
            </a:r>
            <a:r>
              <a:rPr sz="2000" spc="75" dirty="0">
                <a:solidFill>
                  <a:srgbClr val="080808"/>
                </a:solidFill>
                <a:latin typeface="Times New Roman" panose="02020603050405020304" pitchFamily="18" charset="0"/>
                <a:cs typeface="Times New Roman" panose="02020603050405020304" pitchFamily="18" charset="0"/>
              </a:rPr>
              <a:t> </a:t>
            </a:r>
            <a:r>
              <a:rPr sz="2000" spc="10" dirty="0">
                <a:solidFill>
                  <a:srgbClr val="080808"/>
                </a:solidFill>
                <a:latin typeface="Times New Roman" panose="02020603050405020304" pitchFamily="18" charset="0"/>
                <a:cs typeface="Times New Roman" panose="02020603050405020304" pitchFamily="18" charset="0"/>
              </a:rPr>
              <a:t>pairs</a:t>
            </a:r>
            <a:r>
              <a:rPr sz="2000" spc="-45" dirty="0">
                <a:solidFill>
                  <a:srgbClr val="080808"/>
                </a:solidFill>
                <a:latin typeface="Times New Roman" panose="02020603050405020304" pitchFamily="18" charset="0"/>
                <a:cs typeface="Times New Roman" panose="02020603050405020304" pitchFamily="18" charset="0"/>
              </a:rPr>
              <a:t> </a:t>
            </a:r>
            <a:r>
              <a:rPr sz="2000" spc="10" dirty="0">
                <a:solidFill>
                  <a:srgbClr val="080808"/>
                </a:solidFill>
                <a:latin typeface="Times New Roman" panose="02020603050405020304" pitchFamily="18" charset="0"/>
                <a:cs typeface="Times New Roman" panose="02020603050405020304" pitchFamily="18" charset="0"/>
              </a:rPr>
              <a:t>in</a:t>
            </a:r>
            <a:r>
              <a:rPr sz="2000" spc="125" dirty="0">
                <a:solidFill>
                  <a:srgbClr val="080808"/>
                </a:solidFill>
                <a:latin typeface="Times New Roman" panose="02020603050405020304" pitchFamily="18" charset="0"/>
                <a:cs typeface="Times New Roman" panose="02020603050405020304" pitchFamily="18" charset="0"/>
              </a:rPr>
              <a:t> </a:t>
            </a:r>
            <a:r>
              <a:rPr sz="2000" spc="10" dirty="0">
                <a:solidFill>
                  <a:srgbClr val="080808"/>
                </a:solidFill>
                <a:latin typeface="Times New Roman" panose="02020603050405020304" pitchFamily="18" charset="0"/>
                <a:cs typeface="Times New Roman" panose="02020603050405020304" pitchFamily="18" charset="0"/>
              </a:rPr>
              <a:t>contrastive</a:t>
            </a:r>
            <a:r>
              <a:rPr sz="2000" spc="100" dirty="0">
                <a:solidFill>
                  <a:srgbClr val="080808"/>
                </a:solidFill>
                <a:latin typeface="Times New Roman" panose="02020603050405020304" pitchFamily="18" charset="0"/>
                <a:cs typeface="Times New Roman" panose="02020603050405020304" pitchFamily="18" charset="0"/>
              </a:rPr>
              <a:t> </a:t>
            </a:r>
            <a:r>
              <a:rPr sz="2000" spc="65" dirty="0">
                <a:solidFill>
                  <a:srgbClr val="080808"/>
                </a:solidFill>
                <a:latin typeface="Times New Roman" panose="02020603050405020304" pitchFamily="18" charset="0"/>
                <a:cs typeface="Times New Roman" panose="02020603050405020304" pitchFamily="18" charset="0"/>
              </a:rPr>
              <a:t>training.</a:t>
            </a:r>
            <a:endParaRPr sz="2000" dirty="0">
              <a:solidFill>
                <a:srgbClr val="080808"/>
              </a:solidFill>
              <a:latin typeface="Times New Roman" panose="02020603050405020304" pitchFamily="18" charset="0"/>
              <a:cs typeface="Times New Roman" panose="02020603050405020304" pitchFamily="18" charset="0"/>
            </a:endParaRPr>
          </a:p>
        </p:txBody>
      </p:sp>
      <p:sp>
        <p:nvSpPr>
          <p:cNvPr id="8" name="object 8"/>
          <p:cNvSpPr txBox="1"/>
          <p:nvPr/>
        </p:nvSpPr>
        <p:spPr>
          <a:xfrm>
            <a:off x="7200900" y="3750616"/>
            <a:ext cx="6147026" cy="943528"/>
          </a:xfrm>
          <a:prstGeom prst="rect">
            <a:avLst/>
          </a:prstGeom>
        </p:spPr>
        <p:txBody>
          <a:bodyPr vert="horz" wrap="square" lIns="0" tIns="3175" rIns="0" bIns="0" rtlCol="0">
            <a:spAutoFit/>
          </a:bodyPr>
          <a:lstStyle/>
          <a:p>
            <a:pPr marL="12700" marR="5080" indent="8255" algn="just">
              <a:lnSpc>
                <a:spcPct val="103800"/>
              </a:lnSpc>
              <a:spcBef>
                <a:spcPts val="25"/>
              </a:spcBef>
            </a:pPr>
            <a:r>
              <a:rPr sz="2000" dirty="0">
                <a:solidFill>
                  <a:srgbClr val="080808"/>
                </a:solidFill>
                <a:latin typeface="Times New Roman" panose="02020603050405020304" pitchFamily="18" charset="0"/>
                <a:cs typeface="Times New Roman" panose="02020603050405020304" pitchFamily="18" charset="0"/>
              </a:rPr>
              <a:t>A</a:t>
            </a:r>
            <a:r>
              <a:rPr sz="2000" spc="5" dirty="0">
                <a:solidFill>
                  <a:srgbClr val="080808"/>
                </a:solidFill>
                <a:latin typeface="Times New Roman" panose="02020603050405020304" pitchFamily="18" charset="0"/>
                <a:cs typeface="Times New Roman" panose="02020603050405020304" pitchFamily="18" charset="0"/>
              </a:rPr>
              <a:t> </a:t>
            </a:r>
            <a:r>
              <a:rPr sz="2000" spc="70" dirty="0">
                <a:solidFill>
                  <a:srgbClr val="080808"/>
                </a:solidFill>
                <a:latin typeface="Times New Roman" panose="02020603050405020304" pitchFamily="18" charset="0"/>
                <a:cs typeface="Times New Roman" panose="02020603050405020304" pitchFamily="18" charset="0"/>
              </a:rPr>
              <a:t>rolling-</a:t>
            </a:r>
            <a:r>
              <a:rPr sz="2000" spc="110" dirty="0">
                <a:solidFill>
                  <a:srgbClr val="080808"/>
                </a:solidFill>
                <a:latin typeface="Times New Roman" panose="02020603050405020304" pitchFamily="18" charset="0"/>
                <a:cs typeface="Times New Roman" panose="02020603050405020304" pitchFamily="18" charset="0"/>
              </a:rPr>
              <a:t>window</a:t>
            </a:r>
            <a:r>
              <a:rPr sz="2000" spc="-50" dirty="0">
                <a:solidFill>
                  <a:srgbClr val="080808"/>
                </a:solidFill>
                <a:latin typeface="Times New Roman" panose="02020603050405020304" pitchFamily="18" charset="0"/>
                <a:cs typeface="Times New Roman" panose="02020603050405020304" pitchFamily="18" charset="0"/>
              </a:rPr>
              <a:t> </a:t>
            </a:r>
            <a:r>
              <a:rPr sz="2000" spc="65" dirty="0">
                <a:solidFill>
                  <a:srgbClr val="080808"/>
                </a:solidFill>
                <a:latin typeface="Times New Roman" panose="02020603050405020304" pitchFamily="18" charset="0"/>
                <a:cs typeface="Times New Roman" panose="02020603050405020304" pitchFamily="18" charset="0"/>
              </a:rPr>
              <a:t>gating</a:t>
            </a:r>
            <a:r>
              <a:rPr sz="2000" dirty="0">
                <a:solidFill>
                  <a:srgbClr val="080808"/>
                </a:solidFill>
                <a:latin typeface="Times New Roman" panose="02020603050405020304" pitchFamily="18" charset="0"/>
                <a:cs typeface="Times New Roman" panose="02020603050405020304" pitchFamily="18" charset="0"/>
              </a:rPr>
              <a:t> </a:t>
            </a:r>
            <a:r>
              <a:rPr sz="2000" spc="55" dirty="0">
                <a:solidFill>
                  <a:srgbClr val="080808"/>
                </a:solidFill>
                <a:latin typeface="Times New Roman" panose="02020603050405020304" pitchFamily="18" charset="0"/>
                <a:cs typeface="Times New Roman" panose="02020603050405020304" pitchFamily="18" charset="0"/>
              </a:rPr>
              <a:t>mechanism</a:t>
            </a:r>
            <a:r>
              <a:rPr sz="2000" spc="95" dirty="0">
                <a:solidFill>
                  <a:srgbClr val="080808"/>
                </a:solidFill>
                <a:latin typeface="Times New Roman" panose="02020603050405020304" pitchFamily="18" charset="0"/>
                <a:cs typeface="Times New Roman" panose="02020603050405020304" pitchFamily="18" charset="0"/>
              </a:rPr>
              <a:t> </a:t>
            </a:r>
            <a:r>
              <a:rPr sz="2000" dirty="0">
                <a:solidFill>
                  <a:srgbClr val="080808"/>
                </a:solidFill>
                <a:latin typeface="Times New Roman" panose="02020603050405020304" pitchFamily="18" charset="0"/>
                <a:cs typeface="Times New Roman" panose="02020603050405020304" pitchFamily="18" charset="0"/>
              </a:rPr>
              <a:t>respects</a:t>
            </a:r>
            <a:r>
              <a:rPr sz="2000" spc="114" dirty="0">
                <a:solidFill>
                  <a:srgbClr val="080808"/>
                </a:solidFill>
                <a:latin typeface="Times New Roman" panose="02020603050405020304" pitchFamily="18" charset="0"/>
                <a:cs typeface="Times New Roman" panose="02020603050405020304" pitchFamily="18" charset="0"/>
              </a:rPr>
              <a:t> </a:t>
            </a:r>
            <a:r>
              <a:rPr sz="2000" spc="-25" dirty="0">
                <a:solidFill>
                  <a:srgbClr val="080808"/>
                </a:solidFill>
                <a:latin typeface="Times New Roman" panose="02020603050405020304" pitchFamily="18" charset="0"/>
                <a:cs typeface="Times New Roman" panose="02020603050405020304" pitchFamily="18" charset="0"/>
              </a:rPr>
              <a:t>API </a:t>
            </a:r>
            <a:r>
              <a:rPr sz="2000" dirty="0">
                <a:solidFill>
                  <a:srgbClr val="080808"/>
                </a:solidFill>
                <a:latin typeface="Times New Roman" panose="02020603050405020304" pitchFamily="18" charset="0"/>
                <a:cs typeface="Times New Roman" panose="02020603050405020304" pitchFamily="18" charset="0"/>
              </a:rPr>
              <a:t>rate</a:t>
            </a:r>
            <a:r>
              <a:rPr sz="2000" spc="-15" dirty="0">
                <a:solidFill>
                  <a:srgbClr val="080808"/>
                </a:solidFill>
                <a:latin typeface="Times New Roman" panose="02020603050405020304" pitchFamily="18" charset="0"/>
                <a:cs typeface="Times New Roman" panose="02020603050405020304" pitchFamily="18" charset="0"/>
              </a:rPr>
              <a:t> </a:t>
            </a:r>
            <a:r>
              <a:rPr sz="2000" spc="45" dirty="0">
                <a:solidFill>
                  <a:srgbClr val="080808"/>
                </a:solidFill>
                <a:latin typeface="Times New Roman" panose="02020603050405020304" pitchFamily="18" charset="0"/>
                <a:cs typeface="Times New Roman" panose="02020603050405020304" pitchFamily="18" charset="0"/>
              </a:rPr>
              <a:t>limits,</a:t>
            </a:r>
            <a:r>
              <a:rPr sz="2000" spc="-55" dirty="0">
                <a:solidFill>
                  <a:srgbClr val="080808"/>
                </a:solidFill>
                <a:latin typeface="Times New Roman" panose="02020603050405020304" pitchFamily="18" charset="0"/>
                <a:cs typeface="Times New Roman" panose="02020603050405020304" pitchFamily="18" charset="0"/>
              </a:rPr>
              <a:t> </a:t>
            </a:r>
            <a:r>
              <a:rPr sz="2000" dirty="0">
                <a:solidFill>
                  <a:srgbClr val="080808"/>
                </a:solidFill>
                <a:latin typeface="Times New Roman" panose="02020603050405020304" pitchFamily="18" charset="0"/>
                <a:cs typeface="Times New Roman" panose="02020603050405020304" pitchFamily="18" charset="0"/>
              </a:rPr>
              <a:t>dynamically</a:t>
            </a:r>
            <a:r>
              <a:rPr sz="2000" spc="285" dirty="0">
                <a:solidFill>
                  <a:srgbClr val="080808"/>
                </a:solidFill>
                <a:latin typeface="Times New Roman" panose="02020603050405020304" pitchFamily="18" charset="0"/>
                <a:cs typeface="Times New Roman" panose="02020603050405020304" pitchFamily="18" charset="0"/>
              </a:rPr>
              <a:t> </a:t>
            </a:r>
            <a:r>
              <a:rPr sz="2000" spc="50" dirty="0">
                <a:solidFill>
                  <a:srgbClr val="080808"/>
                </a:solidFill>
                <a:latin typeface="Times New Roman" panose="02020603050405020304" pitchFamily="18" charset="0"/>
                <a:cs typeface="Times New Roman" panose="02020603050405020304" pitchFamily="18" charset="0"/>
              </a:rPr>
              <a:t>reducing</a:t>
            </a:r>
            <a:r>
              <a:rPr sz="2000" spc="160" dirty="0">
                <a:solidFill>
                  <a:srgbClr val="080808"/>
                </a:solidFill>
                <a:latin typeface="Times New Roman" panose="02020603050405020304" pitchFamily="18" charset="0"/>
                <a:cs typeface="Times New Roman" panose="02020603050405020304" pitchFamily="18" charset="0"/>
              </a:rPr>
              <a:t> </a:t>
            </a:r>
            <a:r>
              <a:rPr sz="2000" spc="60" dirty="0">
                <a:solidFill>
                  <a:srgbClr val="080808"/>
                </a:solidFill>
                <a:latin typeface="Times New Roman" panose="02020603050405020304" pitchFamily="18" charset="0"/>
                <a:cs typeface="Times New Roman" panose="02020603050405020304" pitchFamily="18" charset="0"/>
              </a:rPr>
              <a:t>batch</a:t>
            </a:r>
            <a:r>
              <a:rPr sz="2000" spc="35" dirty="0">
                <a:solidFill>
                  <a:srgbClr val="080808"/>
                </a:solidFill>
                <a:latin typeface="Times New Roman" panose="02020603050405020304" pitchFamily="18" charset="0"/>
                <a:cs typeface="Times New Roman" panose="02020603050405020304" pitchFamily="18" charset="0"/>
              </a:rPr>
              <a:t> </a:t>
            </a:r>
            <a:r>
              <a:rPr sz="2000" dirty="0">
                <a:solidFill>
                  <a:srgbClr val="080808"/>
                </a:solidFill>
                <a:latin typeface="Times New Roman" panose="02020603050405020304" pitchFamily="18" charset="0"/>
                <a:cs typeface="Times New Roman" panose="02020603050405020304" pitchFamily="18" charset="0"/>
              </a:rPr>
              <a:t>sizes</a:t>
            </a:r>
            <a:r>
              <a:rPr sz="2000" spc="75" dirty="0">
                <a:solidFill>
                  <a:srgbClr val="080808"/>
                </a:solidFill>
                <a:latin typeface="Times New Roman" panose="02020603050405020304" pitchFamily="18" charset="0"/>
                <a:cs typeface="Times New Roman" panose="02020603050405020304" pitchFamily="18" charset="0"/>
              </a:rPr>
              <a:t> </a:t>
            </a:r>
            <a:r>
              <a:rPr sz="2000" spc="45" dirty="0">
                <a:solidFill>
                  <a:srgbClr val="080808"/>
                </a:solidFill>
                <a:latin typeface="Times New Roman" panose="02020603050405020304" pitchFamily="18" charset="0"/>
                <a:cs typeface="Times New Roman" panose="02020603050405020304" pitchFamily="18" charset="0"/>
              </a:rPr>
              <a:t>when </a:t>
            </a:r>
            <a:r>
              <a:rPr sz="2000" spc="70" dirty="0">
                <a:solidFill>
                  <a:srgbClr val="080808"/>
                </a:solidFill>
                <a:latin typeface="Times New Roman" panose="02020603050405020304" pitchFamily="18" charset="0"/>
                <a:cs typeface="Times New Roman" panose="02020603050405020304" pitchFamily="18" charset="0"/>
              </a:rPr>
              <a:t>token</a:t>
            </a:r>
            <a:r>
              <a:rPr sz="2000" spc="-75" dirty="0">
                <a:solidFill>
                  <a:srgbClr val="080808"/>
                </a:solidFill>
                <a:latin typeface="Times New Roman" panose="02020603050405020304" pitchFamily="18" charset="0"/>
                <a:cs typeface="Times New Roman" panose="02020603050405020304" pitchFamily="18" charset="0"/>
              </a:rPr>
              <a:t> </a:t>
            </a:r>
            <a:r>
              <a:rPr sz="2000" spc="55" dirty="0">
                <a:solidFill>
                  <a:srgbClr val="080808"/>
                </a:solidFill>
                <a:latin typeface="Times New Roman" panose="02020603050405020304" pitchFamily="18" charset="0"/>
                <a:cs typeface="Times New Roman" panose="02020603050405020304" pitchFamily="18" charset="0"/>
              </a:rPr>
              <a:t>estimates</a:t>
            </a:r>
            <a:r>
              <a:rPr sz="2000" spc="-80" dirty="0">
                <a:solidFill>
                  <a:srgbClr val="080808"/>
                </a:solidFill>
                <a:latin typeface="Times New Roman" panose="02020603050405020304" pitchFamily="18" charset="0"/>
                <a:cs typeface="Times New Roman" panose="02020603050405020304" pitchFamily="18" charset="0"/>
              </a:rPr>
              <a:t> </a:t>
            </a:r>
            <a:r>
              <a:rPr sz="2000" dirty="0">
                <a:solidFill>
                  <a:srgbClr val="080808"/>
                </a:solidFill>
                <a:latin typeface="Times New Roman" panose="02020603050405020304" pitchFamily="18" charset="0"/>
                <a:cs typeface="Times New Roman" panose="02020603050405020304" pitchFamily="18" charset="0"/>
              </a:rPr>
              <a:t>exceed RPM</a:t>
            </a:r>
            <a:r>
              <a:rPr sz="2000" spc="-30" dirty="0">
                <a:solidFill>
                  <a:srgbClr val="080808"/>
                </a:solidFill>
                <a:latin typeface="Times New Roman" panose="02020603050405020304" pitchFamily="18" charset="0"/>
                <a:cs typeface="Times New Roman" panose="02020603050405020304" pitchFamily="18" charset="0"/>
              </a:rPr>
              <a:t> </a:t>
            </a:r>
            <a:r>
              <a:rPr sz="2000" spc="60" dirty="0">
                <a:solidFill>
                  <a:srgbClr val="080808"/>
                </a:solidFill>
                <a:latin typeface="Times New Roman" panose="02020603050405020304" pitchFamily="18" charset="0"/>
                <a:cs typeface="Times New Roman" panose="02020603050405020304" pitchFamily="18" charset="0"/>
              </a:rPr>
              <a:t>or</a:t>
            </a:r>
            <a:r>
              <a:rPr sz="2000" spc="-40" dirty="0">
                <a:solidFill>
                  <a:srgbClr val="080808"/>
                </a:solidFill>
                <a:latin typeface="Times New Roman" panose="02020603050405020304" pitchFamily="18" charset="0"/>
                <a:cs typeface="Times New Roman" panose="02020603050405020304" pitchFamily="18" charset="0"/>
              </a:rPr>
              <a:t> </a:t>
            </a:r>
            <a:r>
              <a:rPr sz="2000" spc="70" dirty="0">
                <a:solidFill>
                  <a:srgbClr val="080808"/>
                </a:solidFill>
                <a:latin typeface="Times New Roman" panose="02020603050405020304" pitchFamily="18" charset="0"/>
                <a:cs typeface="Times New Roman" panose="02020603050405020304" pitchFamily="18" charset="0"/>
              </a:rPr>
              <a:t>TPM</a:t>
            </a:r>
            <a:r>
              <a:rPr sz="2000" spc="-55" dirty="0">
                <a:solidFill>
                  <a:srgbClr val="080808"/>
                </a:solidFill>
                <a:latin typeface="Times New Roman" panose="02020603050405020304" pitchFamily="18" charset="0"/>
                <a:cs typeface="Times New Roman" panose="02020603050405020304" pitchFamily="18" charset="0"/>
              </a:rPr>
              <a:t> </a:t>
            </a:r>
            <a:r>
              <a:rPr sz="2000" spc="-10" dirty="0">
                <a:solidFill>
                  <a:srgbClr val="080808"/>
                </a:solidFill>
                <a:latin typeface="Times New Roman" panose="02020603050405020304" pitchFamily="18" charset="0"/>
                <a:cs typeface="Times New Roman" panose="02020603050405020304" pitchFamily="18" charset="0"/>
              </a:rPr>
              <a:t>capacity.</a:t>
            </a:r>
            <a:endParaRPr sz="2000" dirty="0">
              <a:solidFill>
                <a:srgbClr val="080808"/>
              </a:solidFill>
              <a:latin typeface="Times New Roman" panose="02020603050405020304" pitchFamily="18" charset="0"/>
              <a:cs typeface="Times New Roman" panose="02020603050405020304" pitchFamily="18" charset="0"/>
            </a:endParaRPr>
          </a:p>
        </p:txBody>
      </p:sp>
      <p:sp>
        <p:nvSpPr>
          <p:cNvPr id="9" name="object 9"/>
          <p:cNvSpPr txBox="1"/>
          <p:nvPr/>
        </p:nvSpPr>
        <p:spPr>
          <a:xfrm>
            <a:off x="525373" y="5224100"/>
            <a:ext cx="483234" cy="529590"/>
          </a:xfrm>
          <a:prstGeom prst="rect">
            <a:avLst/>
          </a:prstGeom>
        </p:spPr>
        <p:txBody>
          <a:bodyPr vert="horz" wrap="square" lIns="0" tIns="13335" rIns="0" bIns="0" rtlCol="0">
            <a:spAutoFit/>
          </a:bodyPr>
          <a:lstStyle/>
          <a:p>
            <a:pPr marL="12700">
              <a:lnSpc>
                <a:spcPct val="100000"/>
              </a:lnSpc>
              <a:spcBef>
                <a:spcPts val="105"/>
              </a:spcBef>
            </a:pPr>
            <a:r>
              <a:rPr sz="3300" spc="120" dirty="0">
                <a:solidFill>
                  <a:srgbClr val="080808"/>
                </a:solidFill>
                <a:latin typeface="Times New Roman" panose="02020603050405020304" pitchFamily="18" charset="0"/>
                <a:cs typeface="Times New Roman" panose="02020603050405020304" pitchFamily="18" charset="0"/>
              </a:rPr>
              <a:t>03</a:t>
            </a:r>
            <a:endParaRPr sz="3300">
              <a:solidFill>
                <a:srgbClr val="080808"/>
              </a:solidFill>
              <a:latin typeface="Times New Roman" panose="02020603050405020304" pitchFamily="18" charset="0"/>
              <a:cs typeface="Times New Roman" panose="02020603050405020304" pitchFamily="18" charset="0"/>
            </a:endParaRPr>
          </a:p>
        </p:txBody>
      </p:sp>
      <p:sp>
        <p:nvSpPr>
          <p:cNvPr id="10" name="object 10"/>
          <p:cNvSpPr txBox="1"/>
          <p:nvPr/>
        </p:nvSpPr>
        <p:spPr>
          <a:xfrm>
            <a:off x="1495231" y="5152495"/>
            <a:ext cx="2548255" cy="667385"/>
          </a:xfrm>
          <a:prstGeom prst="rect">
            <a:avLst/>
          </a:prstGeom>
        </p:spPr>
        <p:txBody>
          <a:bodyPr vert="horz" wrap="square" lIns="0" tIns="13970" rIns="0" bIns="0" rtlCol="0">
            <a:spAutoFit/>
          </a:bodyPr>
          <a:lstStyle/>
          <a:p>
            <a:pPr marL="12700">
              <a:lnSpc>
                <a:spcPct val="100000"/>
              </a:lnSpc>
              <a:spcBef>
                <a:spcPts val="110"/>
              </a:spcBef>
            </a:pPr>
            <a:r>
              <a:rPr sz="4200" dirty="0">
                <a:solidFill>
                  <a:srgbClr val="080808"/>
                </a:solidFill>
                <a:latin typeface="Times New Roman" panose="02020603050405020304" pitchFamily="18" charset="0"/>
                <a:cs typeface="Times New Roman" panose="02020603050405020304" pitchFamily="18" charset="0"/>
              </a:rPr>
              <a:t>Key</a:t>
            </a:r>
            <a:r>
              <a:rPr sz="4200" spc="-195" dirty="0">
                <a:solidFill>
                  <a:srgbClr val="080808"/>
                </a:solidFill>
                <a:latin typeface="Times New Roman" panose="02020603050405020304" pitchFamily="18" charset="0"/>
                <a:cs typeface="Times New Roman" panose="02020603050405020304" pitchFamily="18" charset="0"/>
              </a:rPr>
              <a:t> </a:t>
            </a:r>
            <a:r>
              <a:rPr sz="4200" spc="65" dirty="0">
                <a:solidFill>
                  <a:srgbClr val="080808"/>
                </a:solidFill>
                <a:latin typeface="Times New Roman" panose="02020603050405020304" pitchFamily="18" charset="0"/>
                <a:cs typeface="Times New Roman" panose="02020603050405020304" pitchFamily="18" charset="0"/>
              </a:rPr>
              <a:t>insight</a:t>
            </a:r>
            <a:endParaRPr sz="4200">
              <a:solidFill>
                <a:srgbClr val="080808"/>
              </a:solidFill>
              <a:latin typeface="Times New Roman" panose="02020603050405020304" pitchFamily="18" charset="0"/>
              <a:cs typeface="Times New Roman" panose="02020603050405020304" pitchFamily="18" charset="0"/>
            </a:endParaRPr>
          </a:p>
        </p:txBody>
      </p:sp>
      <p:sp>
        <p:nvSpPr>
          <p:cNvPr id="11" name="object 11"/>
          <p:cNvSpPr txBox="1"/>
          <p:nvPr/>
        </p:nvSpPr>
        <p:spPr>
          <a:xfrm>
            <a:off x="7200900" y="5224100"/>
            <a:ext cx="6152804" cy="943528"/>
          </a:xfrm>
          <a:prstGeom prst="rect">
            <a:avLst/>
          </a:prstGeom>
        </p:spPr>
        <p:txBody>
          <a:bodyPr vert="horz" wrap="square" lIns="0" tIns="3175" rIns="0" bIns="0" rtlCol="0">
            <a:spAutoFit/>
          </a:bodyPr>
          <a:lstStyle/>
          <a:p>
            <a:pPr marL="12700" marR="5080" indent="8255">
              <a:lnSpc>
                <a:spcPct val="103800"/>
              </a:lnSpc>
              <a:spcBef>
                <a:spcPts val="25"/>
              </a:spcBef>
            </a:pPr>
            <a:r>
              <a:rPr sz="2000" spc="70" dirty="0">
                <a:solidFill>
                  <a:srgbClr val="080808"/>
                </a:solidFill>
                <a:latin typeface="Times New Roman" panose="02020603050405020304" pitchFamily="18" charset="0"/>
                <a:cs typeface="Times New Roman" panose="02020603050405020304" pitchFamily="18" charset="0"/>
              </a:rPr>
              <a:t>Augmentations</a:t>
            </a:r>
            <a:r>
              <a:rPr sz="2000" spc="10" dirty="0">
                <a:solidFill>
                  <a:srgbClr val="080808"/>
                </a:solidFill>
                <a:latin typeface="Times New Roman" panose="02020603050405020304" pitchFamily="18" charset="0"/>
                <a:cs typeface="Times New Roman" panose="02020603050405020304" pitchFamily="18" charset="0"/>
              </a:rPr>
              <a:t> </a:t>
            </a:r>
            <a:r>
              <a:rPr sz="2000" spc="70" dirty="0">
                <a:solidFill>
                  <a:srgbClr val="080808"/>
                </a:solidFill>
                <a:latin typeface="Times New Roman" panose="02020603050405020304" pitchFamily="18" charset="0"/>
                <a:cs typeface="Times New Roman" panose="02020603050405020304" pitchFamily="18" charset="0"/>
              </a:rPr>
              <a:t>can</a:t>
            </a:r>
            <a:r>
              <a:rPr sz="2000" spc="-160" dirty="0">
                <a:solidFill>
                  <a:srgbClr val="080808"/>
                </a:solidFill>
                <a:latin typeface="Times New Roman" panose="02020603050405020304" pitchFamily="18" charset="0"/>
                <a:cs typeface="Times New Roman" panose="02020603050405020304" pitchFamily="18" charset="0"/>
              </a:rPr>
              <a:t> </a:t>
            </a:r>
            <a:r>
              <a:rPr sz="2000" spc="60" dirty="0">
                <a:solidFill>
                  <a:srgbClr val="080808"/>
                </a:solidFill>
                <a:latin typeface="Times New Roman" panose="02020603050405020304" pitchFamily="18" charset="0"/>
                <a:cs typeface="Times New Roman" panose="02020603050405020304" pitchFamily="18" charset="0"/>
              </a:rPr>
              <a:t>inadvertently</a:t>
            </a:r>
            <a:r>
              <a:rPr sz="2000" spc="40" dirty="0">
                <a:solidFill>
                  <a:srgbClr val="080808"/>
                </a:solidFill>
                <a:latin typeface="Times New Roman" panose="02020603050405020304" pitchFamily="18" charset="0"/>
                <a:cs typeface="Times New Roman" panose="02020603050405020304" pitchFamily="18" charset="0"/>
              </a:rPr>
              <a:t> </a:t>
            </a:r>
            <a:r>
              <a:rPr sz="2000" spc="-10" dirty="0">
                <a:solidFill>
                  <a:srgbClr val="080808"/>
                </a:solidFill>
                <a:latin typeface="Times New Roman" panose="02020603050405020304" pitchFamily="18" charset="0"/>
                <a:cs typeface="Times New Roman" panose="02020603050405020304" pitchFamily="18" charset="0"/>
              </a:rPr>
              <a:t>neutralize </a:t>
            </a:r>
            <a:r>
              <a:rPr sz="2000" spc="60" dirty="0">
                <a:solidFill>
                  <a:srgbClr val="080808"/>
                </a:solidFill>
                <a:latin typeface="Times New Roman" panose="02020603050405020304" pitchFamily="18" charset="0"/>
                <a:cs typeface="Times New Roman" panose="02020603050405020304" pitchFamily="18" charset="0"/>
              </a:rPr>
              <a:t>emotional</a:t>
            </a:r>
            <a:r>
              <a:rPr sz="2000" spc="-30" dirty="0">
                <a:solidFill>
                  <a:srgbClr val="080808"/>
                </a:solidFill>
                <a:latin typeface="Times New Roman" panose="02020603050405020304" pitchFamily="18" charset="0"/>
                <a:cs typeface="Times New Roman" panose="02020603050405020304" pitchFamily="18" charset="0"/>
              </a:rPr>
              <a:t> </a:t>
            </a:r>
            <a:r>
              <a:rPr sz="2000" spc="90" dirty="0">
                <a:solidFill>
                  <a:srgbClr val="080808"/>
                </a:solidFill>
                <a:latin typeface="Times New Roman" panose="02020603050405020304" pitchFamily="18" charset="0"/>
                <a:cs typeface="Times New Roman" panose="02020603050405020304" pitchFamily="18" charset="0"/>
              </a:rPr>
              <a:t>tone</a:t>
            </a:r>
            <a:r>
              <a:rPr sz="2000" spc="-30" dirty="0">
                <a:solidFill>
                  <a:srgbClr val="080808"/>
                </a:solidFill>
                <a:latin typeface="Times New Roman" panose="02020603050405020304" pitchFamily="18" charset="0"/>
                <a:cs typeface="Times New Roman" panose="02020603050405020304" pitchFamily="18" charset="0"/>
              </a:rPr>
              <a:t> </a:t>
            </a:r>
            <a:r>
              <a:rPr sz="2000" spc="60" dirty="0">
                <a:solidFill>
                  <a:srgbClr val="080808"/>
                </a:solidFill>
                <a:latin typeface="Times New Roman" panose="02020603050405020304" pitchFamily="18" charset="0"/>
                <a:cs typeface="Times New Roman" panose="02020603050405020304" pitchFamily="18" charset="0"/>
              </a:rPr>
              <a:t>-</a:t>
            </a:r>
            <a:r>
              <a:rPr sz="2000" spc="80" dirty="0">
                <a:solidFill>
                  <a:srgbClr val="080808"/>
                </a:solidFill>
                <a:latin typeface="Times New Roman" panose="02020603050405020304" pitchFamily="18" charset="0"/>
                <a:cs typeface="Times New Roman" panose="02020603050405020304" pitchFamily="18" charset="0"/>
              </a:rPr>
              <a:t> </a:t>
            </a:r>
            <a:r>
              <a:rPr sz="2000" spc="-45" dirty="0">
                <a:solidFill>
                  <a:srgbClr val="080808"/>
                </a:solidFill>
                <a:latin typeface="Times New Roman" panose="02020603050405020304" pitchFamily="18" charset="0"/>
                <a:cs typeface="Times New Roman" panose="02020603050405020304" pitchFamily="18" charset="0"/>
              </a:rPr>
              <a:t>a</a:t>
            </a:r>
            <a:r>
              <a:rPr sz="2000" spc="-100" dirty="0">
                <a:solidFill>
                  <a:srgbClr val="080808"/>
                </a:solidFill>
                <a:latin typeface="Times New Roman" panose="02020603050405020304" pitchFamily="18" charset="0"/>
                <a:cs typeface="Times New Roman" panose="02020603050405020304" pitchFamily="18" charset="0"/>
              </a:rPr>
              <a:t> </a:t>
            </a:r>
            <a:r>
              <a:rPr sz="2000" spc="60" dirty="0">
                <a:solidFill>
                  <a:srgbClr val="080808"/>
                </a:solidFill>
                <a:latin typeface="Times New Roman" panose="02020603050405020304" pitchFamily="18" charset="0"/>
                <a:cs typeface="Times New Roman" panose="02020603050405020304" pitchFamily="18" charset="0"/>
              </a:rPr>
              <a:t>critical</a:t>
            </a:r>
            <a:r>
              <a:rPr sz="2000" spc="-85" dirty="0">
                <a:solidFill>
                  <a:srgbClr val="080808"/>
                </a:solidFill>
                <a:latin typeface="Times New Roman" panose="02020603050405020304" pitchFamily="18" charset="0"/>
                <a:cs typeface="Times New Roman" panose="02020603050405020304" pitchFamily="18" charset="0"/>
              </a:rPr>
              <a:t> </a:t>
            </a:r>
            <a:r>
              <a:rPr sz="2000" spc="75" dirty="0">
                <a:solidFill>
                  <a:srgbClr val="080808"/>
                </a:solidFill>
                <a:latin typeface="Times New Roman" panose="02020603050405020304" pitchFamily="18" charset="0"/>
                <a:cs typeface="Times New Roman" panose="02020603050405020304" pitchFamily="18" charset="0"/>
              </a:rPr>
              <a:t>limitation</a:t>
            </a:r>
            <a:r>
              <a:rPr sz="2000" spc="-90" dirty="0">
                <a:solidFill>
                  <a:srgbClr val="080808"/>
                </a:solidFill>
                <a:latin typeface="Times New Roman" panose="02020603050405020304" pitchFamily="18" charset="0"/>
                <a:cs typeface="Times New Roman" panose="02020603050405020304" pitchFamily="18" charset="0"/>
              </a:rPr>
              <a:t> </a:t>
            </a:r>
            <a:r>
              <a:rPr sz="2000" spc="50" dirty="0">
                <a:solidFill>
                  <a:srgbClr val="080808"/>
                </a:solidFill>
                <a:latin typeface="Times New Roman" panose="02020603050405020304" pitchFamily="18" charset="0"/>
                <a:cs typeface="Times New Roman" panose="02020603050405020304" pitchFamily="18" charset="0"/>
              </a:rPr>
              <a:t>that</a:t>
            </a:r>
            <a:r>
              <a:rPr sz="2000" spc="100" dirty="0">
                <a:solidFill>
                  <a:srgbClr val="080808"/>
                </a:solidFill>
                <a:latin typeface="Times New Roman" panose="02020603050405020304" pitchFamily="18" charset="0"/>
                <a:cs typeface="Times New Roman" panose="02020603050405020304" pitchFamily="18" charset="0"/>
              </a:rPr>
              <a:t> </a:t>
            </a:r>
            <a:r>
              <a:rPr sz="2000" dirty="0">
                <a:solidFill>
                  <a:srgbClr val="080808"/>
                </a:solidFill>
                <a:latin typeface="Times New Roman" panose="02020603050405020304" pitchFamily="18" charset="0"/>
                <a:cs typeface="Times New Roman" panose="02020603050405020304" pitchFamily="18" charset="0"/>
              </a:rPr>
              <a:t>Phase</a:t>
            </a:r>
            <a:r>
              <a:rPr sz="2000" spc="-65" dirty="0">
                <a:solidFill>
                  <a:srgbClr val="080808"/>
                </a:solidFill>
                <a:latin typeface="Times New Roman" panose="02020603050405020304" pitchFamily="18" charset="0"/>
                <a:cs typeface="Times New Roman" panose="02020603050405020304" pitchFamily="18" charset="0"/>
              </a:rPr>
              <a:t> </a:t>
            </a:r>
            <a:r>
              <a:rPr sz="2000" spc="-25" dirty="0">
                <a:solidFill>
                  <a:srgbClr val="080808"/>
                </a:solidFill>
                <a:latin typeface="Times New Roman" panose="02020603050405020304" pitchFamily="18" charset="0"/>
                <a:cs typeface="Times New Roman" panose="02020603050405020304" pitchFamily="18" charset="0"/>
              </a:rPr>
              <a:t>3's </a:t>
            </a:r>
            <a:r>
              <a:rPr sz="2000" spc="75" dirty="0">
                <a:solidFill>
                  <a:srgbClr val="080808"/>
                </a:solidFill>
                <a:latin typeface="Times New Roman" panose="02020603050405020304" pitchFamily="18" charset="0"/>
                <a:cs typeface="Times New Roman" panose="02020603050405020304" pitchFamily="18" charset="0"/>
              </a:rPr>
              <a:t>emotion-preserving</a:t>
            </a:r>
            <a:r>
              <a:rPr sz="2000" spc="-40" dirty="0">
                <a:solidFill>
                  <a:srgbClr val="080808"/>
                </a:solidFill>
                <a:latin typeface="Times New Roman" panose="02020603050405020304" pitchFamily="18" charset="0"/>
                <a:cs typeface="Times New Roman" panose="02020603050405020304" pitchFamily="18" charset="0"/>
              </a:rPr>
              <a:t> </a:t>
            </a:r>
            <a:r>
              <a:rPr sz="2000" spc="75" dirty="0">
                <a:solidFill>
                  <a:srgbClr val="080808"/>
                </a:solidFill>
                <a:latin typeface="Times New Roman" panose="02020603050405020304" pitchFamily="18" charset="0"/>
                <a:cs typeface="Times New Roman" panose="02020603050405020304" pitchFamily="18" charset="0"/>
              </a:rPr>
              <a:t>filter</a:t>
            </a:r>
            <a:r>
              <a:rPr sz="2000" spc="-30" dirty="0">
                <a:solidFill>
                  <a:srgbClr val="080808"/>
                </a:solidFill>
                <a:latin typeface="Times New Roman" panose="02020603050405020304" pitchFamily="18" charset="0"/>
                <a:cs typeface="Times New Roman" panose="02020603050405020304" pitchFamily="18" charset="0"/>
              </a:rPr>
              <a:t> </a:t>
            </a:r>
            <a:r>
              <a:rPr sz="2000" spc="65" dirty="0">
                <a:solidFill>
                  <a:srgbClr val="080808"/>
                </a:solidFill>
                <a:latin typeface="Times New Roman" panose="02020603050405020304" pitchFamily="18" charset="0"/>
                <a:cs typeface="Times New Roman" panose="02020603050405020304" pitchFamily="18" charset="0"/>
              </a:rPr>
              <a:t>directly</a:t>
            </a:r>
            <a:r>
              <a:rPr sz="2000" dirty="0">
                <a:solidFill>
                  <a:srgbClr val="080808"/>
                </a:solidFill>
                <a:latin typeface="Times New Roman" panose="02020603050405020304" pitchFamily="18" charset="0"/>
                <a:cs typeface="Times New Roman" panose="02020603050405020304" pitchFamily="18" charset="0"/>
              </a:rPr>
              <a:t> </a:t>
            </a:r>
            <a:r>
              <a:rPr sz="2000" spc="-10" dirty="0">
                <a:solidFill>
                  <a:srgbClr val="080808"/>
                </a:solidFill>
                <a:latin typeface="Times New Roman" panose="02020603050405020304" pitchFamily="18" charset="0"/>
                <a:cs typeface="Times New Roman" panose="02020603050405020304" pitchFamily="18" charset="0"/>
              </a:rPr>
              <a:t>addresses.</a:t>
            </a:r>
            <a:endParaRPr sz="2000" dirty="0">
              <a:solidFill>
                <a:srgbClr val="080808"/>
              </a:solidFill>
              <a:latin typeface="Times New Roman" panose="02020603050405020304" pitchFamily="18" charset="0"/>
              <a:cs typeface="Times New Roman" panose="02020603050405020304" pitchFamily="18" charset="0"/>
            </a:endParaRPr>
          </a:p>
        </p:txBody>
      </p:sp>
      <p:sp>
        <p:nvSpPr>
          <p:cNvPr id="12" name="object 12"/>
          <p:cNvSpPr txBox="1"/>
          <p:nvPr/>
        </p:nvSpPr>
        <p:spPr>
          <a:xfrm>
            <a:off x="525373" y="6646664"/>
            <a:ext cx="478790" cy="529590"/>
          </a:xfrm>
          <a:prstGeom prst="rect">
            <a:avLst/>
          </a:prstGeom>
        </p:spPr>
        <p:txBody>
          <a:bodyPr vert="horz" wrap="square" lIns="0" tIns="13335" rIns="0" bIns="0" rtlCol="0">
            <a:spAutoFit/>
          </a:bodyPr>
          <a:lstStyle/>
          <a:p>
            <a:pPr marL="12700">
              <a:lnSpc>
                <a:spcPct val="100000"/>
              </a:lnSpc>
              <a:spcBef>
                <a:spcPts val="105"/>
              </a:spcBef>
            </a:pPr>
            <a:r>
              <a:rPr sz="3300" spc="105" dirty="0">
                <a:solidFill>
                  <a:srgbClr val="080808"/>
                </a:solidFill>
                <a:latin typeface="Times New Roman" panose="02020603050405020304" pitchFamily="18" charset="0"/>
                <a:cs typeface="Times New Roman" panose="02020603050405020304" pitchFamily="18" charset="0"/>
              </a:rPr>
              <a:t>04</a:t>
            </a:r>
            <a:endParaRPr sz="3300">
              <a:solidFill>
                <a:srgbClr val="080808"/>
              </a:solidFill>
              <a:latin typeface="Times New Roman" panose="02020603050405020304" pitchFamily="18" charset="0"/>
              <a:cs typeface="Times New Roman" panose="02020603050405020304" pitchFamily="18" charset="0"/>
            </a:endParaRPr>
          </a:p>
        </p:txBody>
      </p:sp>
      <p:sp>
        <p:nvSpPr>
          <p:cNvPr id="13" name="object 13"/>
          <p:cNvSpPr txBox="1"/>
          <p:nvPr/>
        </p:nvSpPr>
        <p:spPr>
          <a:xfrm>
            <a:off x="1494622" y="6546416"/>
            <a:ext cx="1758314" cy="667385"/>
          </a:xfrm>
          <a:prstGeom prst="rect">
            <a:avLst/>
          </a:prstGeom>
        </p:spPr>
        <p:txBody>
          <a:bodyPr vert="horz" wrap="square" lIns="0" tIns="13970" rIns="0" bIns="0" rtlCol="0">
            <a:spAutoFit/>
          </a:bodyPr>
          <a:lstStyle/>
          <a:p>
            <a:pPr marL="12700">
              <a:lnSpc>
                <a:spcPct val="100000"/>
              </a:lnSpc>
              <a:spcBef>
                <a:spcPts val="110"/>
              </a:spcBef>
            </a:pPr>
            <a:r>
              <a:rPr sz="4200" spc="315" dirty="0">
                <a:solidFill>
                  <a:srgbClr val="080808"/>
                </a:solidFill>
                <a:latin typeface="Times New Roman" panose="02020603050405020304" pitchFamily="18" charset="0"/>
                <a:cs typeface="Times New Roman" panose="02020603050405020304" pitchFamily="18" charset="0"/>
              </a:rPr>
              <a:t>Output</a:t>
            </a:r>
            <a:endParaRPr sz="4200">
              <a:solidFill>
                <a:srgbClr val="080808"/>
              </a:solidFill>
              <a:latin typeface="Times New Roman" panose="02020603050405020304" pitchFamily="18" charset="0"/>
              <a:cs typeface="Times New Roman" panose="02020603050405020304" pitchFamily="18" charset="0"/>
            </a:endParaRPr>
          </a:p>
        </p:txBody>
      </p:sp>
      <p:sp>
        <p:nvSpPr>
          <p:cNvPr id="14" name="object 14"/>
          <p:cNvSpPr txBox="1"/>
          <p:nvPr/>
        </p:nvSpPr>
        <p:spPr>
          <a:xfrm>
            <a:off x="7200900" y="6646664"/>
            <a:ext cx="6281074" cy="623440"/>
          </a:xfrm>
          <a:prstGeom prst="rect">
            <a:avLst/>
          </a:prstGeom>
        </p:spPr>
        <p:txBody>
          <a:bodyPr vert="horz" wrap="square" lIns="0" tIns="3175" rIns="0" bIns="0" rtlCol="0">
            <a:spAutoFit/>
          </a:bodyPr>
          <a:lstStyle/>
          <a:p>
            <a:pPr marL="12700" marR="5080" indent="8255">
              <a:lnSpc>
                <a:spcPct val="103800"/>
              </a:lnSpc>
              <a:spcBef>
                <a:spcPts val="25"/>
              </a:spcBef>
            </a:pPr>
            <a:r>
              <a:rPr sz="2000" spc="85" dirty="0">
                <a:solidFill>
                  <a:srgbClr val="080808"/>
                </a:solidFill>
                <a:latin typeface="Times New Roman" panose="02020603050405020304" pitchFamily="18" charset="0"/>
                <a:cs typeface="Times New Roman" panose="02020603050405020304" pitchFamily="18" charset="0"/>
              </a:rPr>
              <a:t>Augmented</a:t>
            </a:r>
            <a:r>
              <a:rPr sz="2000" spc="-40" dirty="0">
                <a:solidFill>
                  <a:srgbClr val="080808"/>
                </a:solidFill>
                <a:latin typeface="Times New Roman" panose="02020603050405020304" pitchFamily="18" charset="0"/>
                <a:cs typeface="Times New Roman" panose="02020603050405020304" pitchFamily="18" charset="0"/>
              </a:rPr>
              <a:t> </a:t>
            </a:r>
            <a:r>
              <a:rPr sz="2000" spc="50" dirty="0">
                <a:solidFill>
                  <a:srgbClr val="080808"/>
                </a:solidFill>
                <a:latin typeface="Times New Roman" panose="02020603050405020304" pitchFamily="18" charset="0"/>
                <a:cs typeface="Times New Roman" panose="02020603050405020304" pitchFamily="18" charset="0"/>
              </a:rPr>
              <a:t>records</a:t>
            </a:r>
            <a:r>
              <a:rPr sz="2000" spc="-100" dirty="0">
                <a:solidFill>
                  <a:srgbClr val="080808"/>
                </a:solidFill>
                <a:latin typeface="Times New Roman" panose="02020603050405020304" pitchFamily="18" charset="0"/>
                <a:cs typeface="Times New Roman" panose="02020603050405020304" pitchFamily="18" charset="0"/>
              </a:rPr>
              <a:t> </a:t>
            </a:r>
            <a:r>
              <a:rPr sz="2000" spc="90" dirty="0">
                <a:solidFill>
                  <a:srgbClr val="080808"/>
                </a:solidFill>
                <a:latin typeface="Times New Roman" panose="02020603050405020304" pitchFamily="18" charset="0"/>
                <a:cs typeface="Times New Roman" panose="02020603050405020304" pitchFamily="18" charset="0"/>
              </a:rPr>
              <a:t>written</a:t>
            </a:r>
            <a:r>
              <a:rPr sz="2000" spc="-120" dirty="0">
                <a:solidFill>
                  <a:srgbClr val="080808"/>
                </a:solidFill>
                <a:latin typeface="Times New Roman" panose="02020603050405020304" pitchFamily="18" charset="0"/>
                <a:cs typeface="Times New Roman" panose="02020603050405020304" pitchFamily="18" charset="0"/>
              </a:rPr>
              <a:t> </a:t>
            </a:r>
            <a:r>
              <a:rPr sz="2000" spc="65" dirty="0">
                <a:solidFill>
                  <a:srgbClr val="080808"/>
                </a:solidFill>
                <a:latin typeface="Times New Roman" panose="02020603050405020304" pitchFamily="18" charset="0"/>
                <a:cs typeface="Times New Roman" panose="02020603050405020304" pitchFamily="18" charset="0"/>
              </a:rPr>
              <a:t>to </a:t>
            </a:r>
            <a:r>
              <a:rPr sz="2000" spc="40" dirty="0">
                <a:solidFill>
                  <a:srgbClr val="080808"/>
                </a:solidFill>
                <a:latin typeface="Times New Roman" panose="02020603050405020304" pitchFamily="18" charset="0"/>
                <a:cs typeface="Times New Roman" panose="02020603050405020304" pitchFamily="18" charset="0"/>
              </a:rPr>
              <a:t>augmented_records.jsonl,</a:t>
            </a:r>
            <a:r>
              <a:rPr sz="2000" spc="-245" dirty="0">
                <a:solidFill>
                  <a:srgbClr val="080808"/>
                </a:solidFill>
                <a:latin typeface="Times New Roman" panose="02020603050405020304" pitchFamily="18" charset="0"/>
                <a:cs typeface="Times New Roman" panose="02020603050405020304" pitchFamily="18" charset="0"/>
              </a:rPr>
              <a:t> </a:t>
            </a:r>
            <a:r>
              <a:rPr sz="2000" spc="30" dirty="0">
                <a:solidFill>
                  <a:srgbClr val="080808"/>
                </a:solidFill>
                <a:latin typeface="Times New Roman" panose="02020603050405020304" pitchFamily="18" charset="0"/>
                <a:cs typeface="Times New Roman" panose="02020603050405020304" pitchFamily="18" charset="0"/>
              </a:rPr>
              <a:t>ready</a:t>
            </a:r>
            <a:r>
              <a:rPr sz="2000" spc="-50" dirty="0">
                <a:solidFill>
                  <a:srgbClr val="080808"/>
                </a:solidFill>
                <a:latin typeface="Times New Roman" panose="02020603050405020304" pitchFamily="18" charset="0"/>
                <a:cs typeface="Times New Roman" panose="02020603050405020304" pitchFamily="18" charset="0"/>
              </a:rPr>
              <a:t> </a:t>
            </a:r>
            <a:r>
              <a:rPr sz="2000" spc="40" dirty="0">
                <a:solidFill>
                  <a:srgbClr val="080808"/>
                </a:solidFill>
                <a:latin typeface="Times New Roman" panose="02020603050405020304" pitchFamily="18" charset="0"/>
                <a:cs typeface="Times New Roman" panose="02020603050405020304" pitchFamily="18" charset="0"/>
              </a:rPr>
              <a:t>for</a:t>
            </a:r>
            <a:r>
              <a:rPr sz="2000" spc="95" dirty="0">
                <a:solidFill>
                  <a:srgbClr val="080808"/>
                </a:solidFill>
                <a:latin typeface="Times New Roman" panose="02020603050405020304" pitchFamily="18" charset="0"/>
                <a:cs typeface="Times New Roman" panose="02020603050405020304" pitchFamily="18" charset="0"/>
              </a:rPr>
              <a:t> </a:t>
            </a:r>
            <a:r>
              <a:rPr sz="2000" spc="50" dirty="0">
                <a:solidFill>
                  <a:srgbClr val="080808"/>
                </a:solidFill>
                <a:latin typeface="Times New Roman" panose="02020603050405020304" pitchFamily="18" charset="0"/>
                <a:cs typeface="Times New Roman" panose="02020603050405020304" pitchFamily="18" charset="0"/>
              </a:rPr>
              <a:t>emotion-aware </a:t>
            </a:r>
            <a:r>
              <a:rPr sz="2000" spc="60" dirty="0">
                <a:solidFill>
                  <a:srgbClr val="080808"/>
                </a:solidFill>
                <a:latin typeface="Times New Roman" panose="02020603050405020304" pitchFamily="18" charset="0"/>
                <a:cs typeface="Times New Roman" panose="02020603050405020304" pitchFamily="18" charset="0"/>
              </a:rPr>
              <a:t>filtering</a:t>
            </a:r>
            <a:r>
              <a:rPr sz="2000" spc="15" dirty="0">
                <a:solidFill>
                  <a:srgbClr val="080808"/>
                </a:solidFill>
                <a:latin typeface="Times New Roman" panose="02020603050405020304" pitchFamily="18" charset="0"/>
                <a:cs typeface="Times New Roman" panose="02020603050405020304" pitchFamily="18" charset="0"/>
              </a:rPr>
              <a:t> </a:t>
            </a:r>
            <a:r>
              <a:rPr sz="2000" spc="75" dirty="0">
                <a:solidFill>
                  <a:srgbClr val="080808"/>
                </a:solidFill>
                <a:latin typeface="Times New Roman" panose="02020603050405020304" pitchFamily="18" charset="0"/>
                <a:cs typeface="Times New Roman" panose="02020603050405020304" pitchFamily="18" charset="0"/>
              </a:rPr>
              <a:t>in</a:t>
            </a:r>
            <a:r>
              <a:rPr sz="2000" spc="-155" dirty="0">
                <a:solidFill>
                  <a:srgbClr val="080808"/>
                </a:solidFill>
                <a:latin typeface="Times New Roman" panose="02020603050405020304" pitchFamily="18" charset="0"/>
                <a:cs typeface="Times New Roman" panose="02020603050405020304" pitchFamily="18" charset="0"/>
              </a:rPr>
              <a:t> </a:t>
            </a:r>
            <a:r>
              <a:rPr sz="2000" spc="85" dirty="0">
                <a:solidFill>
                  <a:srgbClr val="080808"/>
                </a:solidFill>
                <a:latin typeface="Times New Roman" panose="02020603050405020304" pitchFamily="18" charset="0"/>
                <a:cs typeface="Times New Roman" panose="02020603050405020304" pitchFamily="18" charset="0"/>
              </a:rPr>
              <a:t>the</a:t>
            </a:r>
            <a:r>
              <a:rPr sz="2000" spc="-55" dirty="0">
                <a:solidFill>
                  <a:srgbClr val="080808"/>
                </a:solidFill>
                <a:latin typeface="Times New Roman" panose="02020603050405020304" pitchFamily="18" charset="0"/>
                <a:cs typeface="Times New Roman" panose="02020603050405020304" pitchFamily="18" charset="0"/>
              </a:rPr>
              <a:t> </a:t>
            </a:r>
            <a:r>
              <a:rPr sz="2000" spc="75" dirty="0">
                <a:solidFill>
                  <a:srgbClr val="080808"/>
                </a:solidFill>
                <a:latin typeface="Times New Roman" panose="02020603050405020304" pitchFamily="18" charset="0"/>
                <a:cs typeface="Times New Roman" panose="02020603050405020304" pitchFamily="18" charset="0"/>
              </a:rPr>
              <a:t>next</a:t>
            </a:r>
            <a:r>
              <a:rPr sz="2000" spc="-50" dirty="0">
                <a:solidFill>
                  <a:srgbClr val="080808"/>
                </a:solidFill>
                <a:latin typeface="Times New Roman" panose="02020603050405020304" pitchFamily="18" charset="0"/>
                <a:cs typeface="Times New Roman" panose="02020603050405020304" pitchFamily="18" charset="0"/>
              </a:rPr>
              <a:t> </a:t>
            </a:r>
            <a:r>
              <a:rPr sz="2000" spc="-10" dirty="0">
                <a:solidFill>
                  <a:srgbClr val="080808"/>
                </a:solidFill>
                <a:latin typeface="Times New Roman" panose="02020603050405020304" pitchFamily="18" charset="0"/>
                <a:cs typeface="Times New Roman" panose="02020603050405020304" pitchFamily="18" charset="0"/>
              </a:rPr>
              <a:t>phase.</a:t>
            </a:r>
            <a:endParaRPr sz="2000" dirty="0">
              <a:solidFill>
                <a:srgbClr val="080808"/>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25373" y="726642"/>
            <a:ext cx="13156388" cy="843821"/>
          </a:xfrm>
          <a:prstGeom prst="rect">
            <a:avLst/>
          </a:prstGeom>
        </p:spPr>
        <p:txBody>
          <a:bodyPr vert="horz" wrap="square" lIns="0" tIns="12700" rIns="0" bIns="0" rtlCol="0">
            <a:spAutoFit/>
          </a:bodyPr>
          <a:lstStyle/>
          <a:p>
            <a:pPr marL="12700">
              <a:lnSpc>
                <a:spcPct val="100000"/>
              </a:lnSpc>
              <a:spcBef>
                <a:spcPts val="100"/>
              </a:spcBef>
            </a:pPr>
            <a:r>
              <a:rPr lang="en-US" sz="5400" dirty="0">
                <a:solidFill>
                  <a:srgbClr val="080808"/>
                </a:solidFill>
                <a:latin typeface="Times New Roman" panose="02020603050405020304" pitchFamily="18" charset="0"/>
                <a:cs typeface="Times New Roman" panose="02020603050405020304" pitchFamily="18" charset="0"/>
              </a:rPr>
              <a:t>Phase 3: Emotion Aware Filtering</a:t>
            </a:r>
            <a:endParaRPr sz="5400" dirty="0">
              <a:solidFill>
                <a:srgbClr val="080808"/>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525373" y="2426709"/>
            <a:ext cx="487045" cy="529590"/>
          </a:xfrm>
          <a:prstGeom prst="rect">
            <a:avLst/>
          </a:prstGeom>
        </p:spPr>
        <p:txBody>
          <a:bodyPr vert="horz" wrap="square" lIns="0" tIns="13335" rIns="0" bIns="0" rtlCol="0">
            <a:spAutoFit/>
          </a:bodyPr>
          <a:lstStyle/>
          <a:p>
            <a:pPr marL="12700">
              <a:lnSpc>
                <a:spcPct val="100000"/>
              </a:lnSpc>
              <a:spcBef>
                <a:spcPts val="105"/>
              </a:spcBef>
            </a:pPr>
            <a:r>
              <a:rPr sz="3300" spc="140" dirty="0">
                <a:solidFill>
                  <a:srgbClr val="080808"/>
                </a:solidFill>
                <a:latin typeface="Times New Roman" panose="02020603050405020304" pitchFamily="18" charset="0"/>
                <a:cs typeface="Times New Roman" panose="02020603050405020304" pitchFamily="18" charset="0"/>
              </a:rPr>
              <a:t>01</a:t>
            </a:r>
            <a:endParaRPr sz="3300">
              <a:solidFill>
                <a:srgbClr val="080808"/>
              </a:solidFill>
              <a:latin typeface="Times New Roman" panose="02020603050405020304" pitchFamily="18" charset="0"/>
              <a:cs typeface="Times New Roman" panose="02020603050405020304" pitchFamily="18" charset="0"/>
            </a:endParaRPr>
          </a:p>
        </p:txBody>
      </p:sp>
      <p:sp>
        <p:nvSpPr>
          <p:cNvPr id="4" name="object 4" descr="$PPTXTitle"/>
          <p:cNvSpPr txBox="1">
            <a:spLocks noGrp="1"/>
          </p:cNvSpPr>
          <p:nvPr>
            <p:ph type="title"/>
          </p:nvPr>
        </p:nvSpPr>
        <p:spPr>
          <a:xfrm>
            <a:off x="1497483" y="2336008"/>
            <a:ext cx="4396105" cy="690245"/>
          </a:xfrm>
          <a:prstGeom prst="rect">
            <a:avLst/>
          </a:prstGeom>
        </p:spPr>
        <p:txBody>
          <a:bodyPr vert="horz" wrap="square" lIns="0" tIns="13970" rIns="0" bIns="0" rtlCol="0">
            <a:spAutoFit/>
          </a:bodyPr>
          <a:lstStyle/>
          <a:p>
            <a:pPr marL="12700">
              <a:lnSpc>
                <a:spcPct val="100000"/>
              </a:lnSpc>
              <a:spcBef>
                <a:spcPts val="110"/>
              </a:spcBef>
            </a:pPr>
            <a:r>
              <a:rPr sz="4350" spc="105" dirty="0">
                <a:solidFill>
                  <a:srgbClr val="080808"/>
                </a:solidFill>
                <a:latin typeface="Times New Roman" panose="02020603050405020304" pitchFamily="18" charset="0"/>
                <a:cs typeface="Times New Roman" panose="02020603050405020304" pitchFamily="18" charset="0"/>
              </a:rPr>
              <a:t>Emotion</a:t>
            </a:r>
            <a:r>
              <a:rPr sz="4350" spc="-5" dirty="0">
                <a:solidFill>
                  <a:srgbClr val="080808"/>
                </a:solidFill>
                <a:latin typeface="Times New Roman" panose="02020603050405020304" pitchFamily="18" charset="0"/>
                <a:cs typeface="Times New Roman" panose="02020603050405020304" pitchFamily="18" charset="0"/>
              </a:rPr>
              <a:t> </a:t>
            </a:r>
            <a:r>
              <a:rPr sz="4350" spc="-10" dirty="0">
                <a:solidFill>
                  <a:srgbClr val="080808"/>
                </a:solidFill>
                <a:latin typeface="Times New Roman" panose="02020603050405020304" pitchFamily="18" charset="0"/>
                <a:cs typeface="Times New Roman" panose="02020603050405020304" pitchFamily="18" charset="0"/>
              </a:rPr>
              <a:t>extraction</a:t>
            </a:r>
            <a:endParaRPr sz="4350">
              <a:solidFill>
                <a:srgbClr val="080808"/>
              </a:solidFill>
              <a:latin typeface="Times New Roman" panose="02020603050405020304" pitchFamily="18" charset="0"/>
              <a:cs typeface="Times New Roman" panose="02020603050405020304" pitchFamily="18" charset="0"/>
            </a:endParaRPr>
          </a:p>
        </p:txBody>
      </p:sp>
      <p:sp>
        <p:nvSpPr>
          <p:cNvPr id="5" name="object 5"/>
          <p:cNvSpPr txBox="1"/>
          <p:nvPr/>
        </p:nvSpPr>
        <p:spPr>
          <a:xfrm>
            <a:off x="525373" y="3801536"/>
            <a:ext cx="478790" cy="529590"/>
          </a:xfrm>
          <a:prstGeom prst="rect">
            <a:avLst/>
          </a:prstGeom>
        </p:spPr>
        <p:txBody>
          <a:bodyPr vert="horz" wrap="square" lIns="0" tIns="13335" rIns="0" bIns="0" rtlCol="0">
            <a:spAutoFit/>
          </a:bodyPr>
          <a:lstStyle/>
          <a:p>
            <a:pPr marL="12700">
              <a:lnSpc>
                <a:spcPct val="100000"/>
              </a:lnSpc>
              <a:spcBef>
                <a:spcPts val="105"/>
              </a:spcBef>
            </a:pPr>
            <a:r>
              <a:rPr sz="3300" spc="105" dirty="0">
                <a:solidFill>
                  <a:srgbClr val="080808"/>
                </a:solidFill>
                <a:latin typeface="Times New Roman" panose="02020603050405020304" pitchFamily="18" charset="0"/>
                <a:cs typeface="Times New Roman" panose="02020603050405020304" pitchFamily="18" charset="0"/>
              </a:rPr>
              <a:t>02</a:t>
            </a:r>
            <a:endParaRPr sz="3300">
              <a:solidFill>
                <a:srgbClr val="080808"/>
              </a:solidFill>
              <a:latin typeface="Times New Roman" panose="02020603050405020304" pitchFamily="18" charset="0"/>
              <a:cs typeface="Times New Roman" panose="02020603050405020304" pitchFamily="18" charset="0"/>
            </a:endParaRPr>
          </a:p>
        </p:txBody>
      </p:sp>
      <p:sp>
        <p:nvSpPr>
          <p:cNvPr id="6" name="object 6"/>
          <p:cNvSpPr txBox="1"/>
          <p:nvPr/>
        </p:nvSpPr>
        <p:spPr>
          <a:xfrm>
            <a:off x="1494374" y="3734703"/>
            <a:ext cx="5082540" cy="690245"/>
          </a:xfrm>
          <a:prstGeom prst="rect">
            <a:avLst/>
          </a:prstGeom>
        </p:spPr>
        <p:txBody>
          <a:bodyPr vert="horz" wrap="square" lIns="0" tIns="13970" rIns="0" bIns="0" rtlCol="0">
            <a:spAutoFit/>
          </a:bodyPr>
          <a:lstStyle/>
          <a:p>
            <a:pPr marL="12700">
              <a:lnSpc>
                <a:spcPct val="100000"/>
              </a:lnSpc>
              <a:spcBef>
                <a:spcPts val="110"/>
              </a:spcBef>
            </a:pPr>
            <a:r>
              <a:rPr sz="4350" dirty="0">
                <a:solidFill>
                  <a:srgbClr val="080808"/>
                </a:solidFill>
                <a:latin typeface="Times New Roman" panose="02020603050405020304" pitchFamily="18" charset="0"/>
                <a:cs typeface="Times New Roman" panose="02020603050405020304" pitchFamily="18" charset="0"/>
              </a:rPr>
              <a:t>Dynamic</a:t>
            </a:r>
            <a:r>
              <a:rPr sz="4350" spc="530" dirty="0">
                <a:solidFill>
                  <a:srgbClr val="080808"/>
                </a:solidFill>
                <a:latin typeface="Times New Roman" panose="02020603050405020304" pitchFamily="18" charset="0"/>
                <a:cs typeface="Times New Roman" panose="02020603050405020304" pitchFamily="18" charset="0"/>
              </a:rPr>
              <a:t> </a:t>
            </a:r>
            <a:r>
              <a:rPr sz="4350" spc="-10" dirty="0">
                <a:solidFill>
                  <a:srgbClr val="080808"/>
                </a:solidFill>
                <a:latin typeface="Times New Roman" panose="02020603050405020304" pitchFamily="18" charset="0"/>
                <a:cs typeface="Times New Roman" panose="02020603050405020304" pitchFamily="18" charset="0"/>
              </a:rPr>
              <a:t>thresholding</a:t>
            </a:r>
            <a:endParaRPr sz="4350">
              <a:solidFill>
                <a:srgbClr val="080808"/>
              </a:solidFill>
              <a:latin typeface="Times New Roman" panose="02020603050405020304" pitchFamily="18" charset="0"/>
              <a:cs typeface="Times New Roman" panose="02020603050405020304" pitchFamily="18" charset="0"/>
            </a:endParaRPr>
          </a:p>
        </p:txBody>
      </p:sp>
      <p:sp>
        <p:nvSpPr>
          <p:cNvPr id="7" name="object 7"/>
          <p:cNvSpPr txBox="1"/>
          <p:nvPr/>
        </p:nvSpPr>
        <p:spPr>
          <a:xfrm>
            <a:off x="7098854" y="2424137"/>
            <a:ext cx="6479627" cy="943528"/>
          </a:xfrm>
          <a:prstGeom prst="rect">
            <a:avLst/>
          </a:prstGeom>
        </p:spPr>
        <p:txBody>
          <a:bodyPr vert="horz" wrap="square" lIns="0" tIns="3175" rIns="0" bIns="0" rtlCol="0">
            <a:spAutoFit/>
          </a:bodyPr>
          <a:lstStyle/>
          <a:p>
            <a:pPr marL="12700" marR="5080" indent="8255">
              <a:lnSpc>
                <a:spcPct val="103800"/>
              </a:lnSpc>
              <a:spcBef>
                <a:spcPts val="25"/>
              </a:spcBef>
            </a:pPr>
            <a:r>
              <a:rPr sz="2000" spc="70" dirty="0">
                <a:solidFill>
                  <a:srgbClr val="080808"/>
                </a:solidFill>
                <a:latin typeface="Times New Roman" panose="02020603050405020304" pitchFamily="18" charset="0"/>
                <a:cs typeface="Times New Roman" panose="02020603050405020304" pitchFamily="18" charset="0"/>
              </a:rPr>
              <a:t>Anchor</a:t>
            </a:r>
            <a:r>
              <a:rPr sz="2000" spc="5" dirty="0">
                <a:solidFill>
                  <a:srgbClr val="080808"/>
                </a:solidFill>
                <a:latin typeface="Times New Roman" panose="02020603050405020304" pitchFamily="18" charset="0"/>
                <a:cs typeface="Times New Roman" panose="02020603050405020304" pitchFamily="18" charset="0"/>
              </a:rPr>
              <a:t> </a:t>
            </a:r>
            <a:r>
              <a:rPr sz="2000" spc="55" dirty="0">
                <a:solidFill>
                  <a:srgbClr val="080808"/>
                </a:solidFill>
                <a:latin typeface="Times New Roman" panose="02020603050405020304" pitchFamily="18" charset="0"/>
                <a:cs typeface="Times New Roman" panose="02020603050405020304" pitchFamily="18" charset="0"/>
              </a:rPr>
              <a:t>and</a:t>
            </a:r>
            <a:r>
              <a:rPr sz="2000" spc="-155" dirty="0">
                <a:solidFill>
                  <a:srgbClr val="080808"/>
                </a:solidFill>
                <a:latin typeface="Times New Roman" panose="02020603050405020304" pitchFamily="18" charset="0"/>
                <a:cs typeface="Times New Roman" panose="02020603050405020304" pitchFamily="18" charset="0"/>
              </a:rPr>
              <a:t> </a:t>
            </a:r>
            <a:r>
              <a:rPr sz="2000" spc="50" dirty="0">
                <a:solidFill>
                  <a:srgbClr val="080808"/>
                </a:solidFill>
                <a:latin typeface="Times New Roman" panose="02020603050405020304" pitchFamily="18" charset="0"/>
                <a:cs typeface="Times New Roman" panose="02020603050405020304" pitchFamily="18" charset="0"/>
              </a:rPr>
              <a:t>candidate</a:t>
            </a:r>
            <a:r>
              <a:rPr sz="2000" spc="-75" dirty="0">
                <a:solidFill>
                  <a:srgbClr val="080808"/>
                </a:solidFill>
                <a:latin typeface="Times New Roman" panose="02020603050405020304" pitchFamily="18" charset="0"/>
                <a:cs typeface="Times New Roman" panose="02020603050405020304" pitchFamily="18" charset="0"/>
              </a:rPr>
              <a:t> </a:t>
            </a:r>
            <a:r>
              <a:rPr sz="2000" spc="95" dirty="0">
                <a:solidFill>
                  <a:srgbClr val="080808"/>
                </a:solidFill>
                <a:latin typeface="Times New Roman" panose="02020603050405020304" pitchFamily="18" charset="0"/>
                <a:cs typeface="Times New Roman" panose="02020603050405020304" pitchFamily="18" charset="0"/>
              </a:rPr>
              <a:t>texts</a:t>
            </a:r>
            <a:r>
              <a:rPr sz="2000" spc="-125" dirty="0">
                <a:solidFill>
                  <a:srgbClr val="080808"/>
                </a:solidFill>
                <a:latin typeface="Times New Roman" panose="02020603050405020304" pitchFamily="18" charset="0"/>
                <a:cs typeface="Times New Roman" panose="02020603050405020304" pitchFamily="18" charset="0"/>
              </a:rPr>
              <a:t> </a:t>
            </a:r>
            <a:r>
              <a:rPr sz="2000" spc="95" dirty="0">
                <a:solidFill>
                  <a:srgbClr val="080808"/>
                </a:solidFill>
                <a:latin typeface="Times New Roman" panose="02020603050405020304" pitchFamily="18" charset="0"/>
                <a:cs typeface="Times New Roman" panose="02020603050405020304" pitchFamily="18" charset="0"/>
              </a:rPr>
              <a:t>run</a:t>
            </a:r>
            <a:r>
              <a:rPr sz="2000" spc="-215" dirty="0">
                <a:solidFill>
                  <a:srgbClr val="080808"/>
                </a:solidFill>
                <a:latin typeface="Times New Roman" panose="02020603050405020304" pitchFamily="18" charset="0"/>
                <a:cs typeface="Times New Roman" panose="02020603050405020304" pitchFamily="18" charset="0"/>
              </a:rPr>
              <a:t> </a:t>
            </a:r>
            <a:r>
              <a:rPr sz="2000" spc="85" dirty="0">
                <a:solidFill>
                  <a:srgbClr val="080808"/>
                </a:solidFill>
                <a:latin typeface="Times New Roman" panose="02020603050405020304" pitchFamily="18" charset="0"/>
                <a:cs typeface="Times New Roman" panose="02020603050405020304" pitchFamily="18" charset="0"/>
              </a:rPr>
              <a:t>through</a:t>
            </a:r>
            <a:r>
              <a:rPr sz="2000" spc="-55" dirty="0">
                <a:solidFill>
                  <a:srgbClr val="080808"/>
                </a:solidFill>
                <a:latin typeface="Times New Roman" panose="02020603050405020304" pitchFamily="18" charset="0"/>
                <a:cs typeface="Times New Roman" panose="02020603050405020304" pitchFamily="18" charset="0"/>
              </a:rPr>
              <a:t> </a:t>
            </a:r>
            <a:r>
              <a:rPr sz="2000" spc="75" dirty="0">
                <a:solidFill>
                  <a:srgbClr val="080808"/>
                </a:solidFill>
                <a:latin typeface="Times New Roman" panose="02020603050405020304" pitchFamily="18" charset="0"/>
                <a:cs typeface="Times New Roman" panose="02020603050405020304" pitchFamily="18" charset="0"/>
              </a:rPr>
              <a:t>distilroberta-</a:t>
            </a:r>
            <a:r>
              <a:rPr sz="2000" spc="-10" dirty="0">
                <a:solidFill>
                  <a:srgbClr val="080808"/>
                </a:solidFill>
                <a:latin typeface="Times New Roman" panose="02020603050405020304" pitchFamily="18" charset="0"/>
                <a:cs typeface="Times New Roman" panose="02020603050405020304" pitchFamily="18" charset="0"/>
              </a:rPr>
              <a:t>base,</a:t>
            </a:r>
            <a:r>
              <a:rPr sz="2000" spc="-80" dirty="0">
                <a:solidFill>
                  <a:srgbClr val="080808"/>
                </a:solidFill>
                <a:latin typeface="Times New Roman" panose="02020603050405020304" pitchFamily="18" charset="0"/>
                <a:cs typeface="Times New Roman" panose="02020603050405020304" pitchFamily="18" charset="0"/>
              </a:rPr>
              <a:t> </a:t>
            </a:r>
            <a:r>
              <a:rPr sz="2000" spc="60" dirty="0">
                <a:solidFill>
                  <a:srgbClr val="080808"/>
                </a:solidFill>
                <a:latin typeface="Times New Roman" panose="02020603050405020304" pitchFamily="18" charset="0"/>
                <a:cs typeface="Times New Roman" panose="02020603050405020304" pitchFamily="18" charset="0"/>
              </a:rPr>
              <a:t>producing</a:t>
            </a:r>
            <a:r>
              <a:rPr sz="2000" spc="35" dirty="0">
                <a:solidFill>
                  <a:srgbClr val="080808"/>
                </a:solidFill>
                <a:latin typeface="Times New Roman" panose="02020603050405020304" pitchFamily="18" charset="0"/>
                <a:cs typeface="Times New Roman" panose="02020603050405020304" pitchFamily="18" charset="0"/>
              </a:rPr>
              <a:t> </a:t>
            </a:r>
            <a:r>
              <a:rPr sz="2000" spc="70" dirty="0">
                <a:solidFill>
                  <a:srgbClr val="080808"/>
                </a:solidFill>
                <a:latin typeface="Times New Roman" panose="02020603050405020304" pitchFamily="18" charset="0"/>
                <a:cs typeface="Times New Roman" panose="02020603050405020304" pitchFamily="18" charset="0"/>
              </a:rPr>
              <a:t>multi-</a:t>
            </a:r>
            <a:r>
              <a:rPr sz="2000" spc="85" dirty="0">
                <a:solidFill>
                  <a:srgbClr val="080808"/>
                </a:solidFill>
                <a:latin typeface="Times New Roman" panose="02020603050405020304" pitchFamily="18" charset="0"/>
                <a:cs typeface="Times New Roman" panose="02020603050405020304" pitchFamily="18" charset="0"/>
              </a:rPr>
              <a:t>dimensional</a:t>
            </a:r>
            <a:r>
              <a:rPr sz="2000" spc="-245" dirty="0">
                <a:solidFill>
                  <a:srgbClr val="080808"/>
                </a:solidFill>
                <a:latin typeface="Times New Roman" panose="02020603050405020304" pitchFamily="18" charset="0"/>
                <a:cs typeface="Times New Roman" panose="02020603050405020304" pitchFamily="18" charset="0"/>
              </a:rPr>
              <a:t> </a:t>
            </a:r>
            <a:r>
              <a:rPr sz="2000" spc="80" dirty="0">
                <a:solidFill>
                  <a:srgbClr val="080808"/>
                </a:solidFill>
                <a:latin typeface="Times New Roman" panose="02020603050405020304" pitchFamily="18" charset="0"/>
                <a:cs typeface="Times New Roman" panose="02020603050405020304" pitchFamily="18" charset="0"/>
              </a:rPr>
              <a:t>emotion</a:t>
            </a:r>
            <a:r>
              <a:rPr sz="2000" spc="-35" dirty="0">
                <a:solidFill>
                  <a:srgbClr val="080808"/>
                </a:solidFill>
                <a:latin typeface="Times New Roman" panose="02020603050405020304" pitchFamily="18" charset="0"/>
                <a:cs typeface="Times New Roman" panose="02020603050405020304" pitchFamily="18" charset="0"/>
              </a:rPr>
              <a:t> </a:t>
            </a:r>
            <a:r>
              <a:rPr sz="2000" spc="-10" dirty="0">
                <a:solidFill>
                  <a:srgbClr val="080808"/>
                </a:solidFill>
                <a:latin typeface="Times New Roman" panose="02020603050405020304" pitchFamily="18" charset="0"/>
                <a:cs typeface="Times New Roman" panose="02020603050405020304" pitchFamily="18" charset="0"/>
              </a:rPr>
              <a:t>vectors: </a:t>
            </a:r>
            <a:r>
              <a:rPr sz="2000" dirty="0">
                <a:solidFill>
                  <a:srgbClr val="080808"/>
                </a:solidFill>
                <a:latin typeface="Times New Roman" panose="02020603050405020304" pitchFamily="18" charset="0"/>
                <a:cs typeface="Times New Roman" panose="02020603050405020304" pitchFamily="18" charset="0"/>
              </a:rPr>
              <a:t>anger,</a:t>
            </a:r>
            <a:r>
              <a:rPr sz="2000" spc="-215" dirty="0">
                <a:solidFill>
                  <a:srgbClr val="080808"/>
                </a:solidFill>
                <a:latin typeface="Times New Roman" panose="02020603050405020304" pitchFamily="18" charset="0"/>
                <a:cs typeface="Times New Roman" panose="02020603050405020304" pitchFamily="18" charset="0"/>
              </a:rPr>
              <a:t> </a:t>
            </a:r>
            <a:r>
              <a:rPr sz="2000" dirty="0">
                <a:solidFill>
                  <a:srgbClr val="080808"/>
                </a:solidFill>
                <a:latin typeface="Times New Roman" panose="02020603050405020304" pitchFamily="18" charset="0"/>
                <a:cs typeface="Times New Roman" panose="02020603050405020304" pitchFamily="18" charset="0"/>
              </a:rPr>
              <a:t>fear,</a:t>
            </a:r>
            <a:r>
              <a:rPr sz="2000" spc="-235" dirty="0">
                <a:solidFill>
                  <a:srgbClr val="080808"/>
                </a:solidFill>
                <a:latin typeface="Times New Roman" panose="02020603050405020304" pitchFamily="18" charset="0"/>
                <a:cs typeface="Times New Roman" panose="02020603050405020304" pitchFamily="18" charset="0"/>
              </a:rPr>
              <a:t> </a:t>
            </a:r>
            <a:r>
              <a:rPr sz="2000" spc="-10" dirty="0">
                <a:solidFill>
                  <a:srgbClr val="080808"/>
                </a:solidFill>
                <a:latin typeface="Times New Roman" panose="02020603050405020304" pitchFamily="18" charset="0"/>
                <a:cs typeface="Times New Roman" panose="02020603050405020304" pitchFamily="18" charset="0"/>
              </a:rPr>
              <a:t>joy,</a:t>
            </a:r>
            <a:r>
              <a:rPr sz="2000" spc="-70" dirty="0">
                <a:solidFill>
                  <a:srgbClr val="080808"/>
                </a:solidFill>
                <a:latin typeface="Times New Roman" panose="02020603050405020304" pitchFamily="18" charset="0"/>
                <a:cs typeface="Times New Roman" panose="02020603050405020304" pitchFamily="18" charset="0"/>
              </a:rPr>
              <a:t> </a:t>
            </a:r>
            <a:r>
              <a:rPr sz="2000" dirty="0">
                <a:solidFill>
                  <a:srgbClr val="080808"/>
                </a:solidFill>
                <a:latin typeface="Times New Roman" panose="02020603050405020304" pitchFamily="18" charset="0"/>
                <a:cs typeface="Times New Roman" panose="02020603050405020304" pitchFamily="18" charset="0"/>
              </a:rPr>
              <a:t>sadness,</a:t>
            </a:r>
            <a:r>
              <a:rPr sz="2000" spc="85" dirty="0">
                <a:solidFill>
                  <a:srgbClr val="080808"/>
                </a:solidFill>
                <a:latin typeface="Times New Roman" panose="02020603050405020304" pitchFamily="18" charset="0"/>
                <a:cs typeface="Times New Roman" panose="02020603050405020304" pitchFamily="18" charset="0"/>
              </a:rPr>
              <a:t> </a:t>
            </a:r>
            <a:r>
              <a:rPr sz="2000" spc="55" dirty="0">
                <a:solidFill>
                  <a:srgbClr val="080808"/>
                </a:solidFill>
                <a:latin typeface="Times New Roman" panose="02020603050405020304" pitchFamily="18" charset="0"/>
                <a:cs typeface="Times New Roman" panose="02020603050405020304" pitchFamily="18" charset="0"/>
              </a:rPr>
              <a:t>and</a:t>
            </a:r>
            <a:r>
              <a:rPr sz="2000" dirty="0">
                <a:solidFill>
                  <a:srgbClr val="080808"/>
                </a:solidFill>
                <a:latin typeface="Times New Roman" panose="02020603050405020304" pitchFamily="18" charset="0"/>
                <a:cs typeface="Times New Roman" panose="02020603050405020304" pitchFamily="18" charset="0"/>
              </a:rPr>
              <a:t> </a:t>
            </a:r>
            <a:r>
              <a:rPr sz="2000" spc="45" dirty="0">
                <a:solidFill>
                  <a:srgbClr val="080808"/>
                </a:solidFill>
                <a:latin typeface="Times New Roman" panose="02020603050405020304" pitchFamily="18" charset="0"/>
                <a:cs typeface="Times New Roman" panose="02020603050405020304" pitchFamily="18" charset="0"/>
              </a:rPr>
              <a:t>more.</a:t>
            </a:r>
            <a:endParaRPr sz="2000" dirty="0">
              <a:solidFill>
                <a:srgbClr val="080808"/>
              </a:solidFill>
              <a:latin typeface="Times New Roman" panose="02020603050405020304" pitchFamily="18" charset="0"/>
              <a:cs typeface="Times New Roman" panose="02020603050405020304" pitchFamily="18" charset="0"/>
            </a:endParaRPr>
          </a:p>
        </p:txBody>
      </p:sp>
      <p:sp>
        <p:nvSpPr>
          <p:cNvPr id="8" name="object 8"/>
          <p:cNvSpPr txBox="1"/>
          <p:nvPr/>
        </p:nvSpPr>
        <p:spPr>
          <a:xfrm>
            <a:off x="7061993" y="3859362"/>
            <a:ext cx="6553347" cy="943528"/>
          </a:xfrm>
          <a:prstGeom prst="rect">
            <a:avLst/>
          </a:prstGeom>
        </p:spPr>
        <p:txBody>
          <a:bodyPr vert="horz" wrap="square" lIns="0" tIns="3175" rIns="0" bIns="0" rtlCol="0">
            <a:spAutoFit/>
          </a:bodyPr>
          <a:lstStyle/>
          <a:p>
            <a:pPr marL="15240" marR="9525" indent="-635">
              <a:lnSpc>
                <a:spcPct val="103800"/>
              </a:lnSpc>
              <a:spcBef>
                <a:spcPts val="25"/>
              </a:spcBef>
            </a:pPr>
            <a:r>
              <a:rPr sz="2000" spc="100" dirty="0">
                <a:solidFill>
                  <a:srgbClr val="080808"/>
                </a:solidFill>
                <a:latin typeface="Times New Roman" panose="02020603050405020304" pitchFamily="18" charset="0"/>
                <a:cs typeface="Times New Roman" panose="02020603050405020304" pitchFamily="18" charset="0"/>
              </a:rPr>
              <a:t>High-</a:t>
            </a:r>
            <a:r>
              <a:rPr sz="2000" spc="85" dirty="0">
                <a:solidFill>
                  <a:srgbClr val="080808"/>
                </a:solidFill>
                <a:latin typeface="Times New Roman" panose="02020603050405020304" pitchFamily="18" charset="0"/>
                <a:cs typeface="Times New Roman" panose="02020603050405020304" pitchFamily="18" charset="0"/>
              </a:rPr>
              <a:t>intensity</a:t>
            </a:r>
            <a:r>
              <a:rPr sz="2000" spc="-150" dirty="0">
                <a:solidFill>
                  <a:srgbClr val="080808"/>
                </a:solidFill>
                <a:latin typeface="Times New Roman" panose="02020603050405020304" pitchFamily="18" charset="0"/>
                <a:cs typeface="Times New Roman" panose="02020603050405020304" pitchFamily="18" charset="0"/>
              </a:rPr>
              <a:t> </a:t>
            </a:r>
            <a:r>
              <a:rPr sz="2000" spc="95" dirty="0">
                <a:solidFill>
                  <a:srgbClr val="080808"/>
                </a:solidFill>
                <a:latin typeface="Times New Roman" panose="02020603050405020304" pitchFamily="18" charset="0"/>
                <a:cs typeface="Times New Roman" panose="02020603050405020304" pitchFamily="18" charset="0"/>
              </a:rPr>
              <a:t>texts</a:t>
            </a:r>
            <a:r>
              <a:rPr sz="2000" spc="-100" dirty="0">
                <a:solidFill>
                  <a:srgbClr val="080808"/>
                </a:solidFill>
                <a:latin typeface="Times New Roman" panose="02020603050405020304" pitchFamily="18" charset="0"/>
                <a:cs typeface="Times New Roman" panose="02020603050405020304" pitchFamily="18" charset="0"/>
              </a:rPr>
              <a:t> </a:t>
            </a:r>
            <a:r>
              <a:rPr sz="2000" dirty="0">
                <a:solidFill>
                  <a:srgbClr val="080808"/>
                </a:solidFill>
                <a:latin typeface="Times New Roman" panose="02020603050405020304" pitchFamily="18" charset="0"/>
                <a:cs typeface="Times New Roman" panose="02020603050405020304" pitchFamily="18" charset="0"/>
              </a:rPr>
              <a:t>(score</a:t>
            </a:r>
            <a:r>
              <a:rPr sz="2000" spc="-120" dirty="0">
                <a:solidFill>
                  <a:srgbClr val="080808"/>
                </a:solidFill>
                <a:latin typeface="Times New Roman" panose="02020603050405020304" pitchFamily="18" charset="0"/>
                <a:cs typeface="Times New Roman" panose="02020603050405020304" pitchFamily="18" charset="0"/>
              </a:rPr>
              <a:t> </a:t>
            </a:r>
            <a:r>
              <a:rPr sz="2000" dirty="0">
                <a:solidFill>
                  <a:srgbClr val="080808"/>
                </a:solidFill>
                <a:latin typeface="Times New Roman" panose="02020603050405020304" pitchFamily="18" charset="0"/>
                <a:cs typeface="Times New Roman" panose="02020603050405020304" pitchFamily="18" charset="0"/>
              </a:rPr>
              <a:t>&gt;0.85)</a:t>
            </a:r>
            <a:r>
              <a:rPr sz="2000" spc="70" dirty="0">
                <a:solidFill>
                  <a:srgbClr val="080808"/>
                </a:solidFill>
                <a:latin typeface="Times New Roman" panose="02020603050405020304" pitchFamily="18" charset="0"/>
                <a:cs typeface="Times New Roman" panose="02020603050405020304" pitchFamily="18" charset="0"/>
              </a:rPr>
              <a:t> </a:t>
            </a:r>
            <a:r>
              <a:rPr sz="2000" spc="45" dirty="0">
                <a:solidFill>
                  <a:srgbClr val="080808"/>
                </a:solidFill>
                <a:latin typeface="Times New Roman" panose="02020603050405020304" pitchFamily="18" charset="0"/>
                <a:cs typeface="Times New Roman" panose="02020603050405020304" pitchFamily="18" charset="0"/>
              </a:rPr>
              <a:t>require</a:t>
            </a:r>
            <a:r>
              <a:rPr sz="2000" spc="-80" dirty="0">
                <a:solidFill>
                  <a:srgbClr val="080808"/>
                </a:solidFill>
                <a:latin typeface="Times New Roman" panose="02020603050405020304" pitchFamily="18" charset="0"/>
                <a:cs typeface="Times New Roman" panose="02020603050405020304" pitchFamily="18" charset="0"/>
              </a:rPr>
              <a:t> </a:t>
            </a:r>
            <a:r>
              <a:rPr sz="2000" spc="80" dirty="0">
                <a:solidFill>
                  <a:srgbClr val="080808"/>
                </a:solidFill>
                <a:latin typeface="Times New Roman" panose="02020603050405020304" pitchFamily="18" charset="0"/>
                <a:cs typeface="Times New Roman" panose="02020603050405020304" pitchFamily="18" charset="0"/>
              </a:rPr>
              <a:t>strict</a:t>
            </a:r>
            <a:r>
              <a:rPr sz="2000" spc="-100" dirty="0">
                <a:solidFill>
                  <a:srgbClr val="080808"/>
                </a:solidFill>
                <a:latin typeface="Times New Roman" panose="02020603050405020304" pitchFamily="18" charset="0"/>
                <a:cs typeface="Times New Roman" panose="02020603050405020304" pitchFamily="18" charset="0"/>
              </a:rPr>
              <a:t> </a:t>
            </a:r>
            <a:r>
              <a:rPr sz="2000" spc="-10" dirty="0">
                <a:solidFill>
                  <a:srgbClr val="080808"/>
                </a:solidFill>
                <a:latin typeface="Times New Roman" panose="02020603050405020304" pitchFamily="18" charset="0"/>
                <a:cs typeface="Times New Roman" panose="02020603050405020304" pitchFamily="18" charset="0"/>
              </a:rPr>
              <a:t>cosine </a:t>
            </a:r>
            <a:r>
              <a:rPr sz="2000" spc="60" dirty="0">
                <a:solidFill>
                  <a:srgbClr val="080808"/>
                </a:solidFill>
                <a:latin typeface="Times New Roman" panose="02020603050405020304" pitchFamily="18" charset="0"/>
                <a:cs typeface="Times New Roman" panose="02020603050405020304" pitchFamily="18" charset="0"/>
              </a:rPr>
              <a:t>similarity</a:t>
            </a:r>
            <a:r>
              <a:rPr sz="2000" spc="180" dirty="0">
                <a:solidFill>
                  <a:srgbClr val="080808"/>
                </a:solidFill>
                <a:latin typeface="Times New Roman" panose="02020603050405020304" pitchFamily="18" charset="0"/>
                <a:cs typeface="Times New Roman" panose="02020603050405020304" pitchFamily="18" charset="0"/>
              </a:rPr>
              <a:t> </a:t>
            </a:r>
            <a:r>
              <a:rPr sz="2000" dirty="0">
                <a:solidFill>
                  <a:srgbClr val="080808"/>
                </a:solidFill>
                <a:latin typeface="Times New Roman" panose="02020603050405020304" pitchFamily="18" charset="0"/>
                <a:cs typeface="Times New Roman" panose="02020603050405020304" pitchFamily="18" charset="0"/>
              </a:rPr>
              <a:t>(0.90-0.95).</a:t>
            </a:r>
            <a:r>
              <a:rPr sz="2000" spc="90" dirty="0">
                <a:solidFill>
                  <a:srgbClr val="080808"/>
                </a:solidFill>
                <a:latin typeface="Times New Roman" panose="02020603050405020304" pitchFamily="18" charset="0"/>
                <a:cs typeface="Times New Roman" panose="02020603050405020304" pitchFamily="18" charset="0"/>
              </a:rPr>
              <a:t> </a:t>
            </a:r>
            <a:r>
              <a:rPr sz="2000" spc="85" dirty="0">
                <a:solidFill>
                  <a:srgbClr val="080808"/>
                </a:solidFill>
                <a:latin typeface="Times New Roman" panose="02020603050405020304" pitchFamily="18" charset="0"/>
                <a:cs typeface="Times New Roman" panose="02020603050405020304" pitchFamily="18" charset="0"/>
              </a:rPr>
              <a:t>Low-</a:t>
            </a:r>
            <a:r>
              <a:rPr sz="2000" spc="60" dirty="0">
                <a:solidFill>
                  <a:srgbClr val="080808"/>
                </a:solidFill>
                <a:latin typeface="Times New Roman" panose="02020603050405020304" pitchFamily="18" charset="0"/>
                <a:cs typeface="Times New Roman" panose="02020603050405020304" pitchFamily="18" charset="0"/>
              </a:rPr>
              <a:t>intensity</a:t>
            </a:r>
            <a:r>
              <a:rPr sz="2000" spc="180" dirty="0">
                <a:solidFill>
                  <a:srgbClr val="080808"/>
                </a:solidFill>
                <a:latin typeface="Times New Roman" panose="02020603050405020304" pitchFamily="18" charset="0"/>
                <a:cs typeface="Times New Roman" panose="02020603050405020304" pitchFamily="18" charset="0"/>
              </a:rPr>
              <a:t> </a:t>
            </a:r>
            <a:r>
              <a:rPr sz="2000" spc="95" dirty="0">
                <a:solidFill>
                  <a:srgbClr val="080808"/>
                </a:solidFill>
                <a:latin typeface="Times New Roman" panose="02020603050405020304" pitchFamily="18" charset="0"/>
                <a:cs typeface="Times New Roman" panose="02020603050405020304" pitchFamily="18" charset="0"/>
              </a:rPr>
              <a:t>texts</a:t>
            </a:r>
            <a:r>
              <a:rPr sz="2000" spc="10" dirty="0">
                <a:solidFill>
                  <a:srgbClr val="080808"/>
                </a:solidFill>
                <a:latin typeface="Times New Roman" panose="02020603050405020304" pitchFamily="18" charset="0"/>
                <a:cs typeface="Times New Roman" panose="02020603050405020304" pitchFamily="18" charset="0"/>
              </a:rPr>
              <a:t> </a:t>
            </a:r>
            <a:r>
              <a:rPr sz="2000" dirty="0">
                <a:solidFill>
                  <a:srgbClr val="080808"/>
                </a:solidFill>
                <a:latin typeface="Times New Roman" panose="02020603050405020304" pitchFamily="18" charset="0"/>
                <a:cs typeface="Times New Roman" panose="02020603050405020304" pitchFamily="18" charset="0"/>
              </a:rPr>
              <a:t>(score</a:t>
            </a:r>
            <a:r>
              <a:rPr sz="2000" spc="-10" dirty="0">
                <a:solidFill>
                  <a:srgbClr val="080808"/>
                </a:solidFill>
                <a:latin typeface="Times New Roman" panose="02020603050405020304" pitchFamily="18" charset="0"/>
                <a:cs typeface="Times New Roman" panose="02020603050405020304" pitchFamily="18" charset="0"/>
              </a:rPr>
              <a:t> &lt;0.40) </a:t>
            </a:r>
            <a:r>
              <a:rPr sz="2000" spc="55" dirty="0">
                <a:solidFill>
                  <a:srgbClr val="080808"/>
                </a:solidFill>
                <a:latin typeface="Times New Roman" panose="02020603050405020304" pitchFamily="18" charset="0"/>
                <a:cs typeface="Times New Roman" panose="02020603050405020304" pitchFamily="18" charset="0"/>
              </a:rPr>
              <a:t>apply</a:t>
            </a:r>
            <a:r>
              <a:rPr sz="2000" spc="5" dirty="0">
                <a:solidFill>
                  <a:srgbClr val="080808"/>
                </a:solidFill>
                <a:latin typeface="Times New Roman" panose="02020603050405020304" pitchFamily="18" charset="0"/>
                <a:cs typeface="Times New Roman" panose="02020603050405020304" pitchFamily="18" charset="0"/>
              </a:rPr>
              <a:t> </a:t>
            </a:r>
            <a:r>
              <a:rPr sz="2000" spc="-40" dirty="0">
                <a:solidFill>
                  <a:srgbClr val="080808"/>
                </a:solidFill>
                <a:latin typeface="Times New Roman" panose="02020603050405020304" pitchFamily="18" charset="0"/>
                <a:cs typeface="Times New Roman" panose="02020603050405020304" pitchFamily="18" charset="0"/>
              </a:rPr>
              <a:t>a</a:t>
            </a:r>
            <a:r>
              <a:rPr sz="2000" dirty="0">
                <a:solidFill>
                  <a:srgbClr val="080808"/>
                </a:solidFill>
                <a:latin typeface="Times New Roman" panose="02020603050405020304" pitchFamily="18" charset="0"/>
                <a:cs typeface="Times New Roman" panose="02020603050405020304" pitchFamily="18" charset="0"/>
              </a:rPr>
              <a:t> relaxed</a:t>
            </a:r>
            <a:r>
              <a:rPr sz="2000" spc="30" dirty="0">
                <a:solidFill>
                  <a:srgbClr val="080808"/>
                </a:solidFill>
                <a:latin typeface="Times New Roman" panose="02020603050405020304" pitchFamily="18" charset="0"/>
                <a:cs typeface="Times New Roman" panose="02020603050405020304" pitchFamily="18" charset="0"/>
              </a:rPr>
              <a:t> </a:t>
            </a:r>
            <a:r>
              <a:rPr sz="2000" spc="55" dirty="0">
                <a:solidFill>
                  <a:srgbClr val="080808"/>
                </a:solidFill>
                <a:latin typeface="Times New Roman" panose="02020603050405020304" pitchFamily="18" charset="0"/>
                <a:cs typeface="Times New Roman" panose="02020603050405020304" pitchFamily="18" charset="0"/>
              </a:rPr>
              <a:t>threshold</a:t>
            </a:r>
            <a:r>
              <a:rPr sz="2000" spc="105" dirty="0">
                <a:solidFill>
                  <a:srgbClr val="080808"/>
                </a:solidFill>
                <a:latin typeface="Times New Roman" panose="02020603050405020304" pitchFamily="18" charset="0"/>
                <a:cs typeface="Times New Roman" panose="02020603050405020304" pitchFamily="18" charset="0"/>
              </a:rPr>
              <a:t> </a:t>
            </a:r>
            <a:r>
              <a:rPr sz="2000" dirty="0">
                <a:solidFill>
                  <a:srgbClr val="080808"/>
                </a:solidFill>
                <a:latin typeface="Times New Roman" panose="02020603050405020304" pitchFamily="18" charset="0"/>
                <a:cs typeface="Times New Roman" panose="02020603050405020304" pitchFamily="18" charset="0"/>
              </a:rPr>
              <a:t>(0.50-</a:t>
            </a:r>
            <a:r>
              <a:rPr sz="2000" spc="-10" dirty="0">
                <a:solidFill>
                  <a:srgbClr val="080808"/>
                </a:solidFill>
                <a:latin typeface="Times New Roman" panose="02020603050405020304" pitchFamily="18" charset="0"/>
                <a:cs typeface="Times New Roman" panose="02020603050405020304" pitchFamily="18" charset="0"/>
              </a:rPr>
              <a:t>0.70).</a:t>
            </a:r>
            <a:endParaRPr sz="2000" dirty="0">
              <a:solidFill>
                <a:srgbClr val="080808"/>
              </a:solidFill>
              <a:latin typeface="Times New Roman" panose="02020603050405020304" pitchFamily="18" charset="0"/>
              <a:cs typeface="Times New Roman" panose="02020603050405020304" pitchFamily="18" charset="0"/>
            </a:endParaRPr>
          </a:p>
        </p:txBody>
      </p:sp>
      <p:sp>
        <p:nvSpPr>
          <p:cNvPr id="9" name="object 9"/>
          <p:cNvSpPr txBox="1"/>
          <p:nvPr/>
        </p:nvSpPr>
        <p:spPr>
          <a:xfrm>
            <a:off x="525373" y="5224100"/>
            <a:ext cx="483234" cy="529590"/>
          </a:xfrm>
          <a:prstGeom prst="rect">
            <a:avLst/>
          </a:prstGeom>
        </p:spPr>
        <p:txBody>
          <a:bodyPr vert="horz" wrap="square" lIns="0" tIns="13335" rIns="0" bIns="0" rtlCol="0">
            <a:spAutoFit/>
          </a:bodyPr>
          <a:lstStyle/>
          <a:p>
            <a:pPr marL="12700">
              <a:lnSpc>
                <a:spcPct val="100000"/>
              </a:lnSpc>
              <a:spcBef>
                <a:spcPts val="105"/>
              </a:spcBef>
            </a:pPr>
            <a:r>
              <a:rPr sz="3300" spc="120" dirty="0">
                <a:solidFill>
                  <a:srgbClr val="080808"/>
                </a:solidFill>
                <a:latin typeface="Times New Roman" panose="02020603050405020304" pitchFamily="18" charset="0"/>
                <a:cs typeface="Times New Roman" panose="02020603050405020304" pitchFamily="18" charset="0"/>
              </a:rPr>
              <a:t>03</a:t>
            </a:r>
            <a:endParaRPr sz="3300">
              <a:solidFill>
                <a:srgbClr val="080808"/>
              </a:solidFill>
              <a:latin typeface="Times New Roman" panose="02020603050405020304" pitchFamily="18" charset="0"/>
              <a:cs typeface="Times New Roman" panose="02020603050405020304" pitchFamily="18" charset="0"/>
            </a:endParaRPr>
          </a:p>
        </p:txBody>
      </p:sp>
      <p:sp>
        <p:nvSpPr>
          <p:cNvPr id="10" name="object 10"/>
          <p:cNvSpPr txBox="1"/>
          <p:nvPr/>
        </p:nvSpPr>
        <p:spPr>
          <a:xfrm>
            <a:off x="1494927" y="5123852"/>
            <a:ext cx="2125980" cy="690245"/>
          </a:xfrm>
          <a:prstGeom prst="rect">
            <a:avLst/>
          </a:prstGeom>
        </p:spPr>
        <p:txBody>
          <a:bodyPr vert="horz" wrap="square" lIns="0" tIns="13970" rIns="0" bIns="0" rtlCol="0">
            <a:spAutoFit/>
          </a:bodyPr>
          <a:lstStyle/>
          <a:p>
            <a:pPr marL="12700">
              <a:lnSpc>
                <a:spcPct val="100000"/>
              </a:lnSpc>
              <a:spcBef>
                <a:spcPts val="110"/>
              </a:spcBef>
            </a:pPr>
            <a:r>
              <a:rPr sz="4350" spc="-10" dirty="0">
                <a:solidFill>
                  <a:srgbClr val="080808"/>
                </a:solidFill>
                <a:latin typeface="Times New Roman" panose="02020603050405020304" pitchFamily="18" charset="0"/>
                <a:cs typeface="Times New Roman" panose="02020603050405020304" pitchFamily="18" charset="0"/>
              </a:rPr>
              <a:t>Filtration</a:t>
            </a:r>
            <a:endParaRPr sz="4350">
              <a:solidFill>
                <a:srgbClr val="080808"/>
              </a:solidFill>
              <a:latin typeface="Times New Roman" panose="02020603050405020304" pitchFamily="18" charset="0"/>
              <a:cs typeface="Times New Roman" panose="02020603050405020304" pitchFamily="18" charset="0"/>
            </a:endParaRPr>
          </a:p>
        </p:txBody>
      </p:sp>
      <p:sp>
        <p:nvSpPr>
          <p:cNvPr id="11" name="object 11"/>
          <p:cNvSpPr txBox="1"/>
          <p:nvPr/>
        </p:nvSpPr>
        <p:spPr>
          <a:xfrm>
            <a:off x="525373" y="6646664"/>
            <a:ext cx="478790" cy="529590"/>
          </a:xfrm>
          <a:prstGeom prst="rect">
            <a:avLst/>
          </a:prstGeom>
        </p:spPr>
        <p:txBody>
          <a:bodyPr vert="horz" wrap="square" lIns="0" tIns="13335" rIns="0" bIns="0" rtlCol="0">
            <a:spAutoFit/>
          </a:bodyPr>
          <a:lstStyle/>
          <a:p>
            <a:pPr marL="12700">
              <a:lnSpc>
                <a:spcPct val="100000"/>
              </a:lnSpc>
              <a:spcBef>
                <a:spcPts val="105"/>
              </a:spcBef>
            </a:pPr>
            <a:r>
              <a:rPr sz="3300" spc="105" dirty="0">
                <a:solidFill>
                  <a:srgbClr val="080808"/>
                </a:solidFill>
                <a:latin typeface="Times New Roman" panose="02020603050405020304" pitchFamily="18" charset="0"/>
                <a:cs typeface="Times New Roman" panose="02020603050405020304" pitchFamily="18" charset="0"/>
              </a:rPr>
              <a:t>04</a:t>
            </a:r>
            <a:endParaRPr sz="3300">
              <a:solidFill>
                <a:srgbClr val="080808"/>
              </a:solidFill>
              <a:latin typeface="Times New Roman" panose="02020603050405020304" pitchFamily="18" charset="0"/>
              <a:cs typeface="Times New Roman" panose="02020603050405020304" pitchFamily="18" charset="0"/>
            </a:endParaRPr>
          </a:p>
        </p:txBody>
      </p:sp>
      <p:sp>
        <p:nvSpPr>
          <p:cNvPr id="12" name="object 12"/>
          <p:cNvSpPr txBox="1"/>
          <p:nvPr/>
        </p:nvSpPr>
        <p:spPr>
          <a:xfrm>
            <a:off x="1493954" y="6527321"/>
            <a:ext cx="1758950" cy="690245"/>
          </a:xfrm>
          <a:prstGeom prst="rect">
            <a:avLst/>
          </a:prstGeom>
        </p:spPr>
        <p:txBody>
          <a:bodyPr vert="horz" wrap="square" lIns="0" tIns="13970" rIns="0" bIns="0" rtlCol="0">
            <a:spAutoFit/>
          </a:bodyPr>
          <a:lstStyle/>
          <a:p>
            <a:pPr marL="12700">
              <a:lnSpc>
                <a:spcPct val="100000"/>
              </a:lnSpc>
              <a:spcBef>
                <a:spcPts val="110"/>
              </a:spcBef>
            </a:pPr>
            <a:r>
              <a:rPr sz="4350" spc="245" dirty="0">
                <a:solidFill>
                  <a:srgbClr val="080808"/>
                </a:solidFill>
                <a:latin typeface="Times New Roman" panose="02020603050405020304" pitchFamily="18" charset="0"/>
                <a:cs typeface="Times New Roman" panose="02020603050405020304" pitchFamily="18" charset="0"/>
              </a:rPr>
              <a:t>Output</a:t>
            </a:r>
            <a:endParaRPr sz="4350">
              <a:solidFill>
                <a:srgbClr val="080808"/>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89C9373E-A7DC-270D-8581-0222F3ED9BC8}"/>
              </a:ext>
            </a:extLst>
          </p:cNvPr>
          <p:cNvSpPr txBox="1"/>
          <p:nvPr/>
        </p:nvSpPr>
        <p:spPr>
          <a:xfrm>
            <a:off x="6994104" y="5224100"/>
            <a:ext cx="6553347" cy="712567"/>
          </a:xfrm>
          <a:prstGeom prst="rect">
            <a:avLst/>
          </a:prstGeom>
          <a:noFill/>
        </p:spPr>
        <p:txBody>
          <a:bodyPr wrap="square">
            <a:spAutoFit/>
          </a:bodyPr>
          <a:lstStyle/>
          <a:p>
            <a:pPr marL="12700" marR="40005" indent="-635">
              <a:lnSpc>
                <a:spcPct val="103800"/>
              </a:lnSpc>
            </a:pPr>
            <a:r>
              <a:rPr lang="en-US" sz="2000" spc="50" dirty="0">
                <a:solidFill>
                  <a:srgbClr val="080808"/>
                </a:solidFill>
                <a:latin typeface="Times New Roman" panose="02020603050405020304" pitchFamily="18" charset="0"/>
                <a:cs typeface="Times New Roman" panose="02020603050405020304" pitchFamily="18" charset="0"/>
              </a:rPr>
              <a:t>Candidates</a:t>
            </a:r>
            <a:r>
              <a:rPr lang="en-US" sz="2000" spc="-55" dirty="0">
                <a:solidFill>
                  <a:srgbClr val="080808"/>
                </a:solidFill>
                <a:latin typeface="Times New Roman" panose="02020603050405020304" pitchFamily="18" charset="0"/>
                <a:cs typeface="Times New Roman" panose="02020603050405020304" pitchFamily="18" charset="0"/>
              </a:rPr>
              <a:t> </a:t>
            </a:r>
            <a:r>
              <a:rPr lang="en-US" sz="2000" spc="95" dirty="0">
                <a:solidFill>
                  <a:srgbClr val="080808"/>
                </a:solidFill>
                <a:latin typeface="Times New Roman" panose="02020603050405020304" pitchFamily="18" charset="0"/>
                <a:cs typeface="Times New Roman" panose="02020603050405020304" pitchFamily="18" charset="0"/>
              </a:rPr>
              <a:t>that</a:t>
            </a:r>
            <a:r>
              <a:rPr lang="en-US" sz="2000" spc="-75" dirty="0">
                <a:solidFill>
                  <a:srgbClr val="080808"/>
                </a:solidFill>
                <a:latin typeface="Times New Roman" panose="02020603050405020304" pitchFamily="18" charset="0"/>
                <a:cs typeface="Times New Roman" panose="02020603050405020304" pitchFamily="18" charset="0"/>
              </a:rPr>
              <a:t> </a:t>
            </a:r>
            <a:r>
              <a:rPr lang="en-US" sz="2000" spc="55" dirty="0">
                <a:solidFill>
                  <a:srgbClr val="080808"/>
                </a:solidFill>
                <a:latin typeface="Times New Roman" panose="02020603050405020304" pitchFamily="18" charset="0"/>
                <a:cs typeface="Times New Roman" panose="02020603050405020304" pitchFamily="18" charset="0"/>
              </a:rPr>
              <a:t>fall</a:t>
            </a:r>
            <a:r>
              <a:rPr lang="en-US" sz="2000" spc="-105" dirty="0">
                <a:solidFill>
                  <a:srgbClr val="080808"/>
                </a:solidFill>
                <a:latin typeface="Times New Roman" panose="02020603050405020304" pitchFamily="18" charset="0"/>
                <a:cs typeface="Times New Roman" panose="02020603050405020304" pitchFamily="18" charset="0"/>
              </a:rPr>
              <a:t> </a:t>
            </a:r>
            <a:r>
              <a:rPr lang="en-US" sz="2000" spc="60" dirty="0">
                <a:solidFill>
                  <a:srgbClr val="080808"/>
                </a:solidFill>
                <a:latin typeface="Times New Roman" panose="02020603050405020304" pitchFamily="18" charset="0"/>
                <a:cs typeface="Times New Roman" panose="02020603050405020304" pitchFamily="18" charset="0"/>
              </a:rPr>
              <a:t>below</a:t>
            </a:r>
            <a:r>
              <a:rPr lang="en-US" sz="2000" spc="-30" dirty="0">
                <a:solidFill>
                  <a:srgbClr val="080808"/>
                </a:solidFill>
                <a:latin typeface="Times New Roman" panose="02020603050405020304" pitchFamily="18" charset="0"/>
                <a:cs typeface="Times New Roman" panose="02020603050405020304" pitchFamily="18" charset="0"/>
              </a:rPr>
              <a:t> </a:t>
            </a:r>
            <a:r>
              <a:rPr lang="en-US" sz="2000" dirty="0">
                <a:solidFill>
                  <a:srgbClr val="080808"/>
                </a:solidFill>
                <a:latin typeface="Times New Roman" panose="02020603050405020304" pitchFamily="18" charset="0"/>
                <a:cs typeface="Times New Roman" panose="02020603050405020304" pitchFamily="18" charset="0"/>
              </a:rPr>
              <a:t>the</a:t>
            </a:r>
            <a:r>
              <a:rPr lang="en-US" sz="2000" spc="80" dirty="0">
                <a:solidFill>
                  <a:srgbClr val="080808"/>
                </a:solidFill>
                <a:latin typeface="Times New Roman" panose="02020603050405020304" pitchFamily="18" charset="0"/>
                <a:cs typeface="Times New Roman" panose="02020603050405020304" pitchFamily="18" charset="0"/>
              </a:rPr>
              <a:t> </a:t>
            </a:r>
            <a:r>
              <a:rPr lang="en-US" sz="2000" spc="55" dirty="0">
                <a:solidFill>
                  <a:srgbClr val="080808"/>
                </a:solidFill>
                <a:latin typeface="Times New Roman" panose="02020603050405020304" pitchFamily="18" charset="0"/>
                <a:cs typeface="Times New Roman" panose="02020603050405020304" pitchFamily="18" charset="0"/>
              </a:rPr>
              <a:t>threshold</a:t>
            </a:r>
            <a:r>
              <a:rPr lang="en-US" sz="2000" spc="5" dirty="0">
                <a:solidFill>
                  <a:srgbClr val="080808"/>
                </a:solidFill>
                <a:latin typeface="Times New Roman" panose="02020603050405020304" pitchFamily="18" charset="0"/>
                <a:cs typeface="Times New Roman" panose="02020603050405020304" pitchFamily="18" charset="0"/>
              </a:rPr>
              <a:t> </a:t>
            </a:r>
            <a:r>
              <a:rPr lang="en-US" sz="2000" dirty="0">
                <a:solidFill>
                  <a:srgbClr val="080808"/>
                </a:solidFill>
                <a:latin typeface="Times New Roman" panose="02020603050405020304" pitchFamily="18" charset="0"/>
                <a:cs typeface="Times New Roman" panose="02020603050405020304" pitchFamily="18" charset="0"/>
              </a:rPr>
              <a:t>are</a:t>
            </a:r>
            <a:r>
              <a:rPr lang="en-US" sz="2000" spc="-100" dirty="0">
                <a:solidFill>
                  <a:srgbClr val="080808"/>
                </a:solidFill>
                <a:latin typeface="Times New Roman" panose="02020603050405020304" pitchFamily="18" charset="0"/>
                <a:cs typeface="Times New Roman" panose="02020603050405020304" pitchFamily="18" charset="0"/>
              </a:rPr>
              <a:t> </a:t>
            </a:r>
            <a:r>
              <a:rPr lang="en-US" sz="2000" spc="-10" dirty="0">
                <a:solidFill>
                  <a:srgbClr val="080808"/>
                </a:solidFill>
                <a:latin typeface="Times New Roman" panose="02020603050405020304" pitchFamily="18" charset="0"/>
                <a:cs typeface="Times New Roman" panose="02020603050405020304" pitchFamily="18" charset="0"/>
              </a:rPr>
              <a:t>discarded. </a:t>
            </a:r>
            <a:r>
              <a:rPr lang="en-US" sz="2000" spc="60" dirty="0">
                <a:solidFill>
                  <a:srgbClr val="080808"/>
                </a:solidFill>
                <a:latin typeface="Times New Roman" panose="02020603050405020304" pitchFamily="18" charset="0"/>
                <a:cs typeface="Times New Roman" panose="02020603050405020304" pitchFamily="18" charset="0"/>
              </a:rPr>
              <a:t>Only</a:t>
            </a:r>
            <a:r>
              <a:rPr lang="en-US" sz="2000" spc="-35" dirty="0">
                <a:solidFill>
                  <a:srgbClr val="080808"/>
                </a:solidFill>
                <a:latin typeface="Times New Roman" panose="02020603050405020304" pitchFamily="18" charset="0"/>
                <a:cs typeface="Times New Roman" panose="02020603050405020304" pitchFamily="18" charset="0"/>
              </a:rPr>
              <a:t> </a:t>
            </a:r>
            <a:r>
              <a:rPr lang="en-US" sz="2000" spc="75" dirty="0">
                <a:solidFill>
                  <a:srgbClr val="080808"/>
                </a:solidFill>
                <a:latin typeface="Times New Roman" panose="02020603050405020304" pitchFamily="18" charset="0"/>
                <a:cs typeface="Times New Roman" panose="02020603050405020304" pitchFamily="18" charset="0"/>
              </a:rPr>
              <a:t>emotion-</a:t>
            </a:r>
            <a:r>
              <a:rPr lang="en-US" sz="2000" spc="70" dirty="0">
                <a:solidFill>
                  <a:srgbClr val="080808"/>
                </a:solidFill>
                <a:latin typeface="Times New Roman" panose="02020603050405020304" pitchFamily="18" charset="0"/>
                <a:cs typeface="Times New Roman" panose="02020603050405020304" pitchFamily="18" charset="0"/>
              </a:rPr>
              <a:t>consistent</a:t>
            </a:r>
            <a:r>
              <a:rPr lang="en-US" sz="2000" spc="175" dirty="0">
                <a:solidFill>
                  <a:srgbClr val="080808"/>
                </a:solidFill>
                <a:latin typeface="Times New Roman" panose="02020603050405020304" pitchFamily="18" charset="0"/>
                <a:cs typeface="Times New Roman" panose="02020603050405020304" pitchFamily="18" charset="0"/>
              </a:rPr>
              <a:t> </a:t>
            </a:r>
            <a:r>
              <a:rPr lang="en-US" sz="2000" dirty="0">
                <a:solidFill>
                  <a:srgbClr val="080808"/>
                </a:solidFill>
                <a:latin typeface="Times New Roman" panose="02020603050405020304" pitchFamily="18" charset="0"/>
                <a:cs typeface="Times New Roman" panose="02020603050405020304" pitchFamily="18" charset="0"/>
              </a:rPr>
              <a:t>pairs</a:t>
            </a:r>
            <a:r>
              <a:rPr lang="en-US" sz="2000" spc="-60" dirty="0">
                <a:solidFill>
                  <a:srgbClr val="080808"/>
                </a:solidFill>
                <a:latin typeface="Times New Roman" panose="02020603050405020304" pitchFamily="18" charset="0"/>
                <a:cs typeface="Times New Roman" panose="02020603050405020304" pitchFamily="18" charset="0"/>
              </a:rPr>
              <a:t> </a:t>
            </a:r>
            <a:r>
              <a:rPr lang="en-US" sz="2000" dirty="0">
                <a:solidFill>
                  <a:srgbClr val="080808"/>
                </a:solidFill>
                <a:latin typeface="Times New Roman" panose="02020603050405020304" pitchFamily="18" charset="0"/>
                <a:cs typeface="Times New Roman" panose="02020603050405020304" pitchFamily="18" charset="0"/>
              </a:rPr>
              <a:t>advance</a:t>
            </a:r>
            <a:r>
              <a:rPr lang="en-US" sz="2000" spc="50" dirty="0">
                <a:solidFill>
                  <a:srgbClr val="080808"/>
                </a:solidFill>
                <a:latin typeface="Times New Roman" panose="02020603050405020304" pitchFamily="18" charset="0"/>
                <a:cs typeface="Times New Roman" panose="02020603050405020304" pitchFamily="18" charset="0"/>
              </a:rPr>
              <a:t> </a:t>
            </a:r>
            <a:r>
              <a:rPr lang="en-US" sz="2000" dirty="0">
                <a:solidFill>
                  <a:srgbClr val="080808"/>
                </a:solidFill>
                <a:latin typeface="Times New Roman" panose="02020603050405020304" pitchFamily="18" charset="0"/>
                <a:cs typeface="Times New Roman" panose="02020603050405020304" pitchFamily="18" charset="0"/>
              </a:rPr>
              <a:t>to</a:t>
            </a:r>
            <a:r>
              <a:rPr lang="en-US" sz="2000" spc="180" dirty="0">
                <a:solidFill>
                  <a:srgbClr val="080808"/>
                </a:solidFill>
                <a:latin typeface="Times New Roman" panose="02020603050405020304" pitchFamily="18" charset="0"/>
                <a:cs typeface="Times New Roman" panose="02020603050405020304" pitchFamily="18" charset="0"/>
              </a:rPr>
              <a:t> </a:t>
            </a:r>
            <a:r>
              <a:rPr lang="en-US" sz="2000" spc="-10" dirty="0">
                <a:solidFill>
                  <a:srgbClr val="080808"/>
                </a:solidFill>
                <a:latin typeface="Times New Roman" panose="02020603050405020304" pitchFamily="18" charset="0"/>
                <a:cs typeface="Times New Roman" panose="02020603050405020304" pitchFamily="18" charset="0"/>
              </a:rPr>
              <a:t>contrastive </a:t>
            </a:r>
            <a:r>
              <a:rPr lang="en-US" sz="2000" spc="45" dirty="0">
                <a:solidFill>
                  <a:srgbClr val="080808"/>
                </a:solidFill>
                <a:latin typeface="Times New Roman" panose="02020603050405020304" pitchFamily="18" charset="0"/>
                <a:cs typeface="Times New Roman" panose="02020603050405020304" pitchFamily="18" charset="0"/>
              </a:rPr>
              <a:t>training.</a:t>
            </a:r>
            <a:endParaRPr lang="en-US" sz="2000" dirty="0">
              <a:solidFill>
                <a:srgbClr val="080808"/>
              </a:solidFill>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D790C15C-A117-7800-7509-C9183C1E144E}"/>
              </a:ext>
            </a:extLst>
          </p:cNvPr>
          <p:cNvSpPr txBox="1"/>
          <p:nvPr/>
        </p:nvSpPr>
        <p:spPr>
          <a:xfrm>
            <a:off x="6994104" y="6395131"/>
            <a:ext cx="6396750" cy="1032655"/>
          </a:xfrm>
          <a:prstGeom prst="rect">
            <a:avLst/>
          </a:prstGeom>
          <a:noFill/>
        </p:spPr>
        <p:txBody>
          <a:bodyPr wrap="square">
            <a:spAutoFit/>
          </a:bodyPr>
          <a:lstStyle/>
          <a:p>
            <a:pPr marL="15240" marR="5080" indent="635" algn="just">
              <a:lnSpc>
                <a:spcPct val="103800"/>
              </a:lnSpc>
            </a:pPr>
            <a:r>
              <a:rPr lang="en-US" sz="2000" spc="55" dirty="0">
                <a:solidFill>
                  <a:srgbClr val="080808"/>
                </a:solidFill>
                <a:latin typeface="Times New Roman" panose="02020603050405020304" pitchFamily="18" charset="0"/>
                <a:cs typeface="Times New Roman" panose="02020603050405020304" pitchFamily="18" charset="0"/>
              </a:rPr>
              <a:t>Produces</a:t>
            </a:r>
            <a:r>
              <a:rPr lang="en-US" sz="2000" spc="40" dirty="0">
                <a:solidFill>
                  <a:srgbClr val="080808"/>
                </a:solidFill>
                <a:latin typeface="Times New Roman" panose="02020603050405020304" pitchFamily="18" charset="0"/>
                <a:cs typeface="Times New Roman" panose="02020603050405020304" pitchFamily="18" charset="0"/>
              </a:rPr>
              <a:t> </a:t>
            </a:r>
            <a:r>
              <a:rPr lang="en-US" sz="2000" b="1" spc="20" dirty="0" err="1">
                <a:solidFill>
                  <a:srgbClr val="080808"/>
                </a:solidFill>
                <a:latin typeface="Times New Roman" panose="02020603050405020304" pitchFamily="18" charset="0"/>
                <a:cs typeface="Times New Roman" panose="02020603050405020304" pitchFamily="18" charset="0"/>
              </a:rPr>
              <a:t>filtered_augmented_data.jsonl</a:t>
            </a:r>
            <a:r>
              <a:rPr lang="en-US" sz="2000" spc="-105" dirty="0">
                <a:solidFill>
                  <a:srgbClr val="080808"/>
                </a:solidFill>
                <a:latin typeface="Times New Roman" panose="02020603050405020304" pitchFamily="18" charset="0"/>
                <a:cs typeface="Times New Roman" panose="02020603050405020304" pitchFamily="18" charset="0"/>
              </a:rPr>
              <a:t> </a:t>
            </a:r>
            <a:r>
              <a:rPr lang="en-US" sz="2000" spc="20" dirty="0">
                <a:solidFill>
                  <a:srgbClr val="080808"/>
                </a:solidFill>
                <a:latin typeface="Times New Roman" panose="02020603050405020304" pitchFamily="18" charset="0"/>
                <a:cs typeface="Times New Roman" panose="02020603050405020304" pitchFamily="18" charset="0"/>
              </a:rPr>
              <a:t>-</a:t>
            </a:r>
            <a:r>
              <a:rPr lang="en-US" sz="2000" spc="335" dirty="0">
                <a:solidFill>
                  <a:srgbClr val="080808"/>
                </a:solidFill>
                <a:latin typeface="Times New Roman" panose="02020603050405020304" pitchFamily="18" charset="0"/>
                <a:cs typeface="Times New Roman" panose="02020603050405020304" pitchFamily="18" charset="0"/>
              </a:rPr>
              <a:t> </a:t>
            </a:r>
            <a:r>
              <a:rPr lang="en-US" sz="2000" spc="55" dirty="0">
                <a:solidFill>
                  <a:srgbClr val="080808"/>
                </a:solidFill>
                <a:latin typeface="Times New Roman" panose="02020603050405020304" pitchFamily="18" charset="0"/>
                <a:cs typeface="Times New Roman" panose="02020603050405020304" pitchFamily="18" charset="0"/>
              </a:rPr>
              <a:t>high-</a:t>
            </a:r>
            <a:r>
              <a:rPr lang="en-US" sz="2000" spc="40" dirty="0">
                <a:solidFill>
                  <a:srgbClr val="080808"/>
                </a:solidFill>
                <a:latin typeface="Times New Roman" panose="02020603050405020304" pitchFamily="18" charset="0"/>
                <a:cs typeface="Times New Roman" panose="02020603050405020304" pitchFamily="18" charset="0"/>
              </a:rPr>
              <a:t>quality, </a:t>
            </a:r>
            <a:r>
              <a:rPr lang="en-US" sz="2000" spc="80" dirty="0">
                <a:solidFill>
                  <a:srgbClr val="080808"/>
                </a:solidFill>
                <a:latin typeface="Times New Roman" panose="02020603050405020304" pitchFamily="18" charset="0"/>
                <a:cs typeface="Times New Roman" panose="02020603050405020304" pitchFamily="18" charset="0"/>
              </a:rPr>
              <a:t>emotion-</a:t>
            </a:r>
            <a:r>
              <a:rPr lang="en-US" sz="2000" spc="75" dirty="0">
                <a:solidFill>
                  <a:srgbClr val="080808"/>
                </a:solidFill>
                <a:latin typeface="Times New Roman" panose="02020603050405020304" pitchFamily="18" charset="0"/>
                <a:cs typeface="Times New Roman" panose="02020603050405020304" pitchFamily="18" charset="0"/>
              </a:rPr>
              <a:t>preserving</a:t>
            </a:r>
            <a:r>
              <a:rPr lang="en-US" sz="2000" dirty="0">
                <a:solidFill>
                  <a:srgbClr val="080808"/>
                </a:solidFill>
                <a:latin typeface="Times New Roman" panose="02020603050405020304" pitchFamily="18" charset="0"/>
                <a:cs typeface="Times New Roman" panose="02020603050405020304" pitchFamily="18" charset="0"/>
              </a:rPr>
              <a:t> </a:t>
            </a:r>
            <a:r>
              <a:rPr lang="en-US" sz="2000" spc="10" dirty="0">
                <a:solidFill>
                  <a:srgbClr val="080808"/>
                </a:solidFill>
                <a:latin typeface="Times New Roman" panose="02020603050405020304" pitchFamily="18" charset="0"/>
                <a:cs typeface="Times New Roman" panose="02020603050405020304" pitchFamily="18" charset="0"/>
              </a:rPr>
              <a:t>contrastive</a:t>
            </a:r>
            <a:r>
              <a:rPr lang="en-US" sz="2000" spc="100" dirty="0">
                <a:solidFill>
                  <a:srgbClr val="080808"/>
                </a:solidFill>
                <a:latin typeface="Times New Roman" panose="02020603050405020304" pitchFamily="18" charset="0"/>
                <a:cs typeface="Times New Roman" panose="02020603050405020304" pitchFamily="18" charset="0"/>
              </a:rPr>
              <a:t> </a:t>
            </a:r>
            <a:r>
              <a:rPr lang="en-US" sz="2000" spc="65" dirty="0">
                <a:solidFill>
                  <a:srgbClr val="080808"/>
                </a:solidFill>
                <a:latin typeface="Times New Roman" panose="02020603050405020304" pitchFamily="18" charset="0"/>
                <a:cs typeface="Times New Roman" panose="02020603050405020304" pitchFamily="18" charset="0"/>
              </a:rPr>
              <a:t>training</a:t>
            </a:r>
            <a:r>
              <a:rPr lang="en-US" sz="2000" spc="70" dirty="0">
                <a:solidFill>
                  <a:srgbClr val="080808"/>
                </a:solidFill>
                <a:latin typeface="Times New Roman" panose="02020603050405020304" pitchFamily="18" charset="0"/>
                <a:cs typeface="Times New Roman" panose="02020603050405020304" pitchFamily="18" charset="0"/>
              </a:rPr>
              <a:t> </a:t>
            </a:r>
            <a:r>
              <a:rPr lang="en-US" sz="2000" spc="10" dirty="0">
                <a:solidFill>
                  <a:srgbClr val="080808"/>
                </a:solidFill>
                <a:latin typeface="Times New Roman" panose="02020603050405020304" pitchFamily="18" charset="0"/>
                <a:cs typeface="Times New Roman" panose="02020603050405020304" pitchFamily="18" charset="0"/>
              </a:rPr>
              <a:t>pairs ready</a:t>
            </a:r>
            <a:r>
              <a:rPr lang="en-US" sz="2000" spc="30" dirty="0">
                <a:solidFill>
                  <a:srgbClr val="080808"/>
                </a:solidFill>
                <a:latin typeface="Times New Roman" panose="02020603050405020304" pitchFamily="18" charset="0"/>
                <a:cs typeface="Times New Roman" panose="02020603050405020304" pitchFamily="18" charset="0"/>
              </a:rPr>
              <a:t> </a:t>
            </a:r>
            <a:r>
              <a:rPr lang="en-US" sz="2000" spc="-25" dirty="0">
                <a:solidFill>
                  <a:srgbClr val="080808"/>
                </a:solidFill>
                <a:latin typeface="Times New Roman" panose="02020603050405020304" pitchFamily="18" charset="0"/>
                <a:cs typeface="Times New Roman" panose="02020603050405020304" pitchFamily="18" charset="0"/>
              </a:rPr>
              <a:t>for </a:t>
            </a:r>
            <a:r>
              <a:rPr lang="en-US" sz="2000" dirty="0">
                <a:solidFill>
                  <a:srgbClr val="080808"/>
                </a:solidFill>
                <a:latin typeface="Times New Roman" panose="02020603050405020304" pitchFamily="18" charset="0"/>
                <a:cs typeface="Times New Roman" panose="02020603050405020304" pitchFamily="18" charset="0"/>
              </a:rPr>
              <a:t>Phase</a:t>
            </a:r>
            <a:r>
              <a:rPr lang="en-US" sz="2000" spc="5" dirty="0">
                <a:solidFill>
                  <a:srgbClr val="080808"/>
                </a:solidFill>
                <a:latin typeface="Times New Roman" panose="02020603050405020304" pitchFamily="18" charset="0"/>
                <a:cs typeface="Times New Roman" panose="02020603050405020304" pitchFamily="18" charset="0"/>
              </a:rPr>
              <a:t> </a:t>
            </a:r>
            <a:r>
              <a:rPr lang="en-US" sz="2000" spc="-35" dirty="0">
                <a:solidFill>
                  <a:srgbClr val="080808"/>
                </a:solidFill>
                <a:latin typeface="Times New Roman" panose="02020603050405020304" pitchFamily="18" charset="0"/>
                <a:cs typeface="Times New Roman" panose="02020603050405020304" pitchFamily="18" charset="0"/>
              </a:rPr>
              <a:t>4.</a:t>
            </a:r>
            <a:endParaRPr lang="en-US" sz="2000" dirty="0">
              <a:solidFill>
                <a:srgbClr val="080808"/>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432206" y="622596"/>
            <a:ext cx="13537387" cy="843821"/>
          </a:xfrm>
          <a:prstGeom prst="rect">
            <a:avLst/>
          </a:prstGeom>
        </p:spPr>
        <p:txBody>
          <a:bodyPr vert="horz" wrap="square" lIns="0" tIns="12700" rIns="0" bIns="0" rtlCol="0">
            <a:spAutoFit/>
          </a:bodyPr>
          <a:lstStyle/>
          <a:p>
            <a:pPr marL="12700">
              <a:spcBef>
                <a:spcPts val="100"/>
              </a:spcBef>
            </a:pPr>
            <a:r>
              <a:rPr sz="5400" dirty="0">
                <a:solidFill>
                  <a:srgbClr val="080808"/>
                </a:solidFill>
                <a:latin typeface="Times New Roman" panose="02020603050405020304" pitchFamily="18" charset="0"/>
                <a:cs typeface="Times New Roman" panose="02020603050405020304" pitchFamily="18" charset="0"/>
              </a:rPr>
              <a:t>Phase</a:t>
            </a:r>
            <a:r>
              <a:rPr sz="5400" spc="15" dirty="0">
                <a:solidFill>
                  <a:srgbClr val="080808"/>
                </a:solidFill>
                <a:latin typeface="Times New Roman" panose="02020603050405020304" pitchFamily="18" charset="0"/>
                <a:cs typeface="Times New Roman" panose="02020603050405020304" pitchFamily="18" charset="0"/>
              </a:rPr>
              <a:t> </a:t>
            </a:r>
            <a:r>
              <a:rPr sz="5400" spc="-50" dirty="0">
                <a:solidFill>
                  <a:srgbClr val="080808"/>
                </a:solidFill>
                <a:latin typeface="Times New Roman" panose="02020603050405020304" pitchFamily="18" charset="0"/>
                <a:cs typeface="Times New Roman" panose="02020603050405020304" pitchFamily="18" charset="0"/>
              </a:rPr>
              <a:t>4</a:t>
            </a:r>
            <a:r>
              <a:rPr lang="en-US" sz="5400" spc="-50" dirty="0">
                <a:solidFill>
                  <a:srgbClr val="080808"/>
                </a:solidFill>
                <a:latin typeface="Times New Roman" panose="02020603050405020304" pitchFamily="18" charset="0"/>
                <a:cs typeface="Times New Roman" panose="02020603050405020304" pitchFamily="18" charset="0"/>
              </a:rPr>
              <a:t>: Contrastive representation learning</a:t>
            </a:r>
          </a:p>
        </p:txBody>
      </p:sp>
      <p:sp>
        <p:nvSpPr>
          <p:cNvPr id="6" name="object 6"/>
          <p:cNvSpPr txBox="1"/>
          <p:nvPr/>
        </p:nvSpPr>
        <p:spPr>
          <a:xfrm>
            <a:off x="588261" y="2488483"/>
            <a:ext cx="426720" cy="521970"/>
          </a:xfrm>
          <a:prstGeom prst="rect">
            <a:avLst/>
          </a:prstGeom>
        </p:spPr>
        <p:txBody>
          <a:bodyPr vert="horz" wrap="square" lIns="0" tIns="13335" rIns="0" bIns="0" rtlCol="0">
            <a:spAutoFit/>
          </a:bodyPr>
          <a:lstStyle/>
          <a:p>
            <a:pPr marL="12700">
              <a:lnSpc>
                <a:spcPct val="100000"/>
              </a:lnSpc>
              <a:spcBef>
                <a:spcPts val="105"/>
              </a:spcBef>
            </a:pPr>
            <a:r>
              <a:rPr lang="en-US" sz="3250" spc="-25" dirty="0">
                <a:solidFill>
                  <a:srgbClr val="080808"/>
                </a:solidFill>
                <a:latin typeface="Times New Roman" panose="02020603050405020304" pitchFamily="18" charset="0"/>
                <a:cs typeface="Times New Roman" panose="02020603050405020304" pitchFamily="18" charset="0"/>
              </a:rPr>
              <a:t>01</a:t>
            </a:r>
            <a:endParaRPr sz="3250" dirty="0">
              <a:solidFill>
                <a:srgbClr val="080808"/>
              </a:solidFill>
              <a:latin typeface="Times New Roman" panose="02020603050405020304" pitchFamily="18" charset="0"/>
              <a:cs typeface="Times New Roman" panose="02020603050405020304" pitchFamily="18" charset="0"/>
            </a:endParaRPr>
          </a:p>
        </p:txBody>
      </p:sp>
      <p:sp>
        <p:nvSpPr>
          <p:cNvPr id="7" name="object 7"/>
          <p:cNvSpPr txBox="1"/>
          <p:nvPr/>
        </p:nvSpPr>
        <p:spPr>
          <a:xfrm>
            <a:off x="1493789" y="2366241"/>
            <a:ext cx="5429885" cy="659765"/>
          </a:xfrm>
          <a:prstGeom prst="rect">
            <a:avLst/>
          </a:prstGeom>
        </p:spPr>
        <p:txBody>
          <a:bodyPr vert="horz" wrap="square" lIns="0" tIns="13970" rIns="0" bIns="0" rtlCol="0">
            <a:spAutoFit/>
          </a:bodyPr>
          <a:lstStyle/>
          <a:p>
            <a:pPr marL="12700">
              <a:lnSpc>
                <a:spcPct val="100000"/>
              </a:lnSpc>
              <a:spcBef>
                <a:spcPts val="110"/>
              </a:spcBef>
            </a:pPr>
            <a:r>
              <a:rPr sz="4150" spc="114" dirty="0">
                <a:solidFill>
                  <a:srgbClr val="080808"/>
                </a:solidFill>
                <a:latin typeface="Times New Roman" panose="02020603050405020304" pitchFamily="18" charset="0"/>
                <a:cs typeface="Times New Roman" panose="02020603050405020304" pitchFamily="18" charset="0"/>
              </a:rPr>
              <a:t>Contrastive</a:t>
            </a:r>
            <a:r>
              <a:rPr sz="4150" spc="275" dirty="0">
                <a:solidFill>
                  <a:srgbClr val="080808"/>
                </a:solidFill>
                <a:latin typeface="Times New Roman" panose="02020603050405020304" pitchFamily="18" charset="0"/>
                <a:cs typeface="Times New Roman" panose="02020603050405020304" pitchFamily="18" charset="0"/>
              </a:rPr>
              <a:t> </a:t>
            </a:r>
            <a:r>
              <a:rPr sz="4150" spc="100" dirty="0">
                <a:solidFill>
                  <a:srgbClr val="080808"/>
                </a:solidFill>
                <a:latin typeface="Times New Roman" panose="02020603050405020304" pitchFamily="18" charset="0"/>
                <a:cs typeface="Times New Roman" panose="02020603050405020304" pitchFamily="18" charset="0"/>
              </a:rPr>
              <a:t>pre-</a:t>
            </a:r>
            <a:r>
              <a:rPr sz="4150" spc="85" dirty="0">
                <a:solidFill>
                  <a:srgbClr val="080808"/>
                </a:solidFill>
                <a:latin typeface="Times New Roman" panose="02020603050405020304" pitchFamily="18" charset="0"/>
                <a:cs typeface="Times New Roman" panose="02020603050405020304" pitchFamily="18" charset="0"/>
              </a:rPr>
              <a:t>training</a:t>
            </a:r>
            <a:endParaRPr sz="4150">
              <a:solidFill>
                <a:srgbClr val="080808"/>
              </a:solidFill>
              <a:latin typeface="Times New Roman" panose="02020603050405020304" pitchFamily="18" charset="0"/>
              <a:cs typeface="Times New Roman" panose="02020603050405020304" pitchFamily="18" charset="0"/>
            </a:endParaRPr>
          </a:p>
        </p:txBody>
      </p:sp>
      <p:sp>
        <p:nvSpPr>
          <p:cNvPr id="8" name="object 8"/>
          <p:cNvSpPr txBox="1"/>
          <p:nvPr/>
        </p:nvSpPr>
        <p:spPr>
          <a:xfrm>
            <a:off x="524126" y="3795171"/>
            <a:ext cx="481330" cy="537210"/>
          </a:xfrm>
          <a:prstGeom prst="rect">
            <a:avLst/>
          </a:prstGeom>
        </p:spPr>
        <p:txBody>
          <a:bodyPr vert="horz" wrap="square" lIns="0" tIns="13335" rIns="0" bIns="0" rtlCol="0">
            <a:spAutoFit/>
          </a:bodyPr>
          <a:lstStyle/>
          <a:p>
            <a:pPr marL="12700">
              <a:lnSpc>
                <a:spcPct val="100000"/>
              </a:lnSpc>
              <a:spcBef>
                <a:spcPts val="105"/>
              </a:spcBef>
            </a:pPr>
            <a:r>
              <a:rPr lang="en-US" sz="3350" spc="90" dirty="0">
                <a:solidFill>
                  <a:srgbClr val="080808"/>
                </a:solidFill>
                <a:latin typeface="Times New Roman" panose="02020603050405020304" pitchFamily="18" charset="0"/>
                <a:cs typeface="Times New Roman" panose="02020603050405020304" pitchFamily="18" charset="0"/>
              </a:rPr>
              <a:t>02</a:t>
            </a:r>
            <a:endParaRPr sz="3350" dirty="0">
              <a:solidFill>
                <a:srgbClr val="080808"/>
              </a:solidFill>
              <a:latin typeface="Times New Roman" panose="02020603050405020304" pitchFamily="18" charset="0"/>
              <a:cs typeface="Times New Roman" panose="02020603050405020304" pitchFamily="18" charset="0"/>
            </a:endParaRPr>
          </a:p>
        </p:txBody>
      </p:sp>
      <p:sp>
        <p:nvSpPr>
          <p:cNvPr id="9" name="object 9"/>
          <p:cNvSpPr txBox="1"/>
          <p:nvPr/>
        </p:nvSpPr>
        <p:spPr>
          <a:xfrm>
            <a:off x="1475826" y="3760163"/>
            <a:ext cx="5464175" cy="659765"/>
          </a:xfrm>
          <a:prstGeom prst="rect">
            <a:avLst/>
          </a:prstGeom>
        </p:spPr>
        <p:txBody>
          <a:bodyPr vert="horz" wrap="square" lIns="0" tIns="13970" rIns="0" bIns="0" rtlCol="0">
            <a:spAutoFit/>
          </a:bodyPr>
          <a:lstStyle/>
          <a:p>
            <a:pPr marL="12700">
              <a:lnSpc>
                <a:spcPct val="100000"/>
              </a:lnSpc>
              <a:spcBef>
                <a:spcPts val="110"/>
              </a:spcBef>
            </a:pPr>
            <a:r>
              <a:rPr sz="4150" spc="55" dirty="0">
                <a:solidFill>
                  <a:srgbClr val="080808"/>
                </a:solidFill>
                <a:latin typeface="Times New Roman" panose="02020603050405020304" pitchFamily="18" charset="0"/>
                <a:cs typeface="Times New Roman" panose="02020603050405020304" pitchFamily="18" charset="0"/>
              </a:rPr>
              <a:t>Supervised</a:t>
            </a:r>
            <a:r>
              <a:rPr sz="4150" spc="175" dirty="0">
                <a:solidFill>
                  <a:srgbClr val="080808"/>
                </a:solidFill>
                <a:latin typeface="Times New Roman" panose="02020603050405020304" pitchFamily="18" charset="0"/>
                <a:cs typeface="Times New Roman" panose="02020603050405020304" pitchFamily="18" charset="0"/>
              </a:rPr>
              <a:t> </a:t>
            </a:r>
            <a:r>
              <a:rPr sz="4150" spc="-10" dirty="0">
                <a:solidFill>
                  <a:srgbClr val="080808"/>
                </a:solidFill>
                <a:latin typeface="Times New Roman" panose="02020603050405020304" pitchFamily="18" charset="0"/>
                <a:cs typeface="Times New Roman" panose="02020603050405020304" pitchFamily="18" charset="0"/>
              </a:rPr>
              <a:t>classification</a:t>
            </a:r>
            <a:endParaRPr sz="4150" dirty="0">
              <a:solidFill>
                <a:srgbClr val="080808"/>
              </a:solidFill>
              <a:latin typeface="Times New Roman" panose="02020603050405020304" pitchFamily="18" charset="0"/>
              <a:cs typeface="Times New Roman" panose="02020603050405020304" pitchFamily="18" charset="0"/>
            </a:endParaRPr>
          </a:p>
        </p:txBody>
      </p:sp>
      <p:sp>
        <p:nvSpPr>
          <p:cNvPr id="10" name="object 10"/>
          <p:cNvSpPr txBox="1"/>
          <p:nvPr/>
        </p:nvSpPr>
        <p:spPr>
          <a:xfrm>
            <a:off x="1488454" y="5154086"/>
            <a:ext cx="4905375" cy="659765"/>
          </a:xfrm>
          <a:prstGeom prst="rect">
            <a:avLst/>
          </a:prstGeom>
        </p:spPr>
        <p:txBody>
          <a:bodyPr vert="horz" wrap="square" lIns="0" tIns="13970" rIns="0" bIns="0" rtlCol="0">
            <a:spAutoFit/>
          </a:bodyPr>
          <a:lstStyle/>
          <a:p>
            <a:pPr marL="12700">
              <a:lnSpc>
                <a:spcPct val="100000"/>
              </a:lnSpc>
              <a:spcBef>
                <a:spcPts val="110"/>
              </a:spcBef>
            </a:pPr>
            <a:r>
              <a:rPr sz="4150" spc="170" dirty="0">
                <a:solidFill>
                  <a:srgbClr val="080808"/>
                </a:solidFill>
                <a:latin typeface="Times New Roman" panose="02020603050405020304" pitchFamily="18" charset="0"/>
                <a:cs typeface="Times New Roman" panose="02020603050405020304" pitchFamily="18" charset="0"/>
              </a:rPr>
              <a:t>Latent</a:t>
            </a:r>
            <a:r>
              <a:rPr sz="4150" spc="5" dirty="0">
                <a:solidFill>
                  <a:srgbClr val="080808"/>
                </a:solidFill>
                <a:latin typeface="Times New Roman" panose="02020603050405020304" pitchFamily="18" charset="0"/>
                <a:cs typeface="Times New Roman" panose="02020603050405020304" pitchFamily="18" charset="0"/>
              </a:rPr>
              <a:t> </a:t>
            </a:r>
            <a:r>
              <a:rPr sz="4150" dirty="0">
                <a:solidFill>
                  <a:srgbClr val="080808"/>
                </a:solidFill>
                <a:latin typeface="Times New Roman" panose="02020603050405020304" pitchFamily="18" charset="0"/>
                <a:cs typeface="Times New Roman" panose="02020603050405020304" pitchFamily="18" charset="0"/>
              </a:rPr>
              <a:t>space</a:t>
            </a:r>
            <a:r>
              <a:rPr sz="4150" spc="-45" dirty="0">
                <a:solidFill>
                  <a:srgbClr val="080808"/>
                </a:solidFill>
                <a:latin typeface="Times New Roman" panose="02020603050405020304" pitchFamily="18" charset="0"/>
                <a:cs typeface="Times New Roman" panose="02020603050405020304" pitchFamily="18" charset="0"/>
              </a:rPr>
              <a:t> </a:t>
            </a:r>
            <a:r>
              <a:rPr sz="4150" spc="-10" dirty="0">
                <a:solidFill>
                  <a:srgbClr val="080808"/>
                </a:solidFill>
                <a:latin typeface="Times New Roman" panose="02020603050405020304" pitchFamily="18" charset="0"/>
                <a:cs typeface="Times New Roman" panose="02020603050405020304" pitchFamily="18" charset="0"/>
              </a:rPr>
              <a:t>objective</a:t>
            </a:r>
            <a:endParaRPr sz="4150">
              <a:solidFill>
                <a:srgbClr val="080808"/>
              </a:solidFill>
              <a:latin typeface="Times New Roman" panose="02020603050405020304" pitchFamily="18" charset="0"/>
              <a:cs typeface="Times New Roman" panose="02020603050405020304" pitchFamily="18" charset="0"/>
            </a:endParaRPr>
          </a:p>
        </p:txBody>
      </p:sp>
      <p:sp>
        <p:nvSpPr>
          <p:cNvPr id="11" name="object 11"/>
          <p:cNvSpPr txBox="1"/>
          <p:nvPr/>
        </p:nvSpPr>
        <p:spPr>
          <a:xfrm>
            <a:off x="1497991" y="6543233"/>
            <a:ext cx="4198620" cy="659765"/>
          </a:xfrm>
          <a:prstGeom prst="rect">
            <a:avLst/>
          </a:prstGeom>
        </p:spPr>
        <p:txBody>
          <a:bodyPr vert="horz" wrap="square" lIns="0" tIns="13970" rIns="0" bIns="0" rtlCol="0">
            <a:spAutoFit/>
          </a:bodyPr>
          <a:lstStyle/>
          <a:p>
            <a:pPr marL="12700">
              <a:lnSpc>
                <a:spcPct val="100000"/>
              </a:lnSpc>
              <a:spcBef>
                <a:spcPts val="110"/>
              </a:spcBef>
            </a:pPr>
            <a:r>
              <a:rPr sz="4150" spc="70" dirty="0">
                <a:solidFill>
                  <a:srgbClr val="080808"/>
                </a:solidFill>
                <a:latin typeface="Times New Roman" panose="02020603050405020304" pitchFamily="18" charset="0"/>
                <a:cs typeface="Times New Roman" panose="02020603050405020304" pitchFamily="18" charset="0"/>
              </a:rPr>
              <a:t>Evaluation</a:t>
            </a:r>
            <a:r>
              <a:rPr sz="4150" spc="270" dirty="0">
                <a:solidFill>
                  <a:srgbClr val="080808"/>
                </a:solidFill>
                <a:latin typeface="Times New Roman" panose="02020603050405020304" pitchFamily="18" charset="0"/>
                <a:cs typeface="Times New Roman" panose="02020603050405020304" pitchFamily="18" charset="0"/>
              </a:rPr>
              <a:t> </a:t>
            </a:r>
            <a:r>
              <a:rPr sz="4150" spc="70" dirty="0">
                <a:solidFill>
                  <a:srgbClr val="080808"/>
                </a:solidFill>
                <a:latin typeface="Times New Roman" panose="02020603050405020304" pitchFamily="18" charset="0"/>
                <a:cs typeface="Times New Roman" panose="02020603050405020304" pitchFamily="18" charset="0"/>
              </a:rPr>
              <a:t>metrics</a:t>
            </a:r>
            <a:endParaRPr sz="4150">
              <a:solidFill>
                <a:srgbClr val="080808"/>
              </a:solidFill>
              <a:latin typeface="Times New Roman" panose="02020603050405020304" pitchFamily="18" charset="0"/>
              <a:cs typeface="Times New Roman" panose="02020603050405020304" pitchFamily="18" charset="0"/>
            </a:endParaRPr>
          </a:p>
        </p:txBody>
      </p:sp>
      <p:sp>
        <p:nvSpPr>
          <p:cNvPr id="12" name="object 12"/>
          <p:cNvSpPr txBox="1"/>
          <p:nvPr/>
        </p:nvSpPr>
        <p:spPr>
          <a:xfrm>
            <a:off x="7734301" y="2464064"/>
            <a:ext cx="5581622" cy="943528"/>
          </a:xfrm>
          <a:prstGeom prst="rect">
            <a:avLst/>
          </a:prstGeom>
        </p:spPr>
        <p:txBody>
          <a:bodyPr vert="horz" wrap="square" lIns="0" tIns="3175" rIns="0" bIns="0" rtlCol="0">
            <a:spAutoFit/>
          </a:bodyPr>
          <a:lstStyle/>
          <a:p>
            <a:pPr marL="12700" marR="5080" indent="1270">
              <a:lnSpc>
                <a:spcPct val="103800"/>
              </a:lnSpc>
              <a:spcBef>
                <a:spcPts val="25"/>
              </a:spcBef>
            </a:pPr>
            <a:r>
              <a:rPr sz="2000" spc="-65" dirty="0">
                <a:solidFill>
                  <a:srgbClr val="080808"/>
                </a:solidFill>
                <a:latin typeface="Times New Roman" panose="02020603050405020304" pitchFamily="18" charset="0"/>
                <a:cs typeface="Times New Roman" panose="02020603050405020304" pitchFamily="18" charset="0"/>
              </a:rPr>
              <a:t>BERT</a:t>
            </a:r>
            <a:r>
              <a:rPr sz="2000" spc="-35" dirty="0">
                <a:solidFill>
                  <a:srgbClr val="080808"/>
                </a:solidFill>
                <a:latin typeface="Times New Roman" panose="02020603050405020304" pitchFamily="18" charset="0"/>
                <a:cs typeface="Times New Roman" panose="02020603050405020304" pitchFamily="18" charset="0"/>
              </a:rPr>
              <a:t> </a:t>
            </a:r>
            <a:r>
              <a:rPr sz="2000" spc="50" dirty="0">
                <a:solidFill>
                  <a:srgbClr val="080808"/>
                </a:solidFill>
                <a:latin typeface="Times New Roman" panose="02020603050405020304" pitchFamily="18" charset="0"/>
                <a:cs typeface="Times New Roman" panose="02020603050405020304" pitchFamily="18" charset="0"/>
              </a:rPr>
              <a:t>encoder</a:t>
            </a:r>
            <a:r>
              <a:rPr sz="2000" spc="75" dirty="0">
                <a:solidFill>
                  <a:srgbClr val="080808"/>
                </a:solidFill>
                <a:latin typeface="Times New Roman" panose="02020603050405020304" pitchFamily="18" charset="0"/>
                <a:cs typeface="Times New Roman" panose="02020603050405020304" pitchFamily="18" charset="0"/>
              </a:rPr>
              <a:t> </a:t>
            </a:r>
            <a:r>
              <a:rPr sz="2000" spc="85" dirty="0">
                <a:solidFill>
                  <a:srgbClr val="080808"/>
                </a:solidFill>
                <a:latin typeface="Times New Roman" panose="02020603050405020304" pitchFamily="18" charset="0"/>
                <a:cs typeface="Times New Roman" panose="02020603050405020304" pitchFamily="18" charset="0"/>
              </a:rPr>
              <a:t>with</a:t>
            </a:r>
            <a:r>
              <a:rPr sz="2000" spc="-50" dirty="0">
                <a:solidFill>
                  <a:srgbClr val="080808"/>
                </a:solidFill>
                <a:latin typeface="Times New Roman" panose="02020603050405020304" pitchFamily="18" charset="0"/>
                <a:cs typeface="Times New Roman" panose="02020603050405020304" pitchFamily="18" charset="0"/>
              </a:rPr>
              <a:t> </a:t>
            </a:r>
            <a:r>
              <a:rPr sz="2000" spc="70" dirty="0">
                <a:solidFill>
                  <a:srgbClr val="080808"/>
                </a:solidFill>
                <a:latin typeface="Times New Roman" panose="02020603050405020304" pitchFamily="18" charset="0"/>
                <a:cs typeface="Times New Roman" panose="02020603050405020304" pitchFamily="18" charset="0"/>
              </a:rPr>
              <a:t>lnfoNCE</a:t>
            </a:r>
            <a:r>
              <a:rPr sz="2000" spc="-225" dirty="0">
                <a:solidFill>
                  <a:srgbClr val="080808"/>
                </a:solidFill>
                <a:latin typeface="Times New Roman" panose="02020603050405020304" pitchFamily="18" charset="0"/>
                <a:cs typeface="Times New Roman" panose="02020603050405020304" pitchFamily="18" charset="0"/>
              </a:rPr>
              <a:t> </a:t>
            </a:r>
            <a:r>
              <a:rPr sz="2000" spc="-10" dirty="0">
                <a:solidFill>
                  <a:srgbClr val="080808"/>
                </a:solidFill>
                <a:latin typeface="Times New Roman" panose="02020603050405020304" pitchFamily="18" charset="0"/>
                <a:cs typeface="Times New Roman" panose="02020603050405020304" pitchFamily="18" charset="0"/>
              </a:rPr>
              <a:t>loss.</a:t>
            </a:r>
            <a:r>
              <a:rPr sz="2000" spc="-110" dirty="0">
                <a:solidFill>
                  <a:srgbClr val="080808"/>
                </a:solidFill>
                <a:latin typeface="Times New Roman" panose="02020603050405020304" pitchFamily="18" charset="0"/>
                <a:cs typeface="Times New Roman" panose="02020603050405020304" pitchFamily="18" charset="0"/>
              </a:rPr>
              <a:t> </a:t>
            </a:r>
            <a:r>
              <a:rPr sz="2000" spc="-10" dirty="0">
                <a:solidFill>
                  <a:srgbClr val="080808"/>
                </a:solidFill>
                <a:latin typeface="Times New Roman" panose="02020603050405020304" pitchFamily="18" charset="0"/>
                <a:cs typeface="Times New Roman" panose="02020603050405020304" pitchFamily="18" charset="0"/>
              </a:rPr>
              <a:t>Pulls </a:t>
            </a:r>
            <a:r>
              <a:rPr sz="2000" spc="85" dirty="0">
                <a:solidFill>
                  <a:srgbClr val="080808"/>
                </a:solidFill>
                <a:latin typeface="Times New Roman" panose="02020603050405020304" pitchFamily="18" charset="0"/>
                <a:cs typeface="Times New Roman" panose="02020603050405020304" pitchFamily="18" charset="0"/>
              </a:rPr>
              <a:t>emotion-</a:t>
            </a:r>
            <a:r>
              <a:rPr sz="2000" spc="80" dirty="0">
                <a:solidFill>
                  <a:srgbClr val="080808"/>
                </a:solidFill>
                <a:latin typeface="Times New Roman" panose="02020603050405020304" pitchFamily="18" charset="0"/>
                <a:cs typeface="Times New Roman" panose="02020603050405020304" pitchFamily="18" charset="0"/>
              </a:rPr>
              <a:t>consistent</a:t>
            </a:r>
            <a:r>
              <a:rPr sz="2000" spc="-155" dirty="0">
                <a:solidFill>
                  <a:srgbClr val="080808"/>
                </a:solidFill>
                <a:latin typeface="Times New Roman" panose="02020603050405020304" pitchFamily="18" charset="0"/>
                <a:cs typeface="Times New Roman" panose="02020603050405020304" pitchFamily="18" charset="0"/>
              </a:rPr>
              <a:t> </a:t>
            </a:r>
            <a:r>
              <a:rPr sz="2000" spc="60" dirty="0">
                <a:solidFill>
                  <a:srgbClr val="080808"/>
                </a:solidFill>
                <a:latin typeface="Times New Roman" panose="02020603050405020304" pitchFamily="18" charset="0"/>
                <a:cs typeface="Times New Roman" panose="02020603050405020304" pitchFamily="18" charset="0"/>
              </a:rPr>
              <a:t>augmentations</a:t>
            </a:r>
            <a:r>
              <a:rPr sz="2000" spc="15" dirty="0">
                <a:solidFill>
                  <a:srgbClr val="080808"/>
                </a:solidFill>
                <a:latin typeface="Times New Roman" panose="02020603050405020304" pitchFamily="18" charset="0"/>
                <a:cs typeface="Times New Roman" panose="02020603050405020304" pitchFamily="18" charset="0"/>
              </a:rPr>
              <a:t> </a:t>
            </a:r>
            <a:r>
              <a:rPr sz="2000" spc="-10" dirty="0">
                <a:solidFill>
                  <a:srgbClr val="080808"/>
                </a:solidFill>
                <a:latin typeface="Times New Roman" panose="02020603050405020304" pitchFamily="18" charset="0"/>
                <a:cs typeface="Times New Roman" panose="02020603050405020304" pitchFamily="18" charset="0"/>
              </a:rPr>
              <a:t>closer; </a:t>
            </a:r>
            <a:r>
              <a:rPr sz="2000" dirty="0">
                <a:solidFill>
                  <a:srgbClr val="080808"/>
                </a:solidFill>
                <a:latin typeface="Times New Roman" panose="02020603050405020304" pitchFamily="18" charset="0"/>
                <a:cs typeface="Times New Roman" panose="02020603050405020304" pitchFamily="18" charset="0"/>
              </a:rPr>
              <a:t>pushes</a:t>
            </a:r>
            <a:r>
              <a:rPr sz="2000" spc="95" dirty="0">
                <a:solidFill>
                  <a:srgbClr val="080808"/>
                </a:solidFill>
                <a:latin typeface="Times New Roman" panose="02020603050405020304" pitchFamily="18" charset="0"/>
                <a:cs typeface="Times New Roman" panose="02020603050405020304" pitchFamily="18" charset="0"/>
              </a:rPr>
              <a:t> </a:t>
            </a:r>
            <a:r>
              <a:rPr sz="2000" spc="50" dirty="0">
                <a:solidFill>
                  <a:srgbClr val="080808"/>
                </a:solidFill>
                <a:latin typeface="Times New Roman" panose="02020603050405020304" pitchFamily="18" charset="0"/>
                <a:cs typeface="Times New Roman" panose="02020603050405020304" pitchFamily="18" charset="0"/>
              </a:rPr>
              <a:t>unrelated</a:t>
            </a:r>
            <a:r>
              <a:rPr sz="2000" spc="145" dirty="0">
                <a:solidFill>
                  <a:srgbClr val="080808"/>
                </a:solidFill>
                <a:latin typeface="Times New Roman" panose="02020603050405020304" pitchFamily="18" charset="0"/>
                <a:cs typeface="Times New Roman" panose="02020603050405020304" pitchFamily="18" charset="0"/>
              </a:rPr>
              <a:t> </a:t>
            </a:r>
            <a:r>
              <a:rPr sz="2000" dirty="0">
                <a:solidFill>
                  <a:srgbClr val="080808"/>
                </a:solidFill>
                <a:latin typeface="Times New Roman" panose="02020603050405020304" pitchFamily="18" charset="0"/>
                <a:cs typeface="Times New Roman" panose="02020603050405020304" pitchFamily="18" charset="0"/>
              </a:rPr>
              <a:t>samples</a:t>
            </a:r>
            <a:r>
              <a:rPr sz="2000" spc="80" dirty="0">
                <a:solidFill>
                  <a:srgbClr val="080808"/>
                </a:solidFill>
                <a:latin typeface="Times New Roman" panose="02020603050405020304" pitchFamily="18" charset="0"/>
                <a:cs typeface="Times New Roman" panose="02020603050405020304" pitchFamily="18" charset="0"/>
              </a:rPr>
              <a:t> </a:t>
            </a:r>
            <a:r>
              <a:rPr sz="2000" spc="-10" dirty="0">
                <a:solidFill>
                  <a:srgbClr val="080808"/>
                </a:solidFill>
                <a:latin typeface="Times New Roman" panose="02020603050405020304" pitchFamily="18" charset="0"/>
                <a:cs typeface="Times New Roman" panose="02020603050405020304" pitchFamily="18" charset="0"/>
              </a:rPr>
              <a:t>apart.</a:t>
            </a:r>
            <a:endParaRPr sz="2000" dirty="0">
              <a:solidFill>
                <a:srgbClr val="080808"/>
              </a:solidFill>
              <a:latin typeface="Times New Roman" panose="02020603050405020304" pitchFamily="18" charset="0"/>
              <a:cs typeface="Times New Roman" panose="02020603050405020304" pitchFamily="18" charset="0"/>
            </a:endParaRPr>
          </a:p>
        </p:txBody>
      </p:sp>
      <p:sp>
        <p:nvSpPr>
          <p:cNvPr id="13" name="object 13"/>
          <p:cNvSpPr txBox="1"/>
          <p:nvPr/>
        </p:nvSpPr>
        <p:spPr>
          <a:xfrm>
            <a:off x="7734301" y="3795171"/>
            <a:ext cx="5603876" cy="943528"/>
          </a:xfrm>
          <a:prstGeom prst="rect">
            <a:avLst/>
          </a:prstGeom>
        </p:spPr>
        <p:txBody>
          <a:bodyPr vert="horz" wrap="square" lIns="0" tIns="3175" rIns="0" bIns="0" rtlCol="0">
            <a:spAutoFit/>
          </a:bodyPr>
          <a:lstStyle/>
          <a:p>
            <a:pPr marL="12700" marR="5080" indent="1270">
              <a:lnSpc>
                <a:spcPct val="103800"/>
              </a:lnSpc>
              <a:spcBef>
                <a:spcPts val="25"/>
              </a:spcBef>
            </a:pPr>
            <a:r>
              <a:rPr sz="2000" spc="55" dirty="0">
                <a:solidFill>
                  <a:srgbClr val="080808"/>
                </a:solidFill>
                <a:latin typeface="Times New Roman" panose="02020603050405020304" pitchFamily="18" charset="0"/>
                <a:cs typeface="Times New Roman" panose="02020603050405020304" pitchFamily="18" charset="0"/>
              </a:rPr>
              <a:t>Encoder</a:t>
            </a:r>
            <a:r>
              <a:rPr sz="2000" spc="-25" dirty="0">
                <a:solidFill>
                  <a:srgbClr val="080808"/>
                </a:solidFill>
                <a:latin typeface="Times New Roman" panose="02020603050405020304" pitchFamily="18" charset="0"/>
                <a:cs typeface="Times New Roman" panose="02020603050405020304" pitchFamily="18" charset="0"/>
              </a:rPr>
              <a:t> </a:t>
            </a:r>
            <a:r>
              <a:rPr sz="2000" spc="50" dirty="0">
                <a:solidFill>
                  <a:srgbClr val="080808"/>
                </a:solidFill>
                <a:latin typeface="Times New Roman" panose="02020603050405020304" pitchFamily="18" charset="0"/>
                <a:cs typeface="Times New Roman" panose="02020603050405020304" pitchFamily="18" charset="0"/>
              </a:rPr>
              <a:t>frozen</a:t>
            </a:r>
            <a:r>
              <a:rPr sz="2000" spc="-85" dirty="0">
                <a:solidFill>
                  <a:srgbClr val="080808"/>
                </a:solidFill>
                <a:latin typeface="Times New Roman" panose="02020603050405020304" pitchFamily="18" charset="0"/>
                <a:cs typeface="Times New Roman" panose="02020603050405020304" pitchFamily="18" charset="0"/>
              </a:rPr>
              <a:t> </a:t>
            </a:r>
            <a:r>
              <a:rPr sz="2000" spc="70" dirty="0">
                <a:solidFill>
                  <a:srgbClr val="080808"/>
                </a:solidFill>
                <a:latin typeface="Times New Roman" panose="02020603050405020304" pitchFamily="18" charset="0"/>
                <a:cs typeface="Times New Roman" panose="02020603050405020304" pitchFamily="18" charset="0"/>
              </a:rPr>
              <a:t>post</a:t>
            </a:r>
            <a:r>
              <a:rPr sz="2000" spc="-55" dirty="0">
                <a:solidFill>
                  <a:srgbClr val="080808"/>
                </a:solidFill>
                <a:latin typeface="Times New Roman" panose="02020603050405020304" pitchFamily="18" charset="0"/>
                <a:cs typeface="Times New Roman" panose="02020603050405020304" pitchFamily="18" charset="0"/>
              </a:rPr>
              <a:t> </a:t>
            </a:r>
            <a:r>
              <a:rPr sz="2000" spc="65" dirty="0">
                <a:solidFill>
                  <a:srgbClr val="080808"/>
                </a:solidFill>
                <a:latin typeface="Times New Roman" panose="02020603050405020304" pitchFamily="18" charset="0"/>
                <a:cs typeface="Times New Roman" panose="02020603050405020304" pitchFamily="18" charset="0"/>
              </a:rPr>
              <a:t>pre-</a:t>
            </a:r>
            <a:r>
              <a:rPr sz="2000" spc="55" dirty="0">
                <a:solidFill>
                  <a:srgbClr val="080808"/>
                </a:solidFill>
                <a:latin typeface="Times New Roman" panose="02020603050405020304" pitchFamily="18" charset="0"/>
                <a:cs typeface="Times New Roman" panose="02020603050405020304" pitchFamily="18" charset="0"/>
              </a:rPr>
              <a:t>training.</a:t>
            </a:r>
            <a:r>
              <a:rPr sz="2000" spc="-55" dirty="0">
                <a:solidFill>
                  <a:srgbClr val="080808"/>
                </a:solidFill>
                <a:latin typeface="Times New Roman" panose="02020603050405020304" pitchFamily="18" charset="0"/>
                <a:cs typeface="Times New Roman" panose="02020603050405020304" pitchFamily="18" charset="0"/>
              </a:rPr>
              <a:t> </a:t>
            </a:r>
            <a:r>
              <a:rPr sz="2000" spc="-10" dirty="0">
                <a:solidFill>
                  <a:srgbClr val="080808"/>
                </a:solidFill>
                <a:latin typeface="Times New Roman" panose="02020603050405020304" pitchFamily="18" charset="0"/>
                <a:cs typeface="Times New Roman" panose="02020603050405020304" pitchFamily="18" charset="0"/>
              </a:rPr>
              <a:t>Classifier </a:t>
            </a:r>
            <a:r>
              <a:rPr sz="2000" dirty="0">
                <a:solidFill>
                  <a:srgbClr val="080808"/>
                </a:solidFill>
                <a:latin typeface="Times New Roman" panose="02020603050405020304" pitchFamily="18" charset="0"/>
                <a:cs typeface="Times New Roman" panose="02020603050405020304" pitchFamily="18" charset="0"/>
              </a:rPr>
              <a:t>head</a:t>
            </a:r>
            <a:r>
              <a:rPr sz="2000" spc="-35" dirty="0">
                <a:solidFill>
                  <a:srgbClr val="080808"/>
                </a:solidFill>
                <a:latin typeface="Times New Roman" panose="02020603050405020304" pitchFamily="18" charset="0"/>
                <a:cs typeface="Times New Roman" panose="02020603050405020304" pitchFamily="18" charset="0"/>
              </a:rPr>
              <a:t> </a:t>
            </a:r>
            <a:r>
              <a:rPr sz="2000" spc="55" dirty="0">
                <a:solidFill>
                  <a:srgbClr val="080808"/>
                </a:solidFill>
                <a:latin typeface="Times New Roman" panose="02020603050405020304" pitchFamily="18" charset="0"/>
                <a:cs typeface="Times New Roman" panose="02020603050405020304" pitchFamily="18" charset="0"/>
              </a:rPr>
              <a:t>trained</a:t>
            </a:r>
            <a:r>
              <a:rPr sz="2000" spc="25" dirty="0">
                <a:solidFill>
                  <a:srgbClr val="080808"/>
                </a:solidFill>
                <a:latin typeface="Times New Roman" panose="02020603050405020304" pitchFamily="18" charset="0"/>
                <a:cs typeface="Times New Roman" panose="02020603050405020304" pitchFamily="18" charset="0"/>
              </a:rPr>
              <a:t> </a:t>
            </a:r>
            <a:r>
              <a:rPr sz="2000" dirty="0">
                <a:solidFill>
                  <a:srgbClr val="080808"/>
                </a:solidFill>
                <a:latin typeface="Times New Roman" panose="02020603050405020304" pitchFamily="18" charset="0"/>
                <a:cs typeface="Times New Roman" panose="02020603050405020304" pitchFamily="18" charset="0"/>
              </a:rPr>
              <a:t>over</a:t>
            </a:r>
            <a:r>
              <a:rPr sz="2000" spc="30" dirty="0">
                <a:solidFill>
                  <a:srgbClr val="080808"/>
                </a:solidFill>
                <a:latin typeface="Times New Roman" panose="02020603050405020304" pitchFamily="18" charset="0"/>
                <a:cs typeface="Times New Roman" panose="02020603050405020304" pitchFamily="18" charset="0"/>
              </a:rPr>
              <a:t> </a:t>
            </a:r>
            <a:r>
              <a:rPr sz="2000" spc="65" dirty="0">
                <a:solidFill>
                  <a:srgbClr val="080808"/>
                </a:solidFill>
                <a:latin typeface="Times New Roman" panose="02020603050405020304" pitchFamily="18" charset="0"/>
                <a:cs typeface="Times New Roman" panose="02020603050405020304" pitchFamily="18" charset="0"/>
              </a:rPr>
              <a:t>four</a:t>
            </a:r>
            <a:r>
              <a:rPr sz="2000" spc="35" dirty="0">
                <a:solidFill>
                  <a:srgbClr val="080808"/>
                </a:solidFill>
                <a:latin typeface="Times New Roman" panose="02020603050405020304" pitchFamily="18" charset="0"/>
                <a:cs typeface="Times New Roman" panose="02020603050405020304" pitchFamily="18" charset="0"/>
              </a:rPr>
              <a:t> </a:t>
            </a:r>
            <a:r>
              <a:rPr sz="2000" dirty="0">
                <a:solidFill>
                  <a:srgbClr val="080808"/>
                </a:solidFill>
                <a:latin typeface="Times New Roman" panose="02020603050405020304" pitchFamily="18" charset="0"/>
                <a:cs typeface="Times New Roman" panose="02020603050405020304" pitchFamily="18" charset="0"/>
              </a:rPr>
              <a:t>labels:</a:t>
            </a:r>
            <a:r>
              <a:rPr sz="2000" spc="-65" dirty="0">
                <a:solidFill>
                  <a:srgbClr val="080808"/>
                </a:solidFill>
                <a:latin typeface="Times New Roman" panose="02020603050405020304" pitchFamily="18" charset="0"/>
                <a:cs typeface="Times New Roman" panose="02020603050405020304" pitchFamily="18" charset="0"/>
              </a:rPr>
              <a:t> </a:t>
            </a:r>
            <a:r>
              <a:rPr sz="2000" spc="70" dirty="0">
                <a:solidFill>
                  <a:srgbClr val="080808"/>
                </a:solidFill>
                <a:latin typeface="Times New Roman" panose="02020603050405020304" pitchFamily="18" charset="0"/>
                <a:cs typeface="Times New Roman" panose="02020603050405020304" pitchFamily="18" charset="0"/>
              </a:rPr>
              <a:t>true,</a:t>
            </a:r>
            <a:r>
              <a:rPr sz="2000" spc="-180" dirty="0">
                <a:solidFill>
                  <a:srgbClr val="080808"/>
                </a:solidFill>
                <a:latin typeface="Times New Roman" panose="02020603050405020304" pitchFamily="18" charset="0"/>
                <a:cs typeface="Times New Roman" panose="02020603050405020304" pitchFamily="18" charset="0"/>
              </a:rPr>
              <a:t> </a:t>
            </a:r>
            <a:r>
              <a:rPr sz="2000" spc="-10" dirty="0">
                <a:solidFill>
                  <a:srgbClr val="080808"/>
                </a:solidFill>
                <a:latin typeface="Times New Roman" panose="02020603050405020304" pitchFamily="18" charset="0"/>
                <a:cs typeface="Times New Roman" panose="02020603050405020304" pitchFamily="18" charset="0"/>
              </a:rPr>
              <a:t>false, </a:t>
            </a:r>
            <a:r>
              <a:rPr sz="2000" spc="10" dirty="0">
                <a:solidFill>
                  <a:srgbClr val="080808"/>
                </a:solidFill>
                <a:latin typeface="Times New Roman" panose="02020603050405020304" pitchFamily="18" charset="0"/>
                <a:cs typeface="Times New Roman" panose="02020603050405020304" pitchFamily="18" charset="0"/>
              </a:rPr>
              <a:t>unverified,</a:t>
            </a:r>
            <a:r>
              <a:rPr sz="2000" spc="360" dirty="0">
                <a:solidFill>
                  <a:srgbClr val="080808"/>
                </a:solidFill>
                <a:latin typeface="Times New Roman" panose="02020603050405020304" pitchFamily="18" charset="0"/>
                <a:cs typeface="Times New Roman" panose="02020603050405020304" pitchFamily="18" charset="0"/>
              </a:rPr>
              <a:t> </a:t>
            </a:r>
            <a:r>
              <a:rPr sz="2000" spc="65" dirty="0">
                <a:solidFill>
                  <a:srgbClr val="080808"/>
                </a:solidFill>
                <a:latin typeface="Times New Roman" panose="02020603050405020304" pitchFamily="18" charset="0"/>
                <a:cs typeface="Times New Roman" panose="02020603050405020304" pitchFamily="18" charset="0"/>
              </a:rPr>
              <a:t>non-</a:t>
            </a:r>
            <a:r>
              <a:rPr sz="2000" spc="50" dirty="0">
                <a:solidFill>
                  <a:srgbClr val="080808"/>
                </a:solidFill>
                <a:latin typeface="Times New Roman" panose="02020603050405020304" pitchFamily="18" charset="0"/>
                <a:cs typeface="Times New Roman" panose="02020603050405020304" pitchFamily="18" charset="0"/>
              </a:rPr>
              <a:t>rumor.</a:t>
            </a:r>
            <a:endParaRPr sz="2000" dirty="0">
              <a:solidFill>
                <a:srgbClr val="080808"/>
              </a:solidFill>
              <a:latin typeface="Times New Roman" panose="02020603050405020304" pitchFamily="18" charset="0"/>
              <a:cs typeface="Times New Roman" panose="02020603050405020304" pitchFamily="18" charset="0"/>
            </a:endParaRPr>
          </a:p>
        </p:txBody>
      </p:sp>
      <p:sp>
        <p:nvSpPr>
          <p:cNvPr id="14" name="object 14"/>
          <p:cNvSpPr txBox="1"/>
          <p:nvPr/>
        </p:nvSpPr>
        <p:spPr>
          <a:xfrm>
            <a:off x="7734302" y="5208618"/>
            <a:ext cx="5674868" cy="943528"/>
          </a:xfrm>
          <a:prstGeom prst="rect">
            <a:avLst/>
          </a:prstGeom>
        </p:spPr>
        <p:txBody>
          <a:bodyPr vert="horz" wrap="square" lIns="0" tIns="3175" rIns="0" bIns="0" rtlCol="0">
            <a:spAutoFit/>
          </a:bodyPr>
          <a:lstStyle/>
          <a:p>
            <a:pPr marL="13970" marR="5080" indent="-1905">
              <a:lnSpc>
                <a:spcPct val="103800"/>
              </a:lnSpc>
              <a:spcBef>
                <a:spcPts val="25"/>
              </a:spcBef>
            </a:pPr>
            <a:r>
              <a:rPr sz="2000" dirty="0">
                <a:solidFill>
                  <a:srgbClr val="080808"/>
                </a:solidFill>
                <a:latin typeface="Times New Roman" panose="02020603050405020304" pitchFamily="18" charset="0"/>
                <a:cs typeface="Times New Roman" panose="02020603050405020304" pitchFamily="18" charset="0"/>
              </a:rPr>
              <a:t>Semantically</a:t>
            </a:r>
            <a:r>
              <a:rPr sz="2000" spc="285" dirty="0">
                <a:solidFill>
                  <a:srgbClr val="080808"/>
                </a:solidFill>
                <a:latin typeface="Times New Roman" panose="02020603050405020304" pitchFamily="18" charset="0"/>
                <a:cs typeface="Times New Roman" panose="02020603050405020304" pitchFamily="18" charset="0"/>
              </a:rPr>
              <a:t> </a:t>
            </a:r>
            <a:r>
              <a:rPr sz="2000" spc="60" dirty="0">
                <a:solidFill>
                  <a:srgbClr val="080808"/>
                </a:solidFill>
                <a:latin typeface="Times New Roman" panose="02020603050405020304" pitchFamily="18" charset="0"/>
                <a:cs typeface="Times New Roman" panose="02020603050405020304" pitchFamily="18" charset="0"/>
              </a:rPr>
              <a:t>and</a:t>
            </a:r>
            <a:r>
              <a:rPr sz="2000" spc="-25" dirty="0">
                <a:solidFill>
                  <a:srgbClr val="080808"/>
                </a:solidFill>
                <a:latin typeface="Times New Roman" panose="02020603050405020304" pitchFamily="18" charset="0"/>
                <a:cs typeface="Times New Roman" panose="02020603050405020304" pitchFamily="18" charset="0"/>
              </a:rPr>
              <a:t> </a:t>
            </a:r>
            <a:r>
              <a:rPr sz="2000" spc="60" dirty="0">
                <a:solidFill>
                  <a:srgbClr val="080808"/>
                </a:solidFill>
                <a:latin typeface="Times New Roman" panose="02020603050405020304" pitchFamily="18" charset="0"/>
                <a:cs typeface="Times New Roman" panose="02020603050405020304" pitchFamily="18" charset="0"/>
              </a:rPr>
              <a:t>emotionally</a:t>
            </a:r>
            <a:r>
              <a:rPr sz="2000" spc="265" dirty="0">
                <a:solidFill>
                  <a:srgbClr val="080808"/>
                </a:solidFill>
                <a:latin typeface="Times New Roman" panose="02020603050405020304" pitchFamily="18" charset="0"/>
                <a:cs typeface="Times New Roman" panose="02020603050405020304" pitchFamily="18" charset="0"/>
              </a:rPr>
              <a:t> </a:t>
            </a:r>
            <a:r>
              <a:rPr sz="2000" dirty="0">
                <a:solidFill>
                  <a:srgbClr val="080808"/>
                </a:solidFill>
                <a:latin typeface="Times New Roman" panose="02020603050405020304" pitchFamily="18" charset="0"/>
                <a:cs typeface="Times New Roman" panose="02020603050405020304" pitchFamily="18" charset="0"/>
              </a:rPr>
              <a:t>similar</a:t>
            </a:r>
            <a:r>
              <a:rPr sz="2000" spc="190" dirty="0">
                <a:solidFill>
                  <a:srgbClr val="080808"/>
                </a:solidFill>
                <a:latin typeface="Times New Roman" panose="02020603050405020304" pitchFamily="18" charset="0"/>
                <a:cs typeface="Times New Roman" panose="02020603050405020304" pitchFamily="18" charset="0"/>
              </a:rPr>
              <a:t> </a:t>
            </a:r>
            <a:r>
              <a:rPr sz="2000" spc="-10" dirty="0">
                <a:solidFill>
                  <a:srgbClr val="080808"/>
                </a:solidFill>
                <a:latin typeface="Times New Roman" panose="02020603050405020304" pitchFamily="18" charset="0"/>
                <a:cs typeface="Times New Roman" panose="02020603050405020304" pitchFamily="18" charset="0"/>
              </a:rPr>
              <a:t>pairs </a:t>
            </a:r>
            <a:r>
              <a:rPr sz="2000" spc="10" dirty="0">
                <a:solidFill>
                  <a:srgbClr val="080808"/>
                </a:solidFill>
                <a:latin typeface="Times New Roman" panose="02020603050405020304" pitchFamily="18" charset="0"/>
                <a:cs typeface="Times New Roman" panose="02020603050405020304" pitchFamily="18" charset="0"/>
              </a:rPr>
              <a:t>cluster</a:t>
            </a:r>
            <a:r>
              <a:rPr sz="2000" spc="235" dirty="0">
                <a:solidFill>
                  <a:srgbClr val="080808"/>
                </a:solidFill>
                <a:latin typeface="Times New Roman" panose="02020603050405020304" pitchFamily="18" charset="0"/>
                <a:cs typeface="Times New Roman" panose="02020603050405020304" pitchFamily="18" charset="0"/>
              </a:rPr>
              <a:t> </a:t>
            </a:r>
            <a:r>
              <a:rPr sz="2000" spc="10" dirty="0">
                <a:solidFill>
                  <a:srgbClr val="080808"/>
                </a:solidFill>
                <a:latin typeface="Times New Roman" panose="02020603050405020304" pitchFamily="18" charset="0"/>
                <a:cs typeface="Times New Roman" panose="02020603050405020304" pitchFamily="18" charset="0"/>
              </a:rPr>
              <a:t>together.</a:t>
            </a:r>
            <a:r>
              <a:rPr sz="2000" spc="155" dirty="0">
                <a:solidFill>
                  <a:srgbClr val="080808"/>
                </a:solidFill>
                <a:latin typeface="Times New Roman" panose="02020603050405020304" pitchFamily="18" charset="0"/>
                <a:cs typeface="Times New Roman" panose="02020603050405020304" pitchFamily="18" charset="0"/>
              </a:rPr>
              <a:t> </a:t>
            </a:r>
            <a:r>
              <a:rPr sz="2000" spc="10" dirty="0">
                <a:solidFill>
                  <a:srgbClr val="080808"/>
                </a:solidFill>
                <a:latin typeface="Times New Roman" panose="02020603050405020304" pitchFamily="18" charset="0"/>
                <a:cs typeface="Times New Roman" panose="02020603050405020304" pitchFamily="18" charset="0"/>
              </a:rPr>
              <a:t>Dissimilar</a:t>
            </a:r>
            <a:r>
              <a:rPr sz="2000" spc="305" dirty="0">
                <a:solidFill>
                  <a:srgbClr val="080808"/>
                </a:solidFill>
                <a:latin typeface="Times New Roman" panose="02020603050405020304" pitchFamily="18" charset="0"/>
                <a:cs typeface="Times New Roman" panose="02020603050405020304" pitchFamily="18" charset="0"/>
              </a:rPr>
              <a:t> </a:t>
            </a:r>
            <a:r>
              <a:rPr sz="2000" spc="10" dirty="0">
                <a:solidFill>
                  <a:srgbClr val="080808"/>
                </a:solidFill>
                <a:latin typeface="Times New Roman" panose="02020603050405020304" pitchFamily="18" charset="0"/>
                <a:cs typeface="Times New Roman" panose="02020603050405020304" pitchFamily="18" charset="0"/>
              </a:rPr>
              <a:t>pairs</a:t>
            </a:r>
            <a:r>
              <a:rPr sz="2000" spc="25" dirty="0">
                <a:solidFill>
                  <a:srgbClr val="080808"/>
                </a:solidFill>
                <a:latin typeface="Times New Roman" panose="02020603050405020304" pitchFamily="18" charset="0"/>
                <a:cs typeface="Times New Roman" panose="02020603050405020304" pitchFamily="18" charset="0"/>
              </a:rPr>
              <a:t> </a:t>
            </a:r>
            <a:r>
              <a:rPr sz="2000" spc="10" dirty="0">
                <a:solidFill>
                  <a:srgbClr val="080808"/>
                </a:solidFill>
                <a:latin typeface="Times New Roman" panose="02020603050405020304" pitchFamily="18" charset="0"/>
                <a:cs typeface="Times New Roman" panose="02020603050405020304" pitchFamily="18" charset="0"/>
              </a:rPr>
              <a:t>are</a:t>
            </a:r>
            <a:r>
              <a:rPr sz="2000" dirty="0">
                <a:solidFill>
                  <a:srgbClr val="080808"/>
                </a:solidFill>
                <a:latin typeface="Times New Roman" panose="02020603050405020304" pitchFamily="18" charset="0"/>
                <a:cs typeface="Times New Roman" panose="02020603050405020304" pitchFamily="18" charset="0"/>
              </a:rPr>
              <a:t> </a:t>
            </a:r>
            <a:r>
              <a:rPr sz="2000" spc="-10" dirty="0">
                <a:solidFill>
                  <a:srgbClr val="080808"/>
                </a:solidFill>
                <a:latin typeface="Times New Roman" panose="02020603050405020304" pitchFamily="18" charset="0"/>
                <a:cs typeface="Times New Roman" panose="02020603050405020304" pitchFamily="18" charset="0"/>
              </a:rPr>
              <a:t>pushed </a:t>
            </a:r>
            <a:r>
              <a:rPr sz="2000" spc="60" dirty="0">
                <a:solidFill>
                  <a:srgbClr val="080808"/>
                </a:solidFill>
                <a:latin typeface="Times New Roman" panose="02020603050405020304" pitchFamily="18" charset="0"/>
                <a:cs typeface="Times New Roman" panose="02020603050405020304" pitchFamily="18" charset="0"/>
              </a:rPr>
              <a:t>apart</a:t>
            </a:r>
            <a:r>
              <a:rPr sz="2000" spc="-75" dirty="0">
                <a:solidFill>
                  <a:srgbClr val="080808"/>
                </a:solidFill>
                <a:latin typeface="Times New Roman" panose="02020603050405020304" pitchFamily="18" charset="0"/>
                <a:cs typeface="Times New Roman" panose="02020603050405020304" pitchFamily="18" charset="0"/>
              </a:rPr>
              <a:t> </a:t>
            </a:r>
            <a:r>
              <a:rPr sz="2000" spc="55" dirty="0">
                <a:solidFill>
                  <a:srgbClr val="080808"/>
                </a:solidFill>
                <a:latin typeface="Times New Roman" panose="02020603050405020304" pitchFamily="18" charset="0"/>
                <a:cs typeface="Times New Roman" panose="02020603050405020304" pitchFamily="18" charset="0"/>
              </a:rPr>
              <a:t>in</a:t>
            </a:r>
            <a:r>
              <a:rPr sz="2000" spc="-114" dirty="0">
                <a:solidFill>
                  <a:srgbClr val="080808"/>
                </a:solidFill>
                <a:latin typeface="Times New Roman" panose="02020603050405020304" pitchFamily="18" charset="0"/>
                <a:cs typeface="Times New Roman" panose="02020603050405020304" pitchFamily="18" charset="0"/>
              </a:rPr>
              <a:t> </a:t>
            </a:r>
            <a:r>
              <a:rPr sz="2000" spc="60" dirty="0">
                <a:solidFill>
                  <a:srgbClr val="080808"/>
                </a:solidFill>
                <a:latin typeface="Times New Roman" panose="02020603050405020304" pitchFamily="18" charset="0"/>
                <a:cs typeface="Times New Roman" panose="02020603050405020304" pitchFamily="18" charset="0"/>
              </a:rPr>
              <a:t>the</a:t>
            </a:r>
            <a:r>
              <a:rPr sz="2000" spc="20" dirty="0">
                <a:solidFill>
                  <a:srgbClr val="080808"/>
                </a:solidFill>
                <a:latin typeface="Times New Roman" panose="02020603050405020304" pitchFamily="18" charset="0"/>
                <a:cs typeface="Times New Roman" panose="02020603050405020304" pitchFamily="18" charset="0"/>
              </a:rPr>
              <a:t> </a:t>
            </a:r>
            <a:r>
              <a:rPr sz="2000" spc="70" dirty="0">
                <a:solidFill>
                  <a:srgbClr val="080808"/>
                </a:solidFill>
                <a:latin typeface="Times New Roman" panose="02020603050405020304" pitchFamily="18" charset="0"/>
                <a:cs typeface="Times New Roman" panose="02020603050405020304" pitchFamily="18" charset="0"/>
              </a:rPr>
              <a:t>embedding</a:t>
            </a:r>
            <a:r>
              <a:rPr sz="2000" spc="-5" dirty="0">
                <a:solidFill>
                  <a:srgbClr val="080808"/>
                </a:solidFill>
                <a:latin typeface="Times New Roman" panose="02020603050405020304" pitchFamily="18" charset="0"/>
                <a:cs typeface="Times New Roman" panose="02020603050405020304" pitchFamily="18" charset="0"/>
              </a:rPr>
              <a:t> </a:t>
            </a:r>
            <a:r>
              <a:rPr sz="2000" spc="-10" dirty="0">
                <a:solidFill>
                  <a:srgbClr val="080808"/>
                </a:solidFill>
                <a:latin typeface="Times New Roman" panose="02020603050405020304" pitchFamily="18" charset="0"/>
                <a:cs typeface="Times New Roman" panose="02020603050405020304" pitchFamily="18" charset="0"/>
              </a:rPr>
              <a:t>space.</a:t>
            </a:r>
            <a:endParaRPr sz="2000" dirty="0">
              <a:solidFill>
                <a:srgbClr val="080808"/>
              </a:solidFill>
              <a:latin typeface="Times New Roman" panose="02020603050405020304" pitchFamily="18" charset="0"/>
              <a:cs typeface="Times New Roman" panose="02020603050405020304" pitchFamily="18" charset="0"/>
            </a:endParaRPr>
          </a:p>
        </p:txBody>
      </p:sp>
      <p:sp>
        <p:nvSpPr>
          <p:cNvPr id="15" name="object 15"/>
          <p:cNvSpPr txBox="1"/>
          <p:nvPr/>
        </p:nvSpPr>
        <p:spPr>
          <a:xfrm>
            <a:off x="7735678" y="6666621"/>
            <a:ext cx="5683188" cy="623440"/>
          </a:xfrm>
          <a:prstGeom prst="rect">
            <a:avLst/>
          </a:prstGeom>
        </p:spPr>
        <p:txBody>
          <a:bodyPr vert="horz" wrap="square" lIns="0" tIns="3175" rIns="0" bIns="0" rtlCol="0">
            <a:spAutoFit/>
          </a:bodyPr>
          <a:lstStyle/>
          <a:p>
            <a:pPr marL="12700" marR="5080" indent="1270">
              <a:lnSpc>
                <a:spcPct val="103800"/>
              </a:lnSpc>
              <a:spcBef>
                <a:spcPts val="25"/>
              </a:spcBef>
            </a:pPr>
            <a:r>
              <a:rPr sz="2000" spc="50" dirty="0">
                <a:solidFill>
                  <a:srgbClr val="080808"/>
                </a:solidFill>
                <a:latin typeface="Times New Roman" panose="02020603050405020304" pitchFamily="18" charset="0"/>
                <a:cs typeface="Times New Roman" panose="02020603050405020304" pitchFamily="18" charset="0"/>
              </a:rPr>
              <a:t>Performance</a:t>
            </a:r>
            <a:r>
              <a:rPr sz="2000" spc="110" dirty="0">
                <a:solidFill>
                  <a:srgbClr val="080808"/>
                </a:solidFill>
                <a:latin typeface="Times New Roman" panose="02020603050405020304" pitchFamily="18" charset="0"/>
                <a:cs typeface="Times New Roman" panose="02020603050405020304" pitchFamily="18" charset="0"/>
              </a:rPr>
              <a:t> </a:t>
            </a:r>
            <a:r>
              <a:rPr sz="2000" spc="10" dirty="0">
                <a:solidFill>
                  <a:srgbClr val="080808"/>
                </a:solidFill>
                <a:latin typeface="Times New Roman" panose="02020603050405020304" pitchFamily="18" charset="0"/>
                <a:cs typeface="Times New Roman" panose="02020603050405020304" pitchFamily="18" charset="0"/>
              </a:rPr>
              <a:t>measured</a:t>
            </a:r>
            <a:r>
              <a:rPr sz="2000" spc="100" dirty="0">
                <a:solidFill>
                  <a:srgbClr val="080808"/>
                </a:solidFill>
                <a:latin typeface="Times New Roman" panose="02020603050405020304" pitchFamily="18" charset="0"/>
                <a:cs typeface="Times New Roman" panose="02020603050405020304" pitchFamily="18" charset="0"/>
              </a:rPr>
              <a:t> </a:t>
            </a:r>
            <a:r>
              <a:rPr sz="2000" spc="10" dirty="0">
                <a:solidFill>
                  <a:srgbClr val="080808"/>
                </a:solidFill>
                <a:latin typeface="Times New Roman" panose="02020603050405020304" pitchFamily="18" charset="0"/>
                <a:cs typeface="Times New Roman" panose="02020603050405020304" pitchFamily="18" charset="0"/>
              </a:rPr>
              <a:t>via</a:t>
            </a:r>
            <a:r>
              <a:rPr sz="2000" spc="5" dirty="0">
                <a:solidFill>
                  <a:srgbClr val="080808"/>
                </a:solidFill>
                <a:latin typeface="Times New Roman" panose="02020603050405020304" pitchFamily="18" charset="0"/>
                <a:cs typeface="Times New Roman" panose="02020603050405020304" pitchFamily="18" charset="0"/>
              </a:rPr>
              <a:t> </a:t>
            </a:r>
            <a:r>
              <a:rPr sz="2000" spc="10" dirty="0">
                <a:solidFill>
                  <a:srgbClr val="080808"/>
                </a:solidFill>
                <a:latin typeface="Times New Roman" panose="02020603050405020304" pitchFamily="18" charset="0"/>
                <a:cs typeface="Times New Roman" panose="02020603050405020304" pitchFamily="18" charset="0"/>
              </a:rPr>
              <a:t>accuracy,</a:t>
            </a:r>
            <a:r>
              <a:rPr sz="2000" spc="-195" dirty="0">
                <a:solidFill>
                  <a:srgbClr val="080808"/>
                </a:solidFill>
                <a:latin typeface="Times New Roman" panose="02020603050405020304" pitchFamily="18" charset="0"/>
                <a:cs typeface="Times New Roman" panose="02020603050405020304" pitchFamily="18" charset="0"/>
              </a:rPr>
              <a:t> </a:t>
            </a:r>
            <a:r>
              <a:rPr sz="2000" spc="50" dirty="0">
                <a:solidFill>
                  <a:srgbClr val="080808"/>
                </a:solidFill>
                <a:latin typeface="Times New Roman" panose="02020603050405020304" pitchFamily="18" charset="0"/>
                <a:cs typeface="Times New Roman" panose="02020603050405020304" pitchFamily="18" charset="0"/>
              </a:rPr>
              <a:t>macro </a:t>
            </a:r>
            <a:r>
              <a:rPr sz="2000" spc="-110" dirty="0">
                <a:solidFill>
                  <a:srgbClr val="080808"/>
                </a:solidFill>
                <a:latin typeface="Times New Roman" panose="02020603050405020304" pitchFamily="18" charset="0"/>
                <a:cs typeface="Times New Roman" panose="02020603050405020304" pitchFamily="18" charset="0"/>
              </a:rPr>
              <a:t>F1,</a:t>
            </a:r>
            <a:r>
              <a:rPr sz="2000" spc="-254" dirty="0">
                <a:solidFill>
                  <a:srgbClr val="080808"/>
                </a:solidFill>
                <a:latin typeface="Times New Roman" panose="02020603050405020304" pitchFamily="18" charset="0"/>
                <a:cs typeface="Times New Roman" panose="02020603050405020304" pitchFamily="18" charset="0"/>
              </a:rPr>
              <a:t> </a:t>
            </a:r>
            <a:r>
              <a:rPr sz="2000" spc="55" dirty="0">
                <a:solidFill>
                  <a:srgbClr val="080808"/>
                </a:solidFill>
                <a:latin typeface="Times New Roman" panose="02020603050405020304" pitchFamily="18" charset="0"/>
                <a:cs typeface="Times New Roman" panose="02020603050405020304" pitchFamily="18" charset="0"/>
              </a:rPr>
              <a:t>and</a:t>
            </a:r>
            <a:r>
              <a:rPr sz="2000" spc="-65" dirty="0">
                <a:solidFill>
                  <a:srgbClr val="080808"/>
                </a:solidFill>
                <a:latin typeface="Times New Roman" panose="02020603050405020304" pitchFamily="18" charset="0"/>
                <a:cs typeface="Times New Roman" panose="02020603050405020304" pitchFamily="18" charset="0"/>
              </a:rPr>
              <a:t> </a:t>
            </a:r>
            <a:r>
              <a:rPr sz="2000" spc="70" dirty="0">
                <a:solidFill>
                  <a:srgbClr val="080808"/>
                </a:solidFill>
                <a:latin typeface="Times New Roman" panose="02020603050405020304" pitchFamily="18" charset="0"/>
                <a:cs typeface="Times New Roman" panose="02020603050405020304" pitchFamily="18" charset="0"/>
              </a:rPr>
              <a:t>weighted</a:t>
            </a:r>
            <a:r>
              <a:rPr sz="2000" spc="-45" dirty="0">
                <a:solidFill>
                  <a:srgbClr val="080808"/>
                </a:solidFill>
                <a:latin typeface="Times New Roman" panose="02020603050405020304" pitchFamily="18" charset="0"/>
                <a:cs typeface="Times New Roman" panose="02020603050405020304" pitchFamily="18" charset="0"/>
              </a:rPr>
              <a:t> </a:t>
            </a:r>
            <a:r>
              <a:rPr sz="2000" spc="-105" dirty="0">
                <a:solidFill>
                  <a:srgbClr val="080808"/>
                </a:solidFill>
                <a:latin typeface="Times New Roman" panose="02020603050405020304" pitchFamily="18" charset="0"/>
                <a:cs typeface="Times New Roman" panose="02020603050405020304" pitchFamily="18" charset="0"/>
              </a:rPr>
              <a:t>F1</a:t>
            </a:r>
            <a:r>
              <a:rPr sz="2000" spc="-254" dirty="0">
                <a:solidFill>
                  <a:srgbClr val="080808"/>
                </a:solidFill>
                <a:latin typeface="Times New Roman" panose="02020603050405020304" pitchFamily="18" charset="0"/>
                <a:cs typeface="Times New Roman" panose="02020603050405020304" pitchFamily="18" charset="0"/>
              </a:rPr>
              <a:t> </a:t>
            </a:r>
            <a:r>
              <a:rPr sz="2000" dirty="0">
                <a:solidFill>
                  <a:srgbClr val="080808"/>
                </a:solidFill>
                <a:latin typeface="Times New Roman" panose="02020603050405020304" pitchFamily="18" charset="0"/>
                <a:cs typeface="Times New Roman" panose="02020603050405020304" pitchFamily="18" charset="0"/>
              </a:rPr>
              <a:t>across</a:t>
            </a:r>
            <a:r>
              <a:rPr sz="2000" spc="-75" dirty="0">
                <a:solidFill>
                  <a:srgbClr val="080808"/>
                </a:solidFill>
                <a:latin typeface="Times New Roman" panose="02020603050405020304" pitchFamily="18" charset="0"/>
                <a:cs typeface="Times New Roman" panose="02020603050405020304" pitchFamily="18" charset="0"/>
              </a:rPr>
              <a:t> </a:t>
            </a:r>
            <a:r>
              <a:rPr sz="2000" dirty="0">
                <a:solidFill>
                  <a:srgbClr val="080808"/>
                </a:solidFill>
                <a:latin typeface="Times New Roman" panose="02020603050405020304" pitchFamily="18" charset="0"/>
                <a:cs typeface="Times New Roman" panose="02020603050405020304" pitchFamily="18" charset="0"/>
              </a:rPr>
              <a:t>all</a:t>
            </a:r>
            <a:r>
              <a:rPr sz="2000" spc="-65" dirty="0">
                <a:solidFill>
                  <a:srgbClr val="080808"/>
                </a:solidFill>
                <a:latin typeface="Times New Roman" panose="02020603050405020304" pitchFamily="18" charset="0"/>
                <a:cs typeface="Times New Roman" panose="02020603050405020304" pitchFamily="18" charset="0"/>
              </a:rPr>
              <a:t> </a:t>
            </a:r>
            <a:r>
              <a:rPr sz="2000" spc="65" dirty="0">
                <a:solidFill>
                  <a:srgbClr val="080808"/>
                </a:solidFill>
                <a:latin typeface="Times New Roman" panose="02020603050405020304" pitchFamily="18" charset="0"/>
                <a:cs typeface="Times New Roman" panose="02020603050405020304" pitchFamily="18" charset="0"/>
              </a:rPr>
              <a:t>four</a:t>
            </a:r>
            <a:r>
              <a:rPr sz="2000" spc="-35" dirty="0">
                <a:solidFill>
                  <a:srgbClr val="080808"/>
                </a:solidFill>
                <a:latin typeface="Times New Roman" panose="02020603050405020304" pitchFamily="18" charset="0"/>
                <a:cs typeface="Times New Roman" panose="02020603050405020304" pitchFamily="18" charset="0"/>
              </a:rPr>
              <a:t> </a:t>
            </a:r>
            <a:r>
              <a:rPr sz="2000" spc="70" dirty="0">
                <a:solidFill>
                  <a:srgbClr val="080808"/>
                </a:solidFill>
                <a:latin typeface="Times New Roman" panose="02020603050405020304" pitchFamily="18" charset="0"/>
                <a:cs typeface="Times New Roman" panose="02020603050405020304" pitchFamily="18" charset="0"/>
              </a:rPr>
              <a:t>rumor </a:t>
            </a:r>
            <a:r>
              <a:rPr sz="2000" spc="-10" dirty="0">
                <a:solidFill>
                  <a:srgbClr val="080808"/>
                </a:solidFill>
                <a:latin typeface="Times New Roman" panose="02020603050405020304" pitchFamily="18" charset="0"/>
                <a:cs typeface="Times New Roman" panose="02020603050405020304" pitchFamily="18" charset="0"/>
              </a:rPr>
              <a:t>classes.</a:t>
            </a:r>
            <a:endParaRPr sz="2000" dirty="0">
              <a:solidFill>
                <a:srgbClr val="080808"/>
              </a:solidFill>
              <a:latin typeface="Times New Roman" panose="02020603050405020304" pitchFamily="18" charset="0"/>
              <a:cs typeface="Times New Roman" panose="02020603050405020304" pitchFamily="18" charset="0"/>
            </a:endParaRPr>
          </a:p>
        </p:txBody>
      </p:sp>
      <p:sp>
        <p:nvSpPr>
          <p:cNvPr id="18" name="object 8">
            <a:extLst>
              <a:ext uri="{FF2B5EF4-FFF2-40B4-BE49-F238E27FC236}">
                <a16:creationId xmlns:a16="http://schemas.microsoft.com/office/drawing/2014/main" id="{CC10568B-AB0B-F599-9D4A-54D3AAE51351}"/>
              </a:ext>
            </a:extLst>
          </p:cNvPr>
          <p:cNvSpPr txBox="1"/>
          <p:nvPr/>
        </p:nvSpPr>
        <p:spPr>
          <a:xfrm>
            <a:off x="533651" y="5222657"/>
            <a:ext cx="481330" cy="537210"/>
          </a:xfrm>
          <a:prstGeom prst="rect">
            <a:avLst/>
          </a:prstGeom>
        </p:spPr>
        <p:txBody>
          <a:bodyPr vert="horz" wrap="square" lIns="0" tIns="13335" rIns="0" bIns="0" rtlCol="0">
            <a:spAutoFit/>
          </a:bodyPr>
          <a:lstStyle/>
          <a:p>
            <a:pPr marL="12700">
              <a:lnSpc>
                <a:spcPct val="100000"/>
              </a:lnSpc>
              <a:spcBef>
                <a:spcPts val="105"/>
              </a:spcBef>
            </a:pPr>
            <a:r>
              <a:rPr lang="en-US" sz="3350" spc="90" dirty="0">
                <a:solidFill>
                  <a:srgbClr val="080808"/>
                </a:solidFill>
                <a:latin typeface="Times New Roman" panose="02020603050405020304" pitchFamily="18" charset="0"/>
                <a:cs typeface="Times New Roman" panose="02020603050405020304" pitchFamily="18" charset="0"/>
              </a:rPr>
              <a:t>03</a:t>
            </a:r>
            <a:endParaRPr sz="3350" dirty="0">
              <a:solidFill>
                <a:srgbClr val="080808"/>
              </a:solidFill>
              <a:latin typeface="Times New Roman" panose="02020603050405020304" pitchFamily="18" charset="0"/>
              <a:cs typeface="Times New Roman" panose="02020603050405020304" pitchFamily="18" charset="0"/>
            </a:endParaRPr>
          </a:p>
        </p:txBody>
      </p:sp>
      <p:sp>
        <p:nvSpPr>
          <p:cNvPr id="19" name="object 8">
            <a:extLst>
              <a:ext uri="{FF2B5EF4-FFF2-40B4-BE49-F238E27FC236}">
                <a16:creationId xmlns:a16="http://schemas.microsoft.com/office/drawing/2014/main" id="{5AF05FAF-4846-1772-2E44-BD54731BA728}"/>
              </a:ext>
            </a:extLst>
          </p:cNvPr>
          <p:cNvSpPr txBox="1"/>
          <p:nvPr/>
        </p:nvSpPr>
        <p:spPr>
          <a:xfrm>
            <a:off x="521513" y="6604510"/>
            <a:ext cx="481330" cy="537210"/>
          </a:xfrm>
          <a:prstGeom prst="rect">
            <a:avLst/>
          </a:prstGeom>
        </p:spPr>
        <p:txBody>
          <a:bodyPr vert="horz" wrap="square" lIns="0" tIns="13335" rIns="0" bIns="0" rtlCol="0">
            <a:spAutoFit/>
          </a:bodyPr>
          <a:lstStyle/>
          <a:p>
            <a:pPr marL="12700">
              <a:lnSpc>
                <a:spcPct val="100000"/>
              </a:lnSpc>
              <a:spcBef>
                <a:spcPts val="105"/>
              </a:spcBef>
            </a:pPr>
            <a:r>
              <a:rPr lang="en-US" sz="3350" spc="90" dirty="0">
                <a:solidFill>
                  <a:srgbClr val="080808"/>
                </a:solidFill>
                <a:latin typeface="Times New Roman" panose="02020603050405020304" pitchFamily="18" charset="0"/>
                <a:cs typeface="Times New Roman" panose="02020603050405020304" pitchFamily="18" charset="0"/>
              </a:rPr>
              <a:t>04</a:t>
            </a:r>
            <a:endParaRPr sz="3350" dirty="0">
              <a:solidFill>
                <a:srgbClr val="080808"/>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21512" y="485401"/>
            <a:ext cx="14299387" cy="843821"/>
          </a:xfrm>
          <a:prstGeom prst="rect">
            <a:avLst/>
          </a:prstGeom>
        </p:spPr>
        <p:txBody>
          <a:bodyPr vert="horz" wrap="square" lIns="0" tIns="12700" rIns="0" bIns="0" rtlCol="0">
            <a:spAutoFit/>
          </a:bodyPr>
          <a:lstStyle/>
          <a:p>
            <a:pPr marL="12700">
              <a:lnSpc>
                <a:spcPct val="100000"/>
              </a:lnSpc>
              <a:spcBef>
                <a:spcPts val="100"/>
              </a:spcBef>
            </a:pPr>
            <a:r>
              <a:rPr sz="5400" dirty="0">
                <a:solidFill>
                  <a:srgbClr val="080808"/>
                </a:solidFill>
                <a:latin typeface="Times New Roman" panose="02020603050405020304" pitchFamily="18" charset="0"/>
                <a:cs typeface="Times New Roman" panose="02020603050405020304" pitchFamily="18" charset="0"/>
              </a:rPr>
              <a:t>Phase</a:t>
            </a:r>
            <a:r>
              <a:rPr sz="5400" spc="-30" dirty="0">
                <a:solidFill>
                  <a:srgbClr val="080808"/>
                </a:solidFill>
                <a:latin typeface="Times New Roman" panose="02020603050405020304" pitchFamily="18" charset="0"/>
                <a:cs typeface="Times New Roman" panose="02020603050405020304" pitchFamily="18" charset="0"/>
              </a:rPr>
              <a:t> </a:t>
            </a:r>
            <a:r>
              <a:rPr sz="5400" spc="-50" dirty="0">
                <a:solidFill>
                  <a:srgbClr val="080808"/>
                </a:solidFill>
                <a:latin typeface="Times New Roman" panose="02020603050405020304" pitchFamily="18" charset="0"/>
                <a:cs typeface="Times New Roman" panose="02020603050405020304" pitchFamily="18" charset="0"/>
              </a:rPr>
              <a:t>5</a:t>
            </a:r>
            <a:r>
              <a:rPr lang="en-US" sz="5400" spc="-50" dirty="0">
                <a:solidFill>
                  <a:srgbClr val="080808"/>
                </a:solidFill>
                <a:latin typeface="Times New Roman" panose="02020603050405020304" pitchFamily="18" charset="0"/>
                <a:cs typeface="Times New Roman" panose="02020603050405020304" pitchFamily="18" charset="0"/>
              </a:rPr>
              <a:t>: Inference and Fact Verification</a:t>
            </a:r>
            <a:endParaRPr sz="5400" dirty="0">
              <a:solidFill>
                <a:srgbClr val="080808"/>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525373" y="2426709"/>
            <a:ext cx="487045" cy="529590"/>
          </a:xfrm>
          <a:prstGeom prst="rect">
            <a:avLst/>
          </a:prstGeom>
        </p:spPr>
        <p:txBody>
          <a:bodyPr vert="horz" wrap="square" lIns="0" tIns="13335" rIns="0" bIns="0" rtlCol="0">
            <a:spAutoFit/>
          </a:bodyPr>
          <a:lstStyle/>
          <a:p>
            <a:pPr marL="12700">
              <a:lnSpc>
                <a:spcPct val="100000"/>
              </a:lnSpc>
              <a:spcBef>
                <a:spcPts val="105"/>
              </a:spcBef>
            </a:pPr>
            <a:r>
              <a:rPr sz="3300" spc="140" dirty="0">
                <a:solidFill>
                  <a:srgbClr val="080808"/>
                </a:solidFill>
                <a:latin typeface="Times New Roman" panose="02020603050405020304" pitchFamily="18" charset="0"/>
                <a:cs typeface="Times New Roman" panose="02020603050405020304" pitchFamily="18" charset="0"/>
              </a:rPr>
              <a:t>01</a:t>
            </a:r>
            <a:endParaRPr sz="3300">
              <a:solidFill>
                <a:srgbClr val="080808"/>
              </a:solidFill>
              <a:latin typeface="Times New Roman" panose="02020603050405020304" pitchFamily="18" charset="0"/>
              <a:cs typeface="Times New Roman" panose="02020603050405020304" pitchFamily="18" charset="0"/>
            </a:endParaRPr>
          </a:p>
        </p:txBody>
      </p:sp>
      <p:sp>
        <p:nvSpPr>
          <p:cNvPr id="4" name="object 4"/>
          <p:cNvSpPr txBox="1"/>
          <p:nvPr/>
        </p:nvSpPr>
        <p:spPr>
          <a:xfrm>
            <a:off x="1489929" y="2359876"/>
            <a:ext cx="4277995" cy="667385"/>
          </a:xfrm>
          <a:prstGeom prst="rect">
            <a:avLst/>
          </a:prstGeom>
        </p:spPr>
        <p:txBody>
          <a:bodyPr vert="horz" wrap="square" lIns="0" tIns="13970" rIns="0" bIns="0" rtlCol="0">
            <a:spAutoFit/>
          </a:bodyPr>
          <a:lstStyle/>
          <a:p>
            <a:pPr marL="12700">
              <a:lnSpc>
                <a:spcPct val="100000"/>
              </a:lnSpc>
              <a:spcBef>
                <a:spcPts val="110"/>
              </a:spcBef>
            </a:pPr>
            <a:r>
              <a:rPr sz="4200" dirty="0">
                <a:solidFill>
                  <a:srgbClr val="080808"/>
                </a:solidFill>
                <a:latin typeface="Times New Roman" panose="02020603050405020304" pitchFamily="18" charset="0"/>
                <a:cs typeface="Times New Roman" panose="02020603050405020304" pitchFamily="18" charset="0"/>
              </a:rPr>
              <a:t>Baseline</a:t>
            </a:r>
            <a:r>
              <a:rPr sz="4200" spc="-135" dirty="0">
                <a:solidFill>
                  <a:srgbClr val="080808"/>
                </a:solidFill>
                <a:latin typeface="Times New Roman" panose="02020603050405020304" pitchFamily="18" charset="0"/>
                <a:cs typeface="Times New Roman" panose="02020603050405020304" pitchFamily="18" charset="0"/>
              </a:rPr>
              <a:t> </a:t>
            </a:r>
            <a:r>
              <a:rPr sz="4200" spc="90" dirty="0">
                <a:solidFill>
                  <a:srgbClr val="080808"/>
                </a:solidFill>
                <a:latin typeface="Times New Roman" panose="02020603050405020304" pitchFamily="18" charset="0"/>
                <a:cs typeface="Times New Roman" panose="02020603050405020304" pitchFamily="18" charset="0"/>
              </a:rPr>
              <a:t>prediction</a:t>
            </a:r>
            <a:endParaRPr sz="4200">
              <a:solidFill>
                <a:srgbClr val="080808"/>
              </a:solidFill>
              <a:latin typeface="Times New Roman" panose="02020603050405020304" pitchFamily="18" charset="0"/>
              <a:cs typeface="Times New Roman" panose="02020603050405020304" pitchFamily="18" charset="0"/>
            </a:endParaRPr>
          </a:p>
        </p:txBody>
      </p:sp>
      <p:sp>
        <p:nvSpPr>
          <p:cNvPr id="5" name="object 5"/>
          <p:cNvSpPr txBox="1"/>
          <p:nvPr/>
        </p:nvSpPr>
        <p:spPr>
          <a:xfrm>
            <a:off x="525373" y="3801536"/>
            <a:ext cx="478790" cy="529590"/>
          </a:xfrm>
          <a:prstGeom prst="rect">
            <a:avLst/>
          </a:prstGeom>
        </p:spPr>
        <p:txBody>
          <a:bodyPr vert="horz" wrap="square" lIns="0" tIns="13335" rIns="0" bIns="0" rtlCol="0">
            <a:spAutoFit/>
          </a:bodyPr>
          <a:lstStyle/>
          <a:p>
            <a:pPr marL="12700">
              <a:lnSpc>
                <a:spcPct val="100000"/>
              </a:lnSpc>
              <a:spcBef>
                <a:spcPts val="105"/>
              </a:spcBef>
            </a:pPr>
            <a:r>
              <a:rPr sz="3300" spc="105" dirty="0">
                <a:solidFill>
                  <a:srgbClr val="080808"/>
                </a:solidFill>
                <a:latin typeface="Times New Roman" panose="02020603050405020304" pitchFamily="18" charset="0"/>
                <a:cs typeface="Times New Roman" panose="02020603050405020304" pitchFamily="18" charset="0"/>
              </a:rPr>
              <a:t>02</a:t>
            </a:r>
            <a:endParaRPr sz="3300">
              <a:solidFill>
                <a:srgbClr val="080808"/>
              </a:solidFill>
              <a:latin typeface="Times New Roman" panose="02020603050405020304" pitchFamily="18" charset="0"/>
              <a:cs typeface="Times New Roman" panose="02020603050405020304" pitchFamily="18" charset="0"/>
            </a:endParaRPr>
          </a:p>
        </p:txBody>
      </p:sp>
      <p:sp>
        <p:nvSpPr>
          <p:cNvPr id="6" name="object 6"/>
          <p:cNvSpPr txBox="1"/>
          <p:nvPr/>
        </p:nvSpPr>
        <p:spPr>
          <a:xfrm>
            <a:off x="1479628" y="3753798"/>
            <a:ext cx="4465320" cy="667385"/>
          </a:xfrm>
          <a:prstGeom prst="rect">
            <a:avLst/>
          </a:prstGeom>
        </p:spPr>
        <p:txBody>
          <a:bodyPr vert="horz" wrap="square" lIns="0" tIns="13970" rIns="0" bIns="0" rtlCol="0">
            <a:spAutoFit/>
          </a:bodyPr>
          <a:lstStyle/>
          <a:p>
            <a:pPr marL="12700">
              <a:lnSpc>
                <a:spcPct val="100000"/>
              </a:lnSpc>
              <a:spcBef>
                <a:spcPts val="110"/>
              </a:spcBef>
            </a:pPr>
            <a:r>
              <a:rPr sz="4200" dirty="0">
                <a:solidFill>
                  <a:srgbClr val="080808"/>
                </a:solidFill>
                <a:latin typeface="Times New Roman" panose="02020603050405020304" pitchFamily="18" charset="0"/>
                <a:cs typeface="Times New Roman" panose="02020603050405020304" pitchFamily="18" charset="0"/>
              </a:rPr>
              <a:t>Verification</a:t>
            </a:r>
            <a:r>
              <a:rPr sz="4200" spc="335" dirty="0">
                <a:solidFill>
                  <a:srgbClr val="080808"/>
                </a:solidFill>
                <a:latin typeface="Times New Roman" panose="02020603050405020304" pitchFamily="18" charset="0"/>
                <a:cs typeface="Times New Roman" panose="02020603050405020304" pitchFamily="18" charset="0"/>
              </a:rPr>
              <a:t> </a:t>
            </a:r>
            <a:r>
              <a:rPr sz="4200" spc="145" dirty="0">
                <a:solidFill>
                  <a:srgbClr val="080808"/>
                </a:solidFill>
                <a:latin typeface="Times New Roman" panose="02020603050405020304" pitchFamily="18" charset="0"/>
                <a:cs typeface="Times New Roman" panose="02020603050405020304" pitchFamily="18" charset="0"/>
              </a:rPr>
              <a:t>routing</a:t>
            </a:r>
            <a:endParaRPr sz="4200" dirty="0">
              <a:solidFill>
                <a:srgbClr val="080808"/>
              </a:solidFill>
              <a:latin typeface="Times New Roman" panose="02020603050405020304" pitchFamily="18" charset="0"/>
              <a:cs typeface="Times New Roman" panose="02020603050405020304" pitchFamily="18" charset="0"/>
            </a:endParaRPr>
          </a:p>
        </p:txBody>
      </p:sp>
      <p:sp>
        <p:nvSpPr>
          <p:cNvPr id="7" name="object 7"/>
          <p:cNvSpPr txBox="1"/>
          <p:nvPr/>
        </p:nvSpPr>
        <p:spPr>
          <a:xfrm>
            <a:off x="525373" y="5224100"/>
            <a:ext cx="483234" cy="529590"/>
          </a:xfrm>
          <a:prstGeom prst="rect">
            <a:avLst/>
          </a:prstGeom>
        </p:spPr>
        <p:txBody>
          <a:bodyPr vert="horz" wrap="square" lIns="0" tIns="13335" rIns="0" bIns="0" rtlCol="0">
            <a:spAutoFit/>
          </a:bodyPr>
          <a:lstStyle/>
          <a:p>
            <a:pPr marL="12700">
              <a:lnSpc>
                <a:spcPct val="100000"/>
              </a:lnSpc>
              <a:spcBef>
                <a:spcPts val="105"/>
              </a:spcBef>
            </a:pPr>
            <a:r>
              <a:rPr sz="3300" spc="120" dirty="0">
                <a:solidFill>
                  <a:srgbClr val="080808"/>
                </a:solidFill>
                <a:latin typeface="Times New Roman" panose="02020603050405020304" pitchFamily="18" charset="0"/>
                <a:cs typeface="Times New Roman" panose="02020603050405020304" pitchFamily="18" charset="0"/>
              </a:rPr>
              <a:t>03</a:t>
            </a:r>
            <a:endParaRPr sz="3300">
              <a:solidFill>
                <a:srgbClr val="080808"/>
              </a:solidFill>
              <a:latin typeface="Times New Roman" panose="02020603050405020304" pitchFamily="18" charset="0"/>
              <a:cs typeface="Times New Roman" panose="02020603050405020304" pitchFamily="18" charset="0"/>
            </a:endParaRPr>
          </a:p>
        </p:txBody>
      </p:sp>
      <p:sp>
        <p:nvSpPr>
          <p:cNvPr id="8" name="object 8"/>
          <p:cNvSpPr txBox="1"/>
          <p:nvPr/>
        </p:nvSpPr>
        <p:spPr>
          <a:xfrm>
            <a:off x="1495231" y="5147721"/>
            <a:ext cx="5396230" cy="667385"/>
          </a:xfrm>
          <a:prstGeom prst="rect">
            <a:avLst/>
          </a:prstGeom>
        </p:spPr>
        <p:txBody>
          <a:bodyPr vert="horz" wrap="square" lIns="0" tIns="13970" rIns="0" bIns="0" rtlCol="0">
            <a:spAutoFit/>
          </a:bodyPr>
          <a:lstStyle/>
          <a:p>
            <a:pPr marL="12700">
              <a:lnSpc>
                <a:spcPct val="100000"/>
              </a:lnSpc>
              <a:spcBef>
                <a:spcPts val="110"/>
              </a:spcBef>
            </a:pPr>
            <a:r>
              <a:rPr sz="4200" dirty="0">
                <a:solidFill>
                  <a:srgbClr val="080808"/>
                </a:solidFill>
                <a:latin typeface="Times New Roman" panose="02020603050405020304" pitchFamily="18" charset="0"/>
                <a:cs typeface="Times New Roman" panose="02020603050405020304" pitchFamily="18" charset="0"/>
              </a:rPr>
              <a:t>Fact</a:t>
            </a:r>
            <a:r>
              <a:rPr sz="4200" spc="-15" dirty="0">
                <a:solidFill>
                  <a:srgbClr val="080808"/>
                </a:solidFill>
                <a:latin typeface="Times New Roman" panose="02020603050405020304" pitchFamily="18" charset="0"/>
                <a:cs typeface="Times New Roman" panose="02020603050405020304" pitchFamily="18" charset="0"/>
              </a:rPr>
              <a:t> </a:t>
            </a:r>
            <a:r>
              <a:rPr sz="4200" spc="50" dirty="0">
                <a:solidFill>
                  <a:srgbClr val="080808"/>
                </a:solidFill>
                <a:latin typeface="Times New Roman" panose="02020603050405020304" pitchFamily="18" charset="0"/>
                <a:cs typeface="Times New Roman" panose="02020603050405020304" pitchFamily="18" charset="0"/>
              </a:rPr>
              <a:t>consistency</a:t>
            </a:r>
            <a:r>
              <a:rPr sz="4200" spc="-100" dirty="0">
                <a:solidFill>
                  <a:srgbClr val="080808"/>
                </a:solidFill>
                <a:latin typeface="Times New Roman" panose="02020603050405020304" pitchFamily="18" charset="0"/>
                <a:cs typeface="Times New Roman" panose="02020603050405020304" pitchFamily="18" charset="0"/>
              </a:rPr>
              <a:t> </a:t>
            </a:r>
            <a:r>
              <a:rPr sz="4200" spc="60" dirty="0">
                <a:solidFill>
                  <a:srgbClr val="080808"/>
                </a:solidFill>
                <a:latin typeface="Times New Roman" panose="02020603050405020304" pitchFamily="18" charset="0"/>
                <a:cs typeface="Times New Roman" panose="02020603050405020304" pitchFamily="18" charset="0"/>
              </a:rPr>
              <a:t>scoring</a:t>
            </a:r>
            <a:endParaRPr sz="4200" dirty="0">
              <a:solidFill>
                <a:srgbClr val="080808"/>
              </a:solidFill>
              <a:latin typeface="Times New Roman" panose="02020603050405020304" pitchFamily="18" charset="0"/>
              <a:cs typeface="Times New Roman" panose="02020603050405020304" pitchFamily="18" charset="0"/>
            </a:endParaRPr>
          </a:p>
        </p:txBody>
      </p:sp>
      <p:sp>
        <p:nvSpPr>
          <p:cNvPr id="9" name="object 9"/>
          <p:cNvSpPr txBox="1"/>
          <p:nvPr/>
        </p:nvSpPr>
        <p:spPr>
          <a:xfrm>
            <a:off x="525373" y="6646664"/>
            <a:ext cx="478790" cy="529590"/>
          </a:xfrm>
          <a:prstGeom prst="rect">
            <a:avLst/>
          </a:prstGeom>
        </p:spPr>
        <p:txBody>
          <a:bodyPr vert="horz" wrap="square" lIns="0" tIns="13335" rIns="0" bIns="0" rtlCol="0">
            <a:spAutoFit/>
          </a:bodyPr>
          <a:lstStyle/>
          <a:p>
            <a:pPr marL="12700">
              <a:lnSpc>
                <a:spcPct val="100000"/>
              </a:lnSpc>
              <a:spcBef>
                <a:spcPts val="105"/>
              </a:spcBef>
            </a:pPr>
            <a:r>
              <a:rPr sz="3300" spc="105" dirty="0">
                <a:solidFill>
                  <a:srgbClr val="080808"/>
                </a:solidFill>
                <a:latin typeface="Times New Roman" panose="02020603050405020304" pitchFamily="18" charset="0"/>
                <a:cs typeface="Times New Roman" panose="02020603050405020304" pitchFamily="18" charset="0"/>
              </a:rPr>
              <a:t>04</a:t>
            </a:r>
            <a:endParaRPr sz="3300">
              <a:solidFill>
                <a:srgbClr val="080808"/>
              </a:solidFill>
              <a:latin typeface="Times New Roman" panose="02020603050405020304" pitchFamily="18" charset="0"/>
              <a:cs typeface="Times New Roman" panose="02020603050405020304" pitchFamily="18" charset="0"/>
            </a:endParaRPr>
          </a:p>
        </p:txBody>
      </p:sp>
      <p:sp>
        <p:nvSpPr>
          <p:cNvPr id="10" name="object 10"/>
          <p:cNvSpPr txBox="1"/>
          <p:nvPr/>
        </p:nvSpPr>
        <p:spPr>
          <a:xfrm>
            <a:off x="1488326" y="6536869"/>
            <a:ext cx="4460875" cy="667385"/>
          </a:xfrm>
          <a:prstGeom prst="rect">
            <a:avLst/>
          </a:prstGeom>
        </p:spPr>
        <p:txBody>
          <a:bodyPr vert="horz" wrap="square" lIns="0" tIns="13970" rIns="0" bIns="0" rtlCol="0">
            <a:spAutoFit/>
          </a:bodyPr>
          <a:lstStyle/>
          <a:p>
            <a:pPr marL="12700">
              <a:lnSpc>
                <a:spcPct val="100000"/>
              </a:lnSpc>
              <a:spcBef>
                <a:spcPts val="110"/>
              </a:spcBef>
            </a:pPr>
            <a:r>
              <a:rPr sz="4200" spc="50" dirty="0">
                <a:solidFill>
                  <a:srgbClr val="080808"/>
                </a:solidFill>
                <a:latin typeface="Times New Roman" panose="02020603050405020304" pitchFamily="18" charset="0"/>
                <a:cs typeface="Times New Roman" panose="02020603050405020304" pitchFamily="18" charset="0"/>
              </a:rPr>
              <a:t>Label</a:t>
            </a:r>
            <a:r>
              <a:rPr sz="4200" spc="100" dirty="0">
                <a:solidFill>
                  <a:srgbClr val="080808"/>
                </a:solidFill>
                <a:latin typeface="Times New Roman" panose="02020603050405020304" pitchFamily="18" charset="0"/>
                <a:cs typeface="Times New Roman" panose="02020603050405020304" pitchFamily="18" charset="0"/>
              </a:rPr>
              <a:t> </a:t>
            </a:r>
            <a:r>
              <a:rPr sz="4200" dirty="0">
                <a:solidFill>
                  <a:srgbClr val="080808"/>
                </a:solidFill>
                <a:latin typeface="Times New Roman" panose="02020603050405020304" pitchFamily="18" charset="0"/>
                <a:cs typeface="Times New Roman" panose="02020603050405020304" pitchFamily="18" charset="0"/>
              </a:rPr>
              <a:t>re-</a:t>
            </a:r>
            <a:r>
              <a:rPr sz="4200" spc="-10" dirty="0">
                <a:solidFill>
                  <a:srgbClr val="080808"/>
                </a:solidFill>
                <a:latin typeface="Times New Roman" panose="02020603050405020304" pitchFamily="18" charset="0"/>
                <a:cs typeface="Times New Roman" panose="02020603050405020304" pitchFamily="18" charset="0"/>
              </a:rPr>
              <a:t>assignment</a:t>
            </a:r>
            <a:endParaRPr sz="4200">
              <a:solidFill>
                <a:srgbClr val="080808"/>
              </a:solidFill>
              <a:latin typeface="Times New Roman" panose="02020603050405020304" pitchFamily="18" charset="0"/>
              <a:cs typeface="Times New Roman" panose="02020603050405020304" pitchFamily="18" charset="0"/>
            </a:endParaRPr>
          </a:p>
        </p:txBody>
      </p:sp>
      <p:sp>
        <p:nvSpPr>
          <p:cNvPr id="11" name="object 11"/>
          <p:cNvSpPr txBox="1"/>
          <p:nvPr/>
        </p:nvSpPr>
        <p:spPr>
          <a:xfrm>
            <a:off x="7619180" y="2426709"/>
            <a:ext cx="5561274" cy="623440"/>
          </a:xfrm>
          <a:prstGeom prst="rect">
            <a:avLst/>
          </a:prstGeom>
        </p:spPr>
        <p:txBody>
          <a:bodyPr vert="horz" wrap="square" lIns="0" tIns="3175" rIns="0" bIns="0" rtlCol="0">
            <a:spAutoFit/>
          </a:bodyPr>
          <a:lstStyle/>
          <a:p>
            <a:pPr marL="13335" marR="5080" indent="-1270">
              <a:lnSpc>
                <a:spcPct val="103800"/>
              </a:lnSpc>
              <a:spcBef>
                <a:spcPts val="25"/>
              </a:spcBef>
            </a:pPr>
            <a:r>
              <a:rPr sz="2000" spc="55" dirty="0">
                <a:solidFill>
                  <a:srgbClr val="080808"/>
                </a:solidFill>
                <a:latin typeface="Times New Roman" panose="02020603050405020304" pitchFamily="18" charset="0"/>
                <a:cs typeface="Times New Roman" panose="02020603050405020304" pitchFamily="18" charset="0"/>
              </a:rPr>
              <a:t>Contrastive</a:t>
            </a:r>
            <a:r>
              <a:rPr sz="2000" spc="100" dirty="0">
                <a:solidFill>
                  <a:srgbClr val="080808"/>
                </a:solidFill>
                <a:latin typeface="Times New Roman" panose="02020603050405020304" pitchFamily="18" charset="0"/>
                <a:cs typeface="Times New Roman" panose="02020603050405020304" pitchFamily="18" charset="0"/>
              </a:rPr>
              <a:t> </a:t>
            </a:r>
            <a:r>
              <a:rPr sz="2000" spc="10" dirty="0">
                <a:solidFill>
                  <a:srgbClr val="080808"/>
                </a:solidFill>
                <a:latin typeface="Times New Roman" panose="02020603050405020304" pitchFamily="18" charset="0"/>
                <a:cs typeface="Times New Roman" panose="02020603050405020304" pitchFamily="18" charset="0"/>
              </a:rPr>
              <a:t>classifier</a:t>
            </a:r>
            <a:r>
              <a:rPr sz="2000" spc="35" dirty="0">
                <a:solidFill>
                  <a:srgbClr val="080808"/>
                </a:solidFill>
                <a:latin typeface="Times New Roman" panose="02020603050405020304" pitchFamily="18" charset="0"/>
                <a:cs typeface="Times New Roman" panose="02020603050405020304" pitchFamily="18" charset="0"/>
              </a:rPr>
              <a:t> </a:t>
            </a:r>
            <a:r>
              <a:rPr sz="2000" spc="10" dirty="0">
                <a:solidFill>
                  <a:srgbClr val="080808"/>
                </a:solidFill>
                <a:latin typeface="Times New Roman" panose="02020603050405020304" pitchFamily="18" charset="0"/>
                <a:cs typeface="Times New Roman" panose="02020603050405020304" pitchFamily="18" charset="0"/>
              </a:rPr>
              <a:t>generates</a:t>
            </a:r>
            <a:r>
              <a:rPr sz="2000" spc="110" dirty="0">
                <a:solidFill>
                  <a:srgbClr val="080808"/>
                </a:solidFill>
                <a:latin typeface="Times New Roman" panose="02020603050405020304" pitchFamily="18" charset="0"/>
                <a:cs typeface="Times New Roman" panose="02020603050405020304" pitchFamily="18" charset="0"/>
              </a:rPr>
              <a:t> </a:t>
            </a:r>
            <a:r>
              <a:rPr sz="2000" spc="10" dirty="0">
                <a:solidFill>
                  <a:srgbClr val="080808"/>
                </a:solidFill>
                <a:latin typeface="Times New Roman" panose="02020603050405020304" pitchFamily="18" charset="0"/>
                <a:cs typeface="Times New Roman" panose="02020603050405020304" pitchFamily="18" charset="0"/>
              </a:rPr>
              <a:t>an</a:t>
            </a:r>
            <a:r>
              <a:rPr sz="2000" spc="50" dirty="0">
                <a:solidFill>
                  <a:srgbClr val="080808"/>
                </a:solidFill>
                <a:latin typeface="Times New Roman" panose="02020603050405020304" pitchFamily="18" charset="0"/>
                <a:cs typeface="Times New Roman" panose="02020603050405020304" pitchFamily="18" charset="0"/>
              </a:rPr>
              <a:t> </a:t>
            </a:r>
            <a:r>
              <a:rPr sz="2000" spc="55" dirty="0">
                <a:solidFill>
                  <a:srgbClr val="080808"/>
                </a:solidFill>
                <a:latin typeface="Times New Roman" panose="02020603050405020304" pitchFamily="18" charset="0"/>
                <a:cs typeface="Times New Roman" panose="02020603050405020304" pitchFamily="18" charset="0"/>
              </a:rPr>
              <a:t>initial </a:t>
            </a:r>
            <a:r>
              <a:rPr sz="2000" spc="65" dirty="0">
                <a:solidFill>
                  <a:srgbClr val="080808"/>
                </a:solidFill>
                <a:latin typeface="Times New Roman" panose="02020603050405020304" pitchFamily="18" charset="0"/>
                <a:cs typeface="Times New Roman" panose="02020603050405020304" pitchFamily="18" charset="0"/>
              </a:rPr>
              <a:t>predicted</a:t>
            </a:r>
            <a:r>
              <a:rPr sz="2000" spc="25" dirty="0">
                <a:solidFill>
                  <a:srgbClr val="080808"/>
                </a:solidFill>
                <a:latin typeface="Times New Roman" panose="02020603050405020304" pitchFamily="18" charset="0"/>
                <a:cs typeface="Times New Roman" panose="02020603050405020304" pitchFamily="18" charset="0"/>
              </a:rPr>
              <a:t> </a:t>
            </a:r>
            <a:r>
              <a:rPr sz="2000" dirty="0">
                <a:solidFill>
                  <a:srgbClr val="080808"/>
                </a:solidFill>
                <a:latin typeface="Times New Roman" panose="02020603050405020304" pitchFamily="18" charset="0"/>
                <a:cs typeface="Times New Roman" panose="02020603050405020304" pitchFamily="18" charset="0"/>
              </a:rPr>
              <a:t>label</a:t>
            </a:r>
            <a:r>
              <a:rPr sz="2000" spc="-15" dirty="0">
                <a:solidFill>
                  <a:srgbClr val="080808"/>
                </a:solidFill>
                <a:latin typeface="Times New Roman" panose="02020603050405020304" pitchFamily="18" charset="0"/>
                <a:cs typeface="Times New Roman" panose="02020603050405020304" pitchFamily="18" charset="0"/>
              </a:rPr>
              <a:t> </a:t>
            </a:r>
            <a:r>
              <a:rPr sz="2000" dirty="0">
                <a:solidFill>
                  <a:srgbClr val="080808"/>
                </a:solidFill>
                <a:latin typeface="Times New Roman" panose="02020603050405020304" pitchFamily="18" charset="0"/>
                <a:cs typeface="Times New Roman" panose="02020603050405020304" pitchFamily="18" charset="0"/>
              </a:rPr>
              <a:t>for</a:t>
            </a:r>
            <a:r>
              <a:rPr sz="2000" spc="95" dirty="0">
                <a:solidFill>
                  <a:srgbClr val="080808"/>
                </a:solidFill>
                <a:latin typeface="Times New Roman" panose="02020603050405020304" pitchFamily="18" charset="0"/>
                <a:cs typeface="Times New Roman" panose="02020603050405020304" pitchFamily="18" charset="0"/>
              </a:rPr>
              <a:t> </a:t>
            </a:r>
            <a:r>
              <a:rPr sz="2000" dirty="0">
                <a:solidFill>
                  <a:srgbClr val="080808"/>
                </a:solidFill>
                <a:latin typeface="Times New Roman" panose="02020603050405020304" pitchFamily="18" charset="0"/>
                <a:cs typeface="Times New Roman" panose="02020603050405020304" pitchFamily="18" charset="0"/>
              </a:rPr>
              <a:t>the</a:t>
            </a:r>
            <a:r>
              <a:rPr sz="2000" spc="180" dirty="0">
                <a:solidFill>
                  <a:srgbClr val="080808"/>
                </a:solidFill>
                <a:latin typeface="Times New Roman" panose="02020603050405020304" pitchFamily="18" charset="0"/>
                <a:cs typeface="Times New Roman" panose="02020603050405020304" pitchFamily="18" charset="0"/>
              </a:rPr>
              <a:t> </a:t>
            </a:r>
            <a:r>
              <a:rPr sz="2000" spc="60" dirty="0">
                <a:solidFill>
                  <a:srgbClr val="080808"/>
                </a:solidFill>
                <a:latin typeface="Times New Roman" panose="02020603050405020304" pitchFamily="18" charset="0"/>
                <a:cs typeface="Times New Roman" panose="02020603050405020304" pitchFamily="18" charset="0"/>
              </a:rPr>
              <a:t>input</a:t>
            </a:r>
            <a:r>
              <a:rPr sz="2000" spc="140" dirty="0">
                <a:solidFill>
                  <a:srgbClr val="080808"/>
                </a:solidFill>
                <a:latin typeface="Times New Roman" panose="02020603050405020304" pitchFamily="18" charset="0"/>
                <a:cs typeface="Times New Roman" panose="02020603050405020304" pitchFamily="18" charset="0"/>
              </a:rPr>
              <a:t> </a:t>
            </a:r>
            <a:r>
              <a:rPr sz="2000" spc="70" dirty="0">
                <a:solidFill>
                  <a:srgbClr val="080808"/>
                </a:solidFill>
                <a:latin typeface="Times New Roman" panose="02020603050405020304" pitchFamily="18" charset="0"/>
                <a:cs typeface="Times New Roman" panose="02020603050405020304" pitchFamily="18" charset="0"/>
              </a:rPr>
              <a:t>text.</a:t>
            </a:r>
            <a:endParaRPr sz="2000" dirty="0">
              <a:solidFill>
                <a:srgbClr val="080808"/>
              </a:solidFill>
              <a:latin typeface="Times New Roman" panose="02020603050405020304" pitchFamily="18" charset="0"/>
              <a:cs typeface="Times New Roman" panose="02020603050405020304" pitchFamily="18" charset="0"/>
            </a:endParaRPr>
          </a:p>
        </p:txBody>
      </p:sp>
      <p:sp>
        <p:nvSpPr>
          <p:cNvPr id="12" name="object 12"/>
          <p:cNvSpPr txBox="1"/>
          <p:nvPr/>
        </p:nvSpPr>
        <p:spPr>
          <a:xfrm>
            <a:off x="7619180" y="3798582"/>
            <a:ext cx="5888458" cy="943528"/>
          </a:xfrm>
          <a:prstGeom prst="rect">
            <a:avLst/>
          </a:prstGeom>
        </p:spPr>
        <p:txBody>
          <a:bodyPr vert="horz" wrap="square" lIns="0" tIns="3175" rIns="0" bIns="0" rtlCol="0">
            <a:spAutoFit/>
          </a:bodyPr>
          <a:lstStyle/>
          <a:p>
            <a:pPr marL="12700" marR="5080" indent="1270">
              <a:lnSpc>
                <a:spcPct val="103800"/>
              </a:lnSpc>
              <a:spcBef>
                <a:spcPts val="25"/>
              </a:spcBef>
            </a:pPr>
            <a:r>
              <a:rPr sz="2000" dirty="0">
                <a:solidFill>
                  <a:srgbClr val="080808"/>
                </a:solidFill>
                <a:latin typeface="Times New Roman" panose="02020603050405020304" pitchFamily="18" charset="0"/>
                <a:cs typeface="Times New Roman" panose="02020603050405020304" pitchFamily="18" charset="0"/>
              </a:rPr>
              <a:t>Rumor-class</a:t>
            </a:r>
            <a:r>
              <a:rPr sz="2000" spc="90" dirty="0">
                <a:solidFill>
                  <a:srgbClr val="080808"/>
                </a:solidFill>
                <a:latin typeface="Times New Roman" panose="02020603050405020304" pitchFamily="18" charset="0"/>
                <a:cs typeface="Times New Roman" panose="02020603050405020304" pitchFamily="18" charset="0"/>
              </a:rPr>
              <a:t> </a:t>
            </a:r>
            <a:r>
              <a:rPr sz="2000" spc="60" dirty="0">
                <a:solidFill>
                  <a:srgbClr val="080808"/>
                </a:solidFill>
                <a:latin typeface="Times New Roman" panose="02020603050405020304" pitchFamily="18" charset="0"/>
                <a:cs typeface="Times New Roman" panose="02020603050405020304" pitchFamily="18" charset="0"/>
              </a:rPr>
              <a:t>predictions</a:t>
            </a:r>
            <a:r>
              <a:rPr sz="2000" spc="35" dirty="0">
                <a:solidFill>
                  <a:srgbClr val="080808"/>
                </a:solidFill>
                <a:latin typeface="Times New Roman" panose="02020603050405020304" pitchFamily="18" charset="0"/>
                <a:cs typeface="Times New Roman" panose="02020603050405020304" pitchFamily="18" charset="0"/>
              </a:rPr>
              <a:t> </a:t>
            </a:r>
            <a:r>
              <a:rPr sz="2000" spc="80" dirty="0">
                <a:solidFill>
                  <a:srgbClr val="080808"/>
                </a:solidFill>
                <a:latin typeface="Times New Roman" panose="02020603050405020304" pitchFamily="18" charset="0"/>
                <a:cs typeface="Times New Roman" panose="02020603050405020304" pitchFamily="18" charset="0"/>
              </a:rPr>
              <a:t>route</a:t>
            </a:r>
            <a:r>
              <a:rPr sz="2000" spc="-130" dirty="0">
                <a:solidFill>
                  <a:srgbClr val="080808"/>
                </a:solidFill>
                <a:latin typeface="Times New Roman" panose="02020603050405020304" pitchFamily="18" charset="0"/>
                <a:cs typeface="Times New Roman" panose="02020603050405020304" pitchFamily="18" charset="0"/>
              </a:rPr>
              <a:t> </a:t>
            </a:r>
            <a:r>
              <a:rPr sz="2000" spc="75" dirty="0">
                <a:solidFill>
                  <a:srgbClr val="080808"/>
                </a:solidFill>
                <a:latin typeface="Times New Roman" panose="02020603050405020304" pitchFamily="18" charset="0"/>
                <a:cs typeface="Times New Roman" panose="02020603050405020304" pitchFamily="18" charset="0"/>
              </a:rPr>
              <a:t>to</a:t>
            </a:r>
            <a:r>
              <a:rPr sz="2000" spc="10" dirty="0">
                <a:solidFill>
                  <a:srgbClr val="080808"/>
                </a:solidFill>
                <a:latin typeface="Times New Roman" panose="02020603050405020304" pitchFamily="18" charset="0"/>
                <a:cs typeface="Times New Roman" panose="02020603050405020304" pitchFamily="18" charset="0"/>
              </a:rPr>
              <a:t> </a:t>
            </a:r>
            <a:r>
              <a:rPr sz="2000" spc="85" dirty="0">
                <a:solidFill>
                  <a:srgbClr val="080808"/>
                </a:solidFill>
                <a:latin typeface="Times New Roman" panose="02020603050405020304" pitchFamily="18" charset="0"/>
                <a:cs typeface="Times New Roman" panose="02020603050405020304" pitchFamily="18" charset="0"/>
              </a:rPr>
              <a:t>the</a:t>
            </a:r>
            <a:r>
              <a:rPr sz="2000" spc="20" dirty="0">
                <a:solidFill>
                  <a:srgbClr val="080808"/>
                </a:solidFill>
                <a:latin typeface="Times New Roman" panose="02020603050405020304" pitchFamily="18" charset="0"/>
                <a:cs typeface="Times New Roman" panose="02020603050405020304" pitchFamily="18" charset="0"/>
              </a:rPr>
              <a:t> </a:t>
            </a:r>
            <a:r>
              <a:rPr sz="2000" spc="65" dirty="0">
                <a:solidFill>
                  <a:srgbClr val="080808"/>
                </a:solidFill>
                <a:latin typeface="Times New Roman" panose="02020603050405020304" pitchFamily="18" charset="0"/>
                <a:cs typeface="Times New Roman" panose="02020603050405020304" pitchFamily="18" charset="0"/>
              </a:rPr>
              <a:t>fact </a:t>
            </a:r>
            <a:r>
              <a:rPr sz="2000" spc="55" dirty="0">
                <a:solidFill>
                  <a:srgbClr val="080808"/>
                </a:solidFill>
                <a:latin typeface="Times New Roman" panose="02020603050405020304" pitchFamily="18" charset="0"/>
                <a:cs typeface="Times New Roman" panose="02020603050405020304" pitchFamily="18" charset="0"/>
              </a:rPr>
              <a:t>verification</a:t>
            </a:r>
            <a:r>
              <a:rPr sz="2000" spc="5" dirty="0">
                <a:solidFill>
                  <a:srgbClr val="080808"/>
                </a:solidFill>
                <a:latin typeface="Times New Roman" panose="02020603050405020304" pitchFamily="18" charset="0"/>
                <a:cs typeface="Times New Roman" panose="02020603050405020304" pitchFamily="18" charset="0"/>
              </a:rPr>
              <a:t> </a:t>
            </a:r>
            <a:r>
              <a:rPr sz="2000" spc="45" dirty="0">
                <a:solidFill>
                  <a:srgbClr val="080808"/>
                </a:solidFill>
                <a:latin typeface="Times New Roman" panose="02020603050405020304" pitchFamily="18" charset="0"/>
                <a:cs typeface="Times New Roman" panose="02020603050405020304" pitchFamily="18" charset="0"/>
              </a:rPr>
              <a:t>module.</a:t>
            </a:r>
            <a:r>
              <a:rPr sz="2000" spc="-90" dirty="0">
                <a:solidFill>
                  <a:srgbClr val="080808"/>
                </a:solidFill>
                <a:latin typeface="Times New Roman" panose="02020603050405020304" pitchFamily="18" charset="0"/>
                <a:cs typeface="Times New Roman" panose="02020603050405020304" pitchFamily="18" charset="0"/>
              </a:rPr>
              <a:t> </a:t>
            </a:r>
            <a:r>
              <a:rPr sz="2000" spc="85" dirty="0">
                <a:solidFill>
                  <a:srgbClr val="080808"/>
                </a:solidFill>
                <a:latin typeface="Times New Roman" panose="02020603050405020304" pitchFamily="18" charset="0"/>
                <a:cs typeface="Times New Roman" panose="02020603050405020304" pitchFamily="18" charset="0"/>
              </a:rPr>
              <a:t>Non-</a:t>
            </a:r>
            <a:r>
              <a:rPr sz="2000" spc="80" dirty="0">
                <a:solidFill>
                  <a:srgbClr val="080808"/>
                </a:solidFill>
                <a:latin typeface="Times New Roman" panose="02020603050405020304" pitchFamily="18" charset="0"/>
                <a:cs typeface="Times New Roman" panose="02020603050405020304" pitchFamily="18" charset="0"/>
              </a:rPr>
              <a:t>rumor</a:t>
            </a:r>
            <a:r>
              <a:rPr sz="2000" spc="114" dirty="0">
                <a:solidFill>
                  <a:srgbClr val="080808"/>
                </a:solidFill>
                <a:latin typeface="Times New Roman" panose="02020603050405020304" pitchFamily="18" charset="0"/>
                <a:cs typeface="Times New Roman" panose="02020603050405020304" pitchFamily="18" charset="0"/>
              </a:rPr>
              <a:t> </a:t>
            </a:r>
            <a:r>
              <a:rPr sz="2000" spc="60" dirty="0">
                <a:solidFill>
                  <a:srgbClr val="080808"/>
                </a:solidFill>
                <a:latin typeface="Times New Roman" panose="02020603050405020304" pitchFamily="18" charset="0"/>
                <a:cs typeface="Times New Roman" panose="02020603050405020304" pitchFamily="18" charset="0"/>
              </a:rPr>
              <a:t>predictions </a:t>
            </a:r>
            <a:r>
              <a:rPr sz="2000" dirty="0">
                <a:solidFill>
                  <a:srgbClr val="080808"/>
                </a:solidFill>
                <a:latin typeface="Times New Roman" panose="02020603050405020304" pitchFamily="18" charset="0"/>
                <a:cs typeface="Times New Roman" panose="02020603050405020304" pitchFamily="18" charset="0"/>
              </a:rPr>
              <a:t>bypass</a:t>
            </a:r>
            <a:r>
              <a:rPr sz="2000" spc="-5" dirty="0">
                <a:solidFill>
                  <a:srgbClr val="080808"/>
                </a:solidFill>
                <a:latin typeface="Times New Roman" panose="02020603050405020304" pitchFamily="18" charset="0"/>
                <a:cs typeface="Times New Roman" panose="02020603050405020304" pitchFamily="18" charset="0"/>
              </a:rPr>
              <a:t> </a:t>
            </a:r>
            <a:r>
              <a:rPr sz="2000" dirty="0">
                <a:solidFill>
                  <a:srgbClr val="080808"/>
                </a:solidFill>
                <a:latin typeface="Times New Roman" panose="02020603050405020304" pitchFamily="18" charset="0"/>
                <a:cs typeface="Times New Roman" panose="02020603050405020304" pitchFamily="18" charset="0"/>
              </a:rPr>
              <a:t>it</a:t>
            </a:r>
            <a:r>
              <a:rPr sz="2000" spc="185" dirty="0">
                <a:solidFill>
                  <a:srgbClr val="080808"/>
                </a:solidFill>
                <a:latin typeface="Times New Roman" panose="02020603050405020304" pitchFamily="18" charset="0"/>
                <a:cs typeface="Times New Roman" panose="02020603050405020304" pitchFamily="18" charset="0"/>
              </a:rPr>
              <a:t> </a:t>
            </a:r>
            <a:r>
              <a:rPr sz="2000" dirty="0">
                <a:solidFill>
                  <a:srgbClr val="080808"/>
                </a:solidFill>
                <a:latin typeface="Times New Roman" panose="02020603050405020304" pitchFamily="18" charset="0"/>
                <a:cs typeface="Times New Roman" panose="02020603050405020304" pitchFamily="18" charset="0"/>
              </a:rPr>
              <a:t>to</a:t>
            </a:r>
            <a:r>
              <a:rPr sz="2000" spc="280" dirty="0">
                <a:solidFill>
                  <a:srgbClr val="080808"/>
                </a:solidFill>
                <a:latin typeface="Times New Roman" panose="02020603050405020304" pitchFamily="18" charset="0"/>
                <a:cs typeface="Times New Roman" panose="02020603050405020304" pitchFamily="18" charset="0"/>
              </a:rPr>
              <a:t> </a:t>
            </a:r>
            <a:r>
              <a:rPr sz="2000" dirty="0">
                <a:solidFill>
                  <a:srgbClr val="080808"/>
                </a:solidFill>
                <a:latin typeface="Times New Roman" panose="02020603050405020304" pitchFamily="18" charset="0"/>
                <a:cs typeface="Times New Roman" panose="02020603050405020304" pitchFamily="18" charset="0"/>
              </a:rPr>
              <a:t>preserve</a:t>
            </a:r>
            <a:r>
              <a:rPr sz="2000" spc="75" dirty="0">
                <a:solidFill>
                  <a:srgbClr val="080808"/>
                </a:solidFill>
                <a:latin typeface="Times New Roman" panose="02020603050405020304" pitchFamily="18" charset="0"/>
                <a:cs typeface="Times New Roman" panose="02020603050405020304" pitchFamily="18" charset="0"/>
              </a:rPr>
              <a:t> </a:t>
            </a:r>
            <a:r>
              <a:rPr sz="2000" spc="-10" dirty="0">
                <a:solidFill>
                  <a:srgbClr val="080808"/>
                </a:solidFill>
                <a:latin typeface="Times New Roman" panose="02020603050405020304" pitchFamily="18" charset="0"/>
                <a:cs typeface="Times New Roman" panose="02020603050405020304" pitchFamily="18" charset="0"/>
              </a:rPr>
              <a:t>efficiency.</a:t>
            </a:r>
            <a:endParaRPr sz="2000" dirty="0">
              <a:solidFill>
                <a:srgbClr val="080808"/>
              </a:solidFill>
              <a:latin typeface="Times New Roman" panose="02020603050405020304" pitchFamily="18" charset="0"/>
              <a:cs typeface="Times New Roman" panose="02020603050405020304" pitchFamily="18" charset="0"/>
            </a:endParaRPr>
          </a:p>
        </p:txBody>
      </p:sp>
      <p:sp>
        <p:nvSpPr>
          <p:cNvPr id="13" name="object 13"/>
          <p:cNvSpPr txBox="1"/>
          <p:nvPr/>
        </p:nvSpPr>
        <p:spPr>
          <a:xfrm>
            <a:off x="7631573" y="5224100"/>
            <a:ext cx="6017805" cy="623440"/>
          </a:xfrm>
          <a:prstGeom prst="rect">
            <a:avLst/>
          </a:prstGeom>
        </p:spPr>
        <p:txBody>
          <a:bodyPr vert="horz" wrap="square" lIns="0" tIns="3175" rIns="0" bIns="0" rtlCol="0">
            <a:spAutoFit/>
          </a:bodyPr>
          <a:lstStyle/>
          <a:p>
            <a:pPr marL="14604" marR="5080" indent="-2540">
              <a:lnSpc>
                <a:spcPct val="103800"/>
              </a:lnSpc>
              <a:spcBef>
                <a:spcPts val="25"/>
              </a:spcBef>
            </a:pPr>
            <a:r>
              <a:rPr sz="2000" spc="65" dirty="0">
                <a:solidFill>
                  <a:srgbClr val="080808"/>
                </a:solidFill>
                <a:latin typeface="Times New Roman" panose="02020603050405020304" pitchFamily="18" charset="0"/>
                <a:cs typeface="Times New Roman" panose="02020603050405020304" pitchFamily="18" charset="0"/>
              </a:rPr>
              <a:t>Gemini</a:t>
            </a:r>
            <a:r>
              <a:rPr sz="2000" spc="-20" dirty="0">
                <a:solidFill>
                  <a:srgbClr val="080808"/>
                </a:solidFill>
                <a:latin typeface="Times New Roman" panose="02020603050405020304" pitchFamily="18" charset="0"/>
                <a:cs typeface="Times New Roman" panose="02020603050405020304" pitchFamily="18" charset="0"/>
              </a:rPr>
              <a:t> </a:t>
            </a:r>
            <a:r>
              <a:rPr sz="2000" spc="60" dirty="0">
                <a:solidFill>
                  <a:srgbClr val="080808"/>
                </a:solidFill>
                <a:latin typeface="Times New Roman" panose="02020603050405020304" pitchFamily="18" charset="0"/>
                <a:cs typeface="Times New Roman" panose="02020603050405020304" pitchFamily="18" charset="0"/>
              </a:rPr>
              <a:t>extracts</a:t>
            </a:r>
            <a:r>
              <a:rPr sz="2000" spc="10" dirty="0">
                <a:solidFill>
                  <a:srgbClr val="080808"/>
                </a:solidFill>
                <a:latin typeface="Times New Roman" panose="02020603050405020304" pitchFamily="18" charset="0"/>
                <a:cs typeface="Times New Roman" panose="02020603050405020304" pitchFamily="18" charset="0"/>
              </a:rPr>
              <a:t> </a:t>
            </a:r>
            <a:r>
              <a:rPr sz="2000" dirty="0">
                <a:solidFill>
                  <a:srgbClr val="080808"/>
                </a:solidFill>
                <a:latin typeface="Times New Roman" panose="02020603050405020304" pitchFamily="18" charset="0"/>
                <a:cs typeface="Times New Roman" panose="02020603050405020304" pitchFamily="18" charset="0"/>
              </a:rPr>
              <a:t>claims</a:t>
            </a:r>
            <a:r>
              <a:rPr sz="2000" spc="20" dirty="0">
                <a:solidFill>
                  <a:srgbClr val="080808"/>
                </a:solidFill>
                <a:latin typeface="Times New Roman" panose="02020603050405020304" pitchFamily="18" charset="0"/>
                <a:cs typeface="Times New Roman" panose="02020603050405020304" pitchFamily="18" charset="0"/>
              </a:rPr>
              <a:t> </a:t>
            </a:r>
            <a:r>
              <a:rPr sz="2000" spc="55" dirty="0">
                <a:solidFill>
                  <a:srgbClr val="080808"/>
                </a:solidFill>
                <a:latin typeface="Times New Roman" panose="02020603050405020304" pitchFamily="18" charset="0"/>
                <a:cs typeface="Times New Roman" panose="02020603050405020304" pitchFamily="18" charset="0"/>
              </a:rPr>
              <a:t>and</a:t>
            </a:r>
            <a:r>
              <a:rPr sz="2000" spc="-90" dirty="0">
                <a:solidFill>
                  <a:srgbClr val="080808"/>
                </a:solidFill>
                <a:latin typeface="Times New Roman" panose="02020603050405020304" pitchFamily="18" charset="0"/>
                <a:cs typeface="Times New Roman" panose="02020603050405020304" pitchFamily="18" charset="0"/>
              </a:rPr>
              <a:t> </a:t>
            </a:r>
            <a:r>
              <a:rPr sz="2000" spc="60" dirty="0">
                <a:solidFill>
                  <a:srgbClr val="080808"/>
                </a:solidFill>
                <a:latin typeface="Times New Roman" panose="02020603050405020304" pitchFamily="18" charset="0"/>
                <a:cs typeface="Times New Roman" panose="02020603050405020304" pitchFamily="18" charset="0"/>
              </a:rPr>
              <a:t>cross-</a:t>
            </a:r>
            <a:r>
              <a:rPr sz="2000" spc="55" dirty="0">
                <a:solidFill>
                  <a:srgbClr val="080808"/>
                </a:solidFill>
                <a:latin typeface="Times New Roman" panose="02020603050405020304" pitchFamily="18" charset="0"/>
                <a:cs typeface="Times New Roman" panose="02020603050405020304" pitchFamily="18" charset="0"/>
              </a:rPr>
              <a:t>references </a:t>
            </a:r>
            <a:r>
              <a:rPr sz="2000" dirty="0">
                <a:solidFill>
                  <a:srgbClr val="080808"/>
                </a:solidFill>
                <a:latin typeface="Times New Roman" panose="02020603050405020304" pitchFamily="18" charset="0"/>
                <a:cs typeface="Times New Roman" panose="02020603050405020304" pitchFamily="18" charset="0"/>
              </a:rPr>
              <a:t>Wikipedia,</a:t>
            </a:r>
            <a:r>
              <a:rPr sz="2000" spc="120" dirty="0">
                <a:solidFill>
                  <a:srgbClr val="080808"/>
                </a:solidFill>
                <a:latin typeface="Times New Roman" panose="02020603050405020304" pitchFamily="18" charset="0"/>
                <a:cs typeface="Times New Roman" panose="02020603050405020304" pitchFamily="18" charset="0"/>
              </a:rPr>
              <a:t> </a:t>
            </a:r>
            <a:r>
              <a:rPr sz="2000" spc="60" dirty="0">
                <a:solidFill>
                  <a:srgbClr val="080808"/>
                </a:solidFill>
                <a:latin typeface="Times New Roman" panose="02020603050405020304" pitchFamily="18" charset="0"/>
                <a:cs typeface="Times New Roman" panose="02020603050405020304" pitchFamily="18" charset="0"/>
              </a:rPr>
              <a:t>producing</a:t>
            </a:r>
            <a:r>
              <a:rPr sz="2000" spc="145" dirty="0">
                <a:solidFill>
                  <a:srgbClr val="080808"/>
                </a:solidFill>
                <a:latin typeface="Times New Roman" panose="02020603050405020304" pitchFamily="18" charset="0"/>
                <a:cs typeface="Times New Roman" panose="02020603050405020304" pitchFamily="18" charset="0"/>
              </a:rPr>
              <a:t> </a:t>
            </a:r>
            <a:r>
              <a:rPr sz="2000" spc="-45" dirty="0">
                <a:solidFill>
                  <a:srgbClr val="080808"/>
                </a:solidFill>
                <a:latin typeface="Times New Roman" panose="02020603050405020304" pitchFamily="18" charset="0"/>
                <a:cs typeface="Times New Roman" panose="02020603050405020304" pitchFamily="18" charset="0"/>
              </a:rPr>
              <a:t>a</a:t>
            </a:r>
            <a:r>
              <a:rPr sz="2000" dirty="0">
                <a:solidFill>
                  <a:srgbClr val="080808"/>
                </a:solidFill>
                <a:latin typeface="Times New Roman" panose="02020603050405020304" pitchFamily="18" charset="0"/>
                <a:cs typeface="Times New Roman" panose="02020603050405020304" pitchFamily="18" charset="0"/>
              </a:rPr>
              <a:t> scalar</a:t>
            </a:r>
            <a:r>
              <a:rPr sz="2000" spc="100" dirty="0">
                <a:solidFill>
                  <a:srgbClr val="080808"/>
                </a:solidFill>
                <a:latin typeface="Times New Roman" panose="02020603050405020304" pitchFamily="18" charset="0"/>
                <a:cs typeface="Times New Roman" panose="02020603050405020304" pitchFamily="18" charset="0"/>
              </a:rPr>
              <a:t> </a:t>
            </a:r>
            <a:r>
              <a:rPr sz="2000" spc="-10" dirty="0">
                <a:solidFill>
                  <a:srgbClr val="080808"/>
                </a:solidFill>
                <a:latin typeface="Times New Roman" panose="02020603050405020304" pitchFamily="18" charset="0"/>
                <a:cs typeface="Times New Roman" panose="02020603050405020304" pitchFamily="18" charset="0"/>
              </a:rPr>
              <a:t>fact_score </a:t>
            </a:r>
            <a:r>
              <a:rPr sz="2000" spc="80" dirty="0">
                <a:solidFill>
                  <a:srgbClr val="080808"/>
                </a:solidFill>
                <a:latin typeface="Times New Roman" panose="02020603050405020304" pitchFamily="18" charset="0"/>
                <a:cs typeface="Times New Roman" panose="02020603050405020304" pitchFamily="18" charset="0"/>
              </a:rPr>
              <a:t>between</a:t>
            </a:r>
            <a:r>
              <a:rPr sz="2000" spc="-80" dirty="0">
                <a:solidFill>
                  <a:srgbClr val="080808"/>
                </a:solidFill>
                <a:latin typeface="Times New Roman" panose="02020603050405020304" pitchFamily="18" charset="0"/>
                <a:cs typeface="Times New Roman" panose="02020603050405020304" pitchFamily="18" charset="0"/>
              </a:rPr>
              <a:t> </a:t>
            </a:r>
            <a:r>
              <a:rPr sz="2000" spc="75" dirty="0">
                <a:solidFill>
                  <a:srgbClr val="080808"/>
                </a:solidFill>
                <a:latin typeface="Times New Roman" panose="02020603050405020304" pitchFamily="18" charset="0"/>
                <a:cs typeface="Times New Roman" panose="02020603050405020304" pitchFamily="18" charset="0"/>
              </a:rPr>
              <a:t>0</a:t>
            </a:r>
            <a:r>
              <a:rPr sz="2000" spc="15" dirty="0">
                <a:solidFill>
                  <a:srgbClr val="080808"/>
                </a:solidFill>
                <a:latin typeface="Times New Roman" panose="02020603050405020304" pitchFamily="18" charset="0"/>
                <a:cs typeface="Times New Roman" panose="02020603050405020304" pitchFamily="18" charset="0"/>
              </a:rPr>
              <a:t> </a:t>
            </a:r>
            <a:r>
              <a:rPr sz="2000" spc="60" dirty="0">
                <a:solidFill>
                  <a:srgbClr val="080808"/>
                </a:solidFill>
                <a:latin typeface="Times New Roman" panose="02020603050405020304" pitchFamily="18" charset="0"/>
                <a:cs typeface="Times New Roman" panose="02020603050405020304" pitchFamily="18" charset="0"/>
              </a:rPr>
              <a:t>and</a:t>
            </a:r>
            <a:r>
              <a:rPr sz="2000" spc="-315" dirty="0">
                <a:solidFill>
                  <a:srgbClr val="080808"/>
                </a:solidFill>
                <a:latin typeface="Times New Roman" panose="02020603050405020304" pitchFamily="18" charset="0"/>
                <a:cs typeface="Times New Roman" panose="02020603050405020304" pitchFamily="18" charset="0"/>
              </a:rPr>
              <a:t> </a:t>
            </a:r>
            <a:r>
              <a:rPr sz="2000" spc="-25" dirty="0">
                <a:solidFill>
                  <a:srgbClr val="080808"/>
                </a:solidFill>
                <a:latin typeface="Times New Roman" panose="02020603050405020304" pitchFamily="18" charset="0"/>
                <a:cs typeface="Times New Roman" panose="02020603050405020304" pitchFamily="18" charset="0"/>
              </a:rPr>
              <a:t>1.</a:t>
            </a:r>
            <a:endParaRPr sz="2000" dirty="0">
              <a:solidFill>
                <a:srgbClr val="080808"/>
              </a:solidFill>
              <a:latin typeface="Times New Roman" panose="02020603050405020304" pitchFamily="18" charset="0"/>
              <a:cs typeface="Times New Roman" panose="02020603050405020304" pitchFamily="18" charset="0"/>
            </a:endParaRPr>
          </a:p>
        </p:txBody>
      </p:sp>
      <p:sp>
        <p:nvSpPr>
          <p:cNvPr id="14" name="object 14"/>
          <p:cNvSpPr txBox="1"/>
          <p:nvPr/>
        </p:nvSpPr>
        <p:spPr>
          <a:xfrm>
            <a:off x="7619179" y="6646664"/>
            <a:ext cx="6000026" cy="640367"/>
          </a:xfrm>
          <a:prstGeom prst="rect">
            <a:avLst/>
          </a:prstGeom>
        </p:spPr>
        <p:txBody>
          <a:bodyPr vert="horz" wrap="square" lIns="0" tIns="14604" rIns="0" bIns="0" rtlCol="0">
            <a:spAutoFit/>
          </a:bodyPr>
          <a:lstStyle/>
          <a:p>
            <a:pPr marL="12700" marR="5080" indent="1270">
              <a:lnSpc>
                <a:spcPct val="104700"/>
              </a:lnSpc>
              <a:spcBef>
                <a:spcPts val="114"/>
              </a:spcBef>
            </a:pPr>
            <a:r>
              <a:rPr sz="2000" u="heavy" spc="150" dirty="0">
                <a:solidFill>
                  <a:srgbClr val="080808"/>
                </a:solidFill>
                <a:uFill>
                  <a:solidFill>
                    <a:srgbClr val="6B6B69"/>
                  </a:solidFill>
                </a:uFill>
                <a:latin typeface="Times New Roman" panose="02020603050405020304" pitchFamily="18" charset="0"/>
                <a:cs typeface="Times New Roman" panose="02020603050405020304" pitchFamily="18" charset="0"/>
              </a:rPr>
              <a:t>Score&gt;</a:t>
            </a:r>
            <a:r>
              <a:rPr sz="2000" u="none" spc="15" dirty="0">
                <a:solidFill>
                  <a:srgbClr val="080808"/>
                </a:solidFill>
                <a:latin typeface="Times New Roman" panose="02020603050405020304" pitchFamily="18" charset="0"/>
                <a:cs typeface="Times New Roman" panose="02020603050405020304" pitchFamily="18" charset="0"/>
              </a:rPr>
              <a:t> </a:t>
            </a:r>
            <a:r>
              <a:rPr sz="2000" u="none" dirty="0">
                <a:solidFill>
                  <a:srgbClr val="080808"/>
                </a:solidFill>
                <a:latin typeface="Times New Roman" panose="02020603050405020304" pitchFamily="18" charset="0"/>
                <a:cs typeface="Times New Roman" panose="02020603050405020304" pitchFamily="18" charset="0"/>
              </a:rPr>
              <a:t>0.66</a:t>
            </a:r>
            <a:r>
              <a:rPr sz="2000" u="none" spc="-130" dirty="0">
                <a:solidFill>
                  <a:srgbClr val="080808"/>
                </a:solidFill>
                <a:latin typeface="Times New Roman" panose="02020603050405020304" pitchFamily="18" charset="0"/>
                <a:cs typeface="Times New Roman" panose="02020603050405020304" pitchFamily="18" charset="0"/>
              </a:rPr>
              <a:t> </a:t>
            </a:r>
            <a:r>
              <a:rPr sz="2000" u="heavy" spc="190" dirty="0">
                <a:solidFill>
                  <a:srgbClr val="080808"/>
                </a:solidFill>
                <a:uFill>
                  <a:solidFill>
                    <a:srgbClr val="6B6B69"/>
                  </a:solidFill>
                </a:uFill>
                <a:latin typeface="Times New Roman" panose="02020603050405020304" pitchFamily="18" charset="0"/>
                <a:cs typeface="Times New Roman" panose="02020603050405020304" pitchFamily="18" charset="0"/>
              </a:rPr>
              <a:t>➔true.Score&lt;</a:t>
            </a:r>
            <a:r>
              <a:rPr sz="2000" u="none" spc="290" dirty="0">
                <a:solidFill>
                  <a:srgbClr val="080808"/>
                </a:solidFill>
                <a:latin typeface="Times New Roman" panose="02020603050405020304" pitchFamily="18" charset="0"/>
                <a:cs typeface="Times New Roman" panose="02020603050405020304" pitchFamily="18" charset="0"/>
              </a:rPr>
              <a:t> </a:t>
            </a:r>
            <a:r>
              <a:rPr sz="2000" u="none" dirty="0">
                <a:solidFill>
                  <a:srgbClr val="080808"/>
                </a:solidFill>
                <a:latin typeface="Times New Roman" panose="02020603050405020304" pitchFamily="18" charset="0"/>
                <a:cs typeface="Times New Roman" panose="02020603050405020304" pitchFamily="18" charset="0"/>
              </a:rPr>
              <a:t>0.34</a:t>
            </a:r>
            <a:r>
              <a:rPr sz="2000" u="none" spc="-175" dirty="0">
                <a:solidFill>
                  <a:srgbClr val="080808"/>
                </a:solidFill>
                <a:latin typeface="Times New Roman" panose="02020603050405020304" pitchFamily="18" charset="0"/>
                <a:cs typeface="Times New Roman" panose="02020603050405020304" pitchFamily="18" charset="0"/>
              </a:rPr>
              <a:t> </a:t>
            </a:r>
            <a:r>
              <a:rPr sz="2000" u="none" spc="60" dirty="0">
                <a:solidFill>
                  <a:srgbClr val="080808"/>
                </a:solidFill>
                <a:latin typeface="Times New Roman" panose="02020603050405020304" pitchFamily="18" charset="0"/>
                <a:cs typeface="Times New Roman" panose="02020603050405020304" pitchFamily="18" charset="0"/>
              </a:rPr>
              <a:t>➔</a:t>
            </a:r>
            <a:r>
              <a:rPr sz="2000" u="none" spc="190" dirty="0">
                <a:solidFill>
                  <a:srgbClr val="080808"/>
                </a:solidFill>
                <a:latin typeface="Times New Roman" panose="02020603050405020304" pitchFamily="18" charset="0"/>
                <a:cs typeface="Times New Roman" panose="02020603050405020304" pitchFamily="18" charset="0"/>
              </a:rPr>
              <a:t>  </a:t>
            </a:r>
            <a:r>
              <a:rPr sz="2000" u="none" spc="-10" dirty="0">
                <a:solidFill>
                  <a:srgbClr val="080808"/>
                </a:solidFill>
                <a:latin typeface="Times New Roman" panose="02020603050405020304" pitchFamily="18" charset="0"/>
                <a:cs typeface="Times New Roman" panose="02020603050405020304" pitchFamily="18" charset="0"/>
              </a:rPr>
              <a:t>false. </a:t>
            </a:r>
            <a:r>
              <a:rPr sz="2000" u="none" spc="60" dirty="0">
                <a:solidFill>
                  <a:srgbClr val="080808"/>
                </a:solidFill>
                <a:latin typeface="Times New Roman" panose="02020603050405020304" pitchFamily="18" charset="0"/>
                <a:cs typeface="Times New Roman" panose="02020603050405020304" pitchFamily="18" charset="0"/>
              </a:rPr>
              <a:t>Grounded</a:t>
            </a:r>
            <a:r>
              <a:rPr sz="2000" u="none" spc="75" dirty="0">
                <a:solidFill>
                  <a:srgbClr val="080808"/>
                </a:solidFill>
                <a:latin typeface="Times New Roman" panose="02020603050405020304" pitchFamily="18" charset="0"/>
                <a:cs typeface="Times New Roman" panose="02020603050405020304" pitchFamily="18" charset="0"/>
              </a:rPr>
              <a:t> </a:t>
            </a:r>
            <a:r>
              <a:rPr sz="2000" u="none" spc="85" dirty="0">
                <a:solidFill>
                  <a:srgbClr val="080808"/>
                </a:solidFill>
                <a:latin typeface="Times New Roman" panose="02020603050405020304" pitchFamily="18" charset="0"/>
                <a:cs typeface="Times New Roman" panose="02020603050405020304" pitchFamily="18" charset="0"/>
              </a:rPr>
              <a:t>fact</a:t>
            </a:r>
            <a:r>
              <a:rPr sz="2000" u="none" spc="20" dirty="0">
                <a:solidFill>
                  <a:srgbClr val="080808"/>
                </a:solidFill>
                <a:latin typeface="Times New Roman" panose="02020603050405020304" pitchFamily="18" charset="0"/>
                <a:cs typeface="Times New Roman" panose="02020603050405020304" pitchFamily="18" charset="0"/>
              </a:rPr>
              <a:t> </a:t>
            </a:r>
            <a:r>
              <a:rPr sz="2000" u="none" dirty="0">
                <a:solidFill>
                  <a:srgbClr val="080808"/>
                </a:solidFill>
                <a:latin typeface="Times New Roman" panose="02020603050405020304" pitchFamily="18" charset="0"/>
                <a:cs typeface="Times New Roman" panose="02020603050405020304" pitchFamily="18" charset="0"/>
              </a:rPr>
              <a:t>label</a:t>
            </a:r>
            <a:r>
              <a:rPr sz="2000" u="none" spc="80" dirty="0">
                <a:solidFill>
                  <a:srgbClr val="080808"/>
                </a:solidFill>
                <a:latin typeface="Times New Roman" panose="02020603050405020304" pitchFamily="18" charset="0"/>
                <a:cs typeface="Times New Roman" panose="02020603050405020304" pitchFamily="18" charset="0"/>
              </a:rPr>
              <a:t> </a:t>
            </a:r>
            <a:r>
              <a:rPr sz="2000" u="none" dirty="0">
                <a:solidFill>
                  <a:srgbClr val="080808"/>
                </a:solidFill>
                <a:latin typeface="Times New Roman" panose="02020603050405020304" pitchFamily="18" charset="0"/>
                <a:cs typeface="Times New Roman" panose="02020603050405020304" pitchFamily="18" charset="0"/>
              </a:rPr>
              <a:t>overrides</a:t>
            </a:r>
            <a:r>
              <a:rPr sz="2000" u="none" spc="50" dirty="0">
                <a:solidFill>
                  <a:srgbClr val="080808"/>
                </a:solidFill>
                <a:latin typeface="Times New Roman" panose="02020603050405020304" pitchFamily="18" charset="0"/>
                <a:cs typeface="Times New Roman" panose="02020603050405020304" pitchFamily="18" charset="0"/>
              </a:rPr>
              <a:t> </a:t>
            </a:r>
            <a:r>
              <a:rPr sz="2000" u="none" dirty="0">
                <a:solidFill>
                  <a:srgbClr val="080808"/>
                </a:solidFill>
                <a:latin typeface="Times New Roman" panose="02020603050405020304" pitchFamily="18" charset="0"/>
                <a:cs typeface="Times New Roman" panose="02020603050405020304" pitchFamily="18" charset="0"/>
              </a:rPr>
              <a:t>the</a:t>
            </a:r>
            <a:r>
              <a:rPr sz="2000" u="none" spc="290" dirty="0">
                <a:solidFill>
                  <a:srgbClr val="080808"/>
                </a:solidFill>
                <a:latin typeface="Times New Roman" panose="02020603050405020304" pitchFamily="18" charset="0"/>
                <a:cs typeface="Times New Roman" panose="02020603050405020304" pitchFamily="18" charset="0"/>
              </a:rPr>
              <a:t> </a:t>
            </a:r>
            <a:r>
              <a:rPr sz="2000" u="none" dirty="0">
                <a:solidFill>
                  <a:srgbClr val="080808"/>
                </a:solidFill>
                <a:latin typeface="Times New Roman" panose="02020603050405020304" pitchFamily="18" charset="0"/>
                <a:cs typeface="Times New Roman" panose="02020603050405020304" pitchFamily="18" charset="0"/>
              </a:rPr>
              <a:t>baseline</a:t>
            </a:r>
            <a:r>
              <a:rPr sz="2000" u="none" spc="70" dirty="0">
                <a:solidFill>
                  <a:srgbClr val="080808"/>
                </a:solidFill>
                <a:latin typeface="Times New Roman" panose="02020603050405020304" pitchFamily="18" charset="0"/>
                <a:cs typeface="Times New Roman" panose="02020603050405020304" pitchFamily="18" charset="0"/>
              </a:rPr>
              <a:t> </a:t>
            </a:r>
            <a:r>
              <a:rPr sz="2000" u="none" spc="-25" dirty="0">
                <a:solidFill>
                  <a:srgbClr val="080808"/>
                </a:solidFill>
                <a:latin typeface="Times New Roman" panose="02020603050405020304" pitchFamily="18" charset="0"/>
                <a:cs typeface="Times New Roman" panose="02020603050405020304" pitchFamily="18" charset="0"/>
              </a:rPr>
              <a:t>to </a:t>
            </a:r>
            <a:r>
              <a:rPr sz="2000" u="none" spc="50" dirty="0">
                <a:solidFill>
                  <a:srgbClr val="080808"/>
                </a:solidFill>
                <a:latin typeface="Times New Roman" panose="02020603050405020304" pitchFamily="18" charset="0"/>
                <a:cs typeface="Times New Roman" panose="02020603050405020304" pitchFamily="18" charset="0"/>
              </a:rPr>
              <a:t>yield</a:t>
            </a:r>
            <a:r>
              <a:rPr sz="2000" u="none" spc="-125" dirty="0">
                <a:solidFill>
                  <a:srgbClr val="080808"/>
                </a:solidFill>
                <a:latin typeface="Times New Roman" panose="02020603050405020304" pitchFamily="18" charset="0"/>
                <a:cs typeface="Times New Roman" panose="02020603050405020304" pitchFamily="18" charset="0"/>
              </a:rPr>
              <a:t> </a:t>
            </a:r>
            <a:r>
              <a:rPr sz="2000" u="none" spc="50" dirty="0">
                <a:solidFill>
                  <a:srgbClr val="080808"/>
                </a:solidFill>
                <a:latin typeface="Times New Roman" panose="02020603050405020304" pitchFamily="18" charset="0"/>
                <a:cs typeface="Times New Roman" panose="02020603050405020304" pitchFamily="18" charset="0"/>
              </a:rPr>
              <a:t>the</a:t>
            </a:r>
            <a:r>
              <a:rPr sz="2000" u="none" spc="25" dirty="0">
                <a:solidFill>
                  <a:srgbClr val="080808"/>
                </a:solidFill>
                <a:latin typeface="Times New Roman" panose="02020603050405020304" pitchFamily="18" charset="0"/>
                <a:cs typeface="Times New Roman" panose="02020603050405020304" pitchFamily="18" charset="0"/>
              </a:rPr>
              <a:t> </a:t>
            </a:r>
            <a:r>
              <a:rPr sz="2000" u="none" spc="-10" dirty="0">
                <a:solidFill>
                  <a:srgbClr val="080808"/>
                </a:solidFill>
                <a:latin typeface="Times New Roman" panose="02020603050405020304" pitchFamily="18" charset="0"/>
                <a:cs typeface="Times New Roman" panose="02020603050405020304" pitchFamily="18" charset="0"/>
              </a:rPr>
              <a:t>final_label.</a:t>
            </a:r>
            <a:endParaRPr sz="2000" dirty="0">
              <a:solidFill>
                <a:srgbClr val="080808"/>
              </a:solidFill>
              <a:latin typeface="Times New Roman" panose="02020603050405020304" pitchFamily="18" charset="0"/>
              <a:cs typeface="Times New Roman" panose="02020603050405020304" pitchFamily="18" charset="0"/>
            </a:endParaRPr>
          </a:p>
        </p:txBody>
      </p:sp>
      <p:sp>
        <p:nvSpPr>
          <p:cNvPr id="15" name="object 15"/>
          <p:cNvSpPr/>
          <p:nvPr/>
        </p:nvSpPr>
        <p:spPr>
          <a:xfrm>
            <a:off x="12638275" y="7705047"/>
            <a:ext cx="571500" cy="156845"/>
          </a:xfrm>
          <a:custGeom>
            <a:avLst/>
            <a:gdLst/>
            <a:ahLst/>
            <a:cxnLst/>
            <a:rect l="l" t="t" r="r" b="b"/>
            <a:pathLst>
              <a:path w="571500" h="156845">
                <a:moveTo>
                  <a:pt x="571016" y="156301"/>
                </a:moveTo>
                <a:lnTo>
                  <a:pt x="0" y="156301"/>
                </a:lnTo>
                <a:lnTo>
                  <a:pt x="0" y="0"/>
                </a:lnTo>
                <a:lnTo>
                  <a:pt x="571016" y="0"/>
                </a:lnTo>
                <a:lnTo>
                  <a:pt x="571016" y="156301"/>
                </a:lnTo>
                <a:close/>
              </a:path>
            </a:pathLst>
          </a:custGeom>
          <a:solidFill>
            <a:srgbClr val="F2F0EB"/>
          </a:solidFill>
        </p:spPr>
        <p:txBody>
          <a:bodyPr wrap="square" lIns="0" tIns="0" rIns="0" bIns="0" rtlCol="0"/>
          <a:lstStyle/>
          <a:p>
            <a:endParaRPr>
              <a:solidFill>
                <a:srgbClr val="080808"/>
              </a:solidFill>
              <a:latin typeface="Times New Roman" panose="02020603050405020304" pitchFamily="18" charset="0"/>
              <a:cs typeface="Times New Roman" panose="02020603050405020304" pitchFamily="18" charset="0"/>
            </a:endParaRPr>
          </a:p>
        </p:txBody>
      </p:sp>
      <p:sp>
        <p:nvSpPr>
          <p:cNvPr id="16" name="object 16"/>
          <p:cNvSpPr txBox="1"/>
          <p:nvPr/>
        </p:nvSpPr>
        <p:spPr>
          <a:xfrm>
            <a:off x="12625572" y="7692338"/>
            <a:ext cx="1384300" cy="156581"/>
          </a:xfrm>
          <a:prstGeom prst="rect">
            <a:avLst/>
          </a:prstGeom>
        </p:spPr>
        <p:txBody>
          <a:bodyPr vert="horz" wrap="square" lIns="0" tIns="0" rIns="0" bIns="0" rtlCol="0">
            <a:spAutoFit/>
          </a:bodyPr>
          <a:lstStyle/>
          <a:p>
            <a:pPr marL="12700">
              <a:lnSpc>
                <a:spcPts val="1250"/>
              </a:lnSpc>
            </a:pPr>
            <a:r>
              <a:rPr sz="900" spc="60" dirty="0">
                <a:solidFill>
                  <a:srgbClr val="080808"/>
                </a:solidFill>
                <a:latin typeface="Times New Roman" panose="02020603050405020304" pitchFamily="18" charset="0"/>
                <a:cs typeface="Times New Roman" panose="02020603050405020304" pitchFamily="18" charset="0"/>
              </a:rPr>
              <a:t>Made</a:t>
            </a:r>
            <a:r>
              <a:rPr sz="900" spc="-70" dirty="0">
                <a:solidFill>
                  <a:srgbClr val="080808"/>
                </a:solidFill>
                <a:latin typeface="Times New Roman" panose="02020603050405020304" pitchFamily="18" charset="0"/>
                <a:cs typeface="Times New Roman" panose="02020603050405020304" pitchFamily="18" charset="0"/>
              </a:rPr>
              <a:t> </a:t>
            </a:r>
            <a:r>
              <a:rPr sz="900" spc="65" dirty="0">
                <a:solidFill>
                  <a:srgbClr val="080808"/>
                </a:solidFill>
                <a:latin typeface="Times New Roman" panose="02020603050405020304" pitchFamily="18" charset="0"/>
                <a:cs typeface="Times New Roman" panose="02020603050405020304" pitchFamily="18" charset="0"/>
              </a:rPr>
              <a:t>with</a:t>
            </a:r>
            <a:r>
              <a:rPr sz="900" spc="100" dirty="0">
                <a:solidFill>
                  <a:srgbClr val="080808"/>
                </a:solidFill>
                <a:latin typeface="Times New Roman" panose="02020603050405020304" pitchFamily="18" charset="0"/>
                <a:cs typeface="Times New Roman" panose="02020603050405020304" pitchFamily="18" charset="0"/>
              </a:rPr>
              <a:t> </a:t>
            </a:r>
            <a:r>
              <a:rPr sz="1050" i="1" spc="-210" dirty="0">
                <a:solidFill>
                  <a:srgbClr val="080808"/>
                </a:solidFill>
                <a:latin typeface="Times New Roman" panose="02020603050405020304" pitchFamily="18" charset="0"/>
                <a:cs typeface="Times New Roman" panose="02020603050405020304" pitchFamily="18" charset="0"/>
              </a:rPr>
              <a:t>&lt;;,-</a:t>
            </a:r>
            <a:r>
              <a:rPr sz="1050" i="1" spc="-55" dirty="0">
                <a:solidFill>
                  <a:srgbClr val="080808"/>
                </a:solidFill>
                <a:latin typeface="Times New Roman" panose="02020603050405020304" pitchFamily="18" charset="0"/>
                <a:cs typeface="Times New Roman" panose="02020603050405020304" pitchFamily="18" charset="0"/>
              </a:rPr>
              <a:t> </a:t>
            </a:r>
            <a:r>
              <a:rPr sz="1000" b="1" spc="-10" dirty="0">
                <a:solidFill>
                  <a:srgbClr val="080808"/>
                </a:solidFill>
                <a:latin typeface="Times New Roman" panose="02020603050405020304" pitchFamily="18" charset="0"/>
                <a:cs typeface="Times New Roman" panose="02020603050405020304" pitchFamily="18" charset="0"/>
              </a:rPr>
              <a:t>Chronicle</a:t>
            </a:r>
            <a:endParaRPr sz="1000">
              <a:solidFill>
                <a:srgbClr val="080808"/>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14" descr="$PPTXTitle"/>
          <p:cNvSpPr txBox="1">
            <a:spLocks noGrp="1"/>
          </p:cNvSpPr>
          <p:nvPr>
            <p:ph type="title"/>
          </p:nvPr>
        </p:nvSpPr>
        <p:spPr>
          <a:xfrm>
            <a:off x="643486" y="706582"/>
            <a:ext cx="5643014" cy="1352934"/>
          </a:xfrm>
          <a:prstGeom prst="rect">
            <a:avLst/>
          </a:prstGeom>
        </p:spPr>
        <p:txBody>
          <a:bodyPr vert="horz" wrap="square" lIns="0" tIns="13970" rIns="0" bIns="0" rtlCol="0">
            <a:spAutoFit/>
          </a:bodyPr>
          <a:lstStyle/>
          <a:p>
            <a:pPr marL="12700">
              <a:lnSpc>
                <a:spcPct val="100000"/>
              </a:lnSpc>
              <a:spcBef>
                <a:spcPts val="110"/>
              </a:spcBef>
            </a:pPr>
            <a:r>
              <a:rPr b="1" dirty="0">
                <a:solidFill>
                  <a:srgbClr val="080808"/>
                </a:solidFill>
              </a:rPr>
              <a:t>Technical</a:t>
            </a:r>
            <a:r>
              <a:rPr b="1" spc="220" dirty="0">
                <a:solidFill>
                  <a:srgbClr val="080808"/>
                </a:solidFill>
              </a:rPr>
              <a:t> </a:t>
            </a:r>
            <a:r>
              <a:rPr lang="en-US" b="1" spc="50" dirty="0">
                <a:solidFill>
                  <a:srgbClr val="080808"/>
                </a:solidFill>
              </a:rPr>
              <a:t>A</a:t>
            </a:r>
            <a:r>
              <a:rPr b="1" spc="50" dirty="0">
                <a:solidFill>
                  <a:srgbClr val="080808"/>
                </a:solidFill>
              </a:rPr>
              <a:t>rchitecture</a:t>
            </a:r>
          </a:p>
        </p:txBody>
      </p:sp>
      <p:sp>
        <p:nvSpPr>
          <p:cNvPr id="15" name="object 15"/>
          <p:cNvSpPr txBox="1">
            <a:spLocks noGrp="1"/>
          </p:cNvSpPr>
          <p:nvPr>
            <p:ph type="body" idx="1"/>
          </p:nvPr>
        </p:nvSpPr>
        <p:spPr>
          <a:xfrm>
            <a:off x="643486" y="2600325"/>
            <a:ext cx="6675120" cy="4985724"/>
          </a:xfrm>
          <a:prstGeom prst="rect">
            <a:avLst/>
          </a:prstGeom>
        </p:spPr>
        <p:txBody>
          <a:bodyPr vert="horz" wrap="square" lIns="0" tIns="3175" rIns="0" bIns="0" rtlCol="0">
            <a:spAutoFit/>
          </a:bodyPr>
          <a:lstStyle/>
          <a:p>
            <a:pPr marL="13335" marR="109855" indent="-1270">
              <a:lnSpc>
                <a:spcPct val="103800"/>
              </a:lnSpc>
              <a:spcBef>
                <a:spcPts val="25"/>
              </a:spcBef>
            </a:pPr>
            <a:r>
              <a:rPr sz="2200" spc="10" dirty="0">
                <a:solidFill>
                  <a:srgbClr val="080808"/>
                </a:solidFill>
                <a:latin typeface="Times New Roman" panose="02020603050405020304" pitchFamily="18" charset="0"/>
                <a:cs typeface="Times New Roman" panose="02020603050405020304" pitchFamily="18" charset="0"/>
              </a:rPr>
              <a:t>Five</a:t>
            </a:r>
            <a:r>
              <a:rPr sz="2200" spc="-95" dirty="0">
                <a:solidFill>
                  <a:srgbClr val="080808"/>
                </a:solidFill>
                <a:latin typeface="Times New Roman" panose="02020603050405020304" pitchFamily="18" charset="0"/>
                <a:cs typeface="Times New Roman" panose="02020603050405020304" pitchFamily="18" charset="0"/>
              </a:rPr>
              <a:t> </a:t>
            </a:r>
            <a:r>
              <a:rPr sz="2200" spc="65" dirty="0">
                <a:solidFill>
                  <a:srgbClr val="080808"/>
                </a:solidFill>
                <a:latin typeface="Times New Roman" panose="02020603050405020304" pitchFamily="18" charset="0"/>
                <a:cs typeface="Times New Roman" panose="02020603050405020304" pitchFamily="18" charset="0"/>
              </a:rPr>
              <a:t>modules</a:t>
            </a:r>
            <a:r>
              <a:rPr sz="2200" spc="-75" dirty="0">
                <a:solidFill>
                  <a:srgbClr val="080808"/>
                </a:solidFill>
                <a:latin typeface="Times New Roman" panose="02020603050405020304" pitchFamily="18" charset="0"/>
                <a:cs typeface="Times New Roman" panose="02020603050405020304" pitchFamily="18" charset="0"/>
              </a:rPr>
              <a:t> </a:t>
            </a:r>
            <a:r>
              <a:rPr sz="2200" spc="65" dirty="0">
                <a:solidFill>
                  <a:srgbClr val="080808"/>
                </a:solidFill>
                <a:latin typeface="Times New Roman" panose="02020603050405020304" pitchFamily="18" charset="0"/>
                <a:cs typeface="Times New Roman" panose="02020603050405020304" pitchFamily="18" charset="0"/>
              </a:rPr>
              <a:t>interact</a:t>
            </a:r>
            <a:r>
              <a:rPr sz="2200" spc="-10" dirty="0">
                <a:solidFill>
                  <a:srgbClr val="080808"/>
                </a:solidFill>
                <a:latin typeface="Times New Roman" panose="02020603050405020304" pitchFamily="18" charset="0"/>
                <a:cs typeface="Times New Roman" panose="02020603050405020304" pitchFamily="18" charset="0"/>
              </a:rPr>
              <a:t> </a:t>
            </a:r>
            <a:r>
              <a:rPr sz="2200" spc="10" dirty="0">
                <a:solidFill>
                  <a:srgbClr val="080808"/>
                </a:solidFill>
                <a:latin typeface="Times New Roman" panose="02020603050405020304" pitchFamily="18" charset="0"/>
                <a:cs typeface="Times New Roman" panose="02020603050405020304" pitchFamily="18" charset="0"/>
              </a:rPr>
              <a:t>across</a:t>
            </a:r>
            <a:r>
              <a:rPr sz="2200" spc="-40" dirty="0">
                <a:solidFill>
                  <a:srgbClr val="080808"/>
                </a:solidFill>
                <a:latin typeface="Times New Roman" panose="02020603050405020304" pitchFamily="18" charset="0"/>
                <a:cs typeface="Times New Roman" panose="02020603050405020304" pitchFamily="18" charset="0"/>
              </a:rPr>
              <a:t> </a:t>
            </a:r>
            <a:r>
              <a:rPr sz="2200" spc="10" dirty="0">
                <a:solidFill>
                  <a:srgbClr val="080808"/>
                </a:solidFill>
                <a:latin typeface="Times New Roman" panose="02020603050405020304" pitchFamily="18" charset="0"/>
                <a:cs typeface="Times New Roman" panose="02020603050405020304" pitchFamily="18" charset="0"/>
              </a:rPr>
              <a:t>the</a:t>
            </a:r>
            <a:r>
              <a:rPr sz="2200" spc="280" dirty="0">
                <a:solidFill>
                  <a:srgbClr val="080808"/>
                </a:solidFill>
                <a:latin typeface="Times New Roman" panose="02020603050405020304" pitchFamily="18" charset="0"/>
                <a:cs typeface="Times New Roman" panose="02020603050405020304" pitchFamily="18" charset="0"/>
              </a:rPr>
              <a:t> </a:t>
            </a:r>
            <a:r>
              <a:rPr sz="2200" spc="70" dirty="0">
                <a:solidFill>
                  <a:srgbClr val="080808"/>
                </a:solidFill>
                <a:latin typeface="Times New Roman" panose="02020603050405020304" pitchFamily="18" charset="0"/>
                <a:cs typeface="Times New Roman" panose="02020603050405020304" pitchFamily="18" charset="0"/>
              </a:rPr>
              <a:t>full</a:t>
            </a:r>
            <a:r>
              <a:rPr sz="2200" spc="-80" dirty="0">
                <a:solidFill>
                  <a:srgbClr val="080808"/>
                </a:solidFill>
                <a:latin typeface="Times New Roman" panose="02020603050405020304" pitchFamily="18" charset="0"/>
                <a:cs typeface="Times New Roman" panose="02020603050405020304" pitchFamily="18" charset="0"/>
              </a:rPr>
              <a:t> </a:t>
            </a:r>
            <a:r>
              <a:rPr sz="2200" spc="10" dirty="0">
                <a:solidFill>
                  <a:srgbClr val="080808"/>
                </a:solidFill>
                <a:latin typeface="Times New Roman" panose="02020603050405020304" pitchFamily="18" charset="0"/>
                <a:cs typeface="Times New Roman" panose="02020603050405020304" pitchFamily="18" charset="0"/>
              </a:rPr>
              <a:t>pipeline:</a:t>
            </a:r>
            <a:r>
              <a:rPr sz="2200" spc="-55" dirty="0">
                <a:solidFill>
                  <a:srgbClr val="080808"/>
                </a:solidFill>
                <a:latin typeface="Times New Roman" panose="02020603050405020304" pitchFamily="18" charset="0"/>
                <a:cs typeface="Times New Roman" panose="02020603050405020304" pitchFamily="18" charset="0"/>
              </a:rPr>
              <a:t> </a:t>
            </a:r>
            <a:r>
              <a:rPr sz="2200" spc="30" dirty="0">
                <a:solidFill>
                  <a:srgbClr val="080808"/>
                </a:solidFill>
                <a:latin typeface="Times New Roman" panose="02020603050405020304" pitchFamily="18" charset="0"/>
                <a:cs typeface="Times New Roman" panose="02020603050405020304" pitchFamily="18" charset="0"/>
              </a:rPr>
              <a:t>Data </a:t>
            </a:r>
            <a:r>
              <a:rPr sz="2200" spc="50" dirty="0">
                <a:solidFill>
                  <a:srgbClr val="080808"/>
                </a:solidFill>
                <a:latin typeface="Times New Roman" panose="02020603050405020304" pitchFamily="18" charset="0"/>
                <a:cs typeface="Times New Roman" panose="02020603050405020304" pitchFamily="18" charset="0"/>
              </a:rPr>
              <a:t>Preprocessing,</a:t>
            </a:r>
            <a:r>
              <a:rPr sz="2200" spc="-125" dirty="0">
                <a:solidFill>
                  <a:srgbClr val="080808"/>
                </a:solidFill>
                <a:latin typeface="Times New Roman" panose="02020603050405020304" pitchFamily="18" charset="0"/>
                <a:cs typeface="Times New Roman" panose="02020603050405020304" pitchFamily="18" charset="0"/>
              </a:rPr>
              <a:t> </a:t>
            </a:r>
            <a:r>
              <a:rPr sz="2200" spc="100" dirty="0">
                <a:solidFill>
                  <a:srgbClr val="080808"/>
                </a:solidFill>
                <a:latin typeface="Times New Roman" panose="02020603050405020304" pitchFamily="18" charset="0"/>
                <a:cs typeface="Times New Roman" panose="02020603050405020304" pitchFamily="18" charset="0"/>
              </a:rPr>
              <a:t>LLM</a:t>
            </a:r>
            <a:r>
              <a:rPr sz="2200" spc="-45" dirty="0">
                <a:solidFill>
                  <a:srgbClr val="080808"/>
                </a:solidFill>
                <a:latin typeface="Times New Roman" panose="02020603050405020304" pitchFamily="18" charset="0"/>
                <a:cs typeface="Times New Roman" panose="02020603050405020304" pitchFamily="18" charset="0"/>
              </a:rPr>
              <a:t> </a:t>
            </a:r>
            <a:r>
              <a:rPr sz="2200" spc="60" dirty="0">
                <a:solidFill>
                  <a:srgbClr val="080808"/>
                </a:solidFill>
                <a:latin typeface="Times New Roman" panose="02020603050405020304" pitchFamily="18" charset="0"/>
                <a:cs typeface="Times New Roman" panose="02020603050405020304" pitchFamily="18" charset="0"/>
              </a:rPr>
              <a:t>Augmentation,</a:t>
            </a:r>
            <a:r>
              <a:rPr sz="2200" spc="50" dirty="0">
                <a:solidFill>
                  <a:srgbClr val="080808"/>
                </a:solidFill>
                <a:latin typeface="Times New Roman" panose="02020603050405020304" pitchFamily="18" charset="0"/>
                <a:cs typeface="Times New Roman" panose="02020603050405020304" pitchFamily="18" charset="0"/>
              </a:rPr>
              <a:t> </a:t>
            </a:r>
            <a:r>
              <a:rPr sz="2200" spc="80" dirty="0">
                <a:solidFill>
                  <a:srgbClr val="080808"/>
                </a:solidFill>
                <a:latin typeface="Times New Roman" panose="02020603050405020304" pitchFamily="18" charset="0"/>
                <a:cs typeface="Times New Roman" panose="02020603050405020304" pitchFamily="18" charset="0"/>
              </a:rPr>
              <a:t>Emotion-</a:t>
            </a:r>
            <a:r>
              <a:rPr sz="2200" spc="75" dirty="0">
                <a:solidFill>
                  <a:srgbClr val="080808"/>
                </a:solidFill>
                <a:latin typeface="Times New Roman" panose="02020603050405020304" pitchFamily="18" charset="0"/>
                <a:cs typeface="Times New Roman" panose="02020603050405020304" pitchFamily="18" charset="0"/>
              </a:rPr>
              <a:t>Preserving</a:t>
            </a:r>
            <a:r>
              <a:rPr sz="2200" spc="-140" dirty="0">
                <a:solidFill>
                  <a:srgbClr val="080808"/>
                </a:solidFill>
                <a:latin typeface="Times New Roman" panose="02020603050405020304" pitchFamily="18" charset="0"/>
                <a:cs typeface="Times New Roman" panose="02020603050405020304" pitchFamily="18" charset="0"/>
              </a:rPr>
              <a:t> </a:t>
            </a:r>
            <a:r>
              <a:rPr sz="2200" spc="-10" dirty="0">
                <a:solidFill>
                  <a:srgbClr val="080808"/>
                </a:solidFill>
                <a:latin typeface="Times New Roman" panose="02020603050405020304" pitchFamily="18" charset="0"/>
                <a:cs typeface="Times New Roman" panose="02020603050405020304" pitchFamily="18" charset="0"/>
              </a:rPr>
              <a:t>Filter, </a:t>
            </a:r>
            <a:r>
              <a:rPr sz="2200" spc="50" dirty="0">
                <a:solidFill>
                  <a:srgbClr val="080808"/>
                </a:solidFill>
                <a:latin typeface="Times New Roman" panose="02020603050405020304" pitchFamily="18" charset="0"/>
                <a:cs typeface="Times New Roman" panose="02020603050405020304" pitchFamily="18" charset="0"/>
              </a:rPr>
              <a:t>Contrastive</a:t>
            </a:r>
            <a:r>
              <a:rPr sz="2200" spc="95" dirty="0">
                <a:solidFill>
                  <a:srgbClr val="080808"/>
                </a:solidFill>
                <a:latin typeface="Times New Roman" panose="02020603050405020304" pitchFamily="18" charset="0"/>
                <a:cs typeface="Times New Roman" panose="02020603050405020304" pitchFamily="18" charset="0"/>
              </a:rPr>
              <a:t> </a:t>
            </a:r>
            <a:r>
              <a:rPr sz="2200" dirty="0">
                <a:solidFill>
                  <a:srgbClr val="080808"/>
                </a:solidFill>
                <a:latin typeface="Times New Roman" panose="02020603050405020304" pitchFamily="18" charset="0"/>
                <a:cs typeface="Times New Roman" panose="02020603050405020304" pitchFamily="18" charset="0"/>
              </a:rPr>
              <a:t>Learning,</a:t>
            </a:r>
            <a:r>
              <a:rPr sz="2200" spc="15" dirty="0">
                <a:solidFill>
                  <a:srgbClr val="080808"/>
                </a:solidFill>
                <a:latin typeface="Times New Roman" panose="02020603050405020304" pitchFamily="18" charset="0"/>
                <a:cs typeface="Times New Roman" panose="02020603050405020304" pitchFamily="18" charset="0"/>
              </a:rPr>
              <a:t> </a:t>
            </a:r>
            <a:r>
              <a:rPr sz="2200" spc="55" dirty="0">
                <a:solidFill>
                  <a:srgbClr val="080808"/>
                </a:solidFill>
                <a:latin typeface="Times New Roman" panose="02020603050405020304" pitchFamily="18" charset="0"/>
                <a:cs typeface="Times New Roman" panose="02020603050405020304" pitchFamily="18" charset="0"/>
              </a:rPr>
              <a:t>and</a:t>
            </a:r>
            <a:r>
              <a:rPr sz="2200" spc="-35" dirty="0">
                <a:solidFill>
                  <a:srgbClr val="080808"/>
                </a:solidFill>
                <a:latin typeface="Times New Roman" panose="02020603050405020304" pitchFamily="18" charset="0"/>
                <a:cs typeface="Times New Roman" panose="02020603050405020304" pitchFamily="18" charset="0"/>
              </a:rPr>
              <a:t> </a:t>
            </a:r>
            <a:r>
              <a:rPr sz="2200" spc="60" dirty="0">
                <a:solidFill>
                  <a:srgbClr val="080808"/>
                </a:solidFill>
                <a:latin typeface="Times New Roman" panose="02020603050405020304" pitchFamily="18" charset="0"/>
                <a:cs typeface="Times New Roman" panose="02020603050405020304" pitchFamily="18" charset="0"/>
              </a:rPr>
              <a:t>Runtime</a:t>
            </a:r>
            <a:r>
              <a:rPr sz="2200" spc="30" dirty="0">
                <a:solidFill>
                  <a:srgbClr val="080808"/>
                </a:solidFill>
                <a:latin typeface="Times New Roman" panose="02020603050405020304" pitchFamily="18" charset="0"/>
                <a:cs typeface="Times New Roman" panose="02020603050405020304" pitchFamily="18" charset="0"/>
              </a:rPr>
              <a:t> </a:t>
            </a:r>
            <a:r>
              <a:rPr sz="2200" dirty="0">
                <a:solidFill>
                  <a:srgbClr val="080808"/>
                </a:solidFill>
                <a:latin typeface="Times New Roman" panose="02020603050405020304" pitchFamily="18" charset="0"/>
                <a:cs typeface="Times New Roman" panose="02020603050405020304" pitchFamily="18" charset="0"/>
              </a:rPr>
              <a:t>Fact </a:t>
            </a:r>
            <a:r>
              <a:rPr sz="2200" spc="-10" dirty="0">
                <a:solidFill>
                  <a:srgbClr val="080808"/>
                </a:solidFill>
                <a:latin typeface="Times New Roman" panose="02020603050405020304" pitchFamily="18" charset="0"/>
                <a:cs typeface="Times New Roman" panose="02020603050405020304" pitchFamily="18" charset="0"/>
              </a:rPr>
              <a:t>Verification.</a:t>
            </a:r>
          </a:p>
          <a:p>
            <a:pPr marL="14604">
              <a:lnSpc>
                <a:spcPct val="100000"/>
              </a:lnSpc>
              <a:spcBef>
                <a:spcPts val="5"/>
              </a:spcBef>
            </a:pPr>
            <a:r>
              <a:rPr sz="2200" dirty="0">
                <a:solidFill>
                  <a:srgbClr val="080808"/>
                </a:solidFill>
                <a:latin typeface="Times New Roman" panose="02020603050405020304" pitchFamily="18" charset="0"/>
                <a:cs typeface="Times New Roman" panose="02020603050405020304" pitchFamily="18" charset="0"/>
              </a:rPr>
              <a:t>Key</a:t>
            </a:r>
            <a:r>
              <a:rPr sz="2200" spc="-75" dirty="0">
                <a:solidFill>
                  <a:srgbClr val="080808"/>
                </a:solidFill>
                <a:latin typeface="Times New Roman" panose="02020603050405020304" pitchFamily="18" charset="0"/>
                <a:cs typeface="Times New Roman" panose="02020603050405020304" pitchFamily="18" charset="0"/>
              </a:rPr>
              <a:t> </a:t>
            </a:r>
            <a:r>
              <a:rPr sz="2200" spc="55" dirty="0">
                <a:solidFill>
                  <a:srgbClr val="080808"/>
                </a:solidFill>
                <a:latin typeface="Times New Roman" panose="02020603050405020304" pitchFamily="18" charset="0"/>
                <a:cs typeface="Times New Roman" panose="02020603050405020304" pitchFamily="18" charset="0"/>
              </a:rPr>
              <a:t>design</a:t>
            </a:r>
            <a:r>
              <a:rPr sz="2200" spc="-60" dirty="0">
                <a:solidFill>
                  <a:srgbClr val="080808"/>
                </a:solidFill>
                <a:latin typeface="Times New Roman" panose="02020603050405020304" pitchFamily="18" charset="0"/>
                <a:cs typeface="Times New Roman" panose="02020603050405020304" pitchFamily="18" charset="0"/>
              </a:rPr>
              <a:t> </a:t>
            </a:r>
            <a:r>
              <a:rPr sz="2200" spc="-10" dirty="0">
                <a:solidFill>
                  <a:srgbClr val="080808"/>
                </a:solidFill>
                <a:latin typeface="Times New Roman" panose="02020603050405020304" pitchFamily="18" charset="0"/>
                <a:cs typeface="Times New Roman" panose="02020603050405020304" pitchFamily="18" charset="0"/>
              </a:rPr>
              <a:t>decisions:</a:t>
            </a:r>
          </a:p>
          <a:p>
            <a:pPr marL="299085" marR="300355" indent="-223520">
              <a:lnSpc>
                <a:spcPct val="103800"/>
              </a:lnSpc>
              <a:spcBef>
                <a:spcPts val="900"/>
              </a:spcBef>
              <a:buChar char="•"/>
              <a:tabLst>
                <a:tab pos="299085" algn="l"/>
              </a:tabLst>
            </a:pPr>
            <a:r>
              <a:rPr sz="2200" spc="75" dirty="0">
                <a:solidFill>
                  <a:srgbClr val="080808"/>
                </a:solidFill>
                <a:latin typeface="Times New Roman" panose="02020603050405020304" pitchFamily="18" charset="0"/>
                <a:cs typeface="Times New Roman" panose="02020603050405020304" pitchFamily="18" charset="0"/>
              </a:rPr>
              <a:t>Emotion</a:t>
            </a:r>
            <a:r>
              <a:rPr sz="2200" spc="-5" dirty="0">
                <a:solidFill>
                  <a:srgbClr val="080808"/>
                </a:solidFill>
                <a:latin typeface="Times New Roman" panose="02020603050405020304" pitchFamily="18" charset="0"/>
                <a:cs typeface="Times New Roman" panose="02020603050405020304" pitchFamily="18" charset="0"/>
              </a:rPr>
              <a:t> </a:t>
            </a:r>
            <a:r>
              <a:rPr sz="2200" spc="55" dirty="0">
                <a:solidFill>
                  <a:srgbClr val="080808"/>
                </a:solidFill>
                <a:latin typeface="Times New Roman" panose="02020603050405020304" pitchFamily="18" charset="0"/>
                <a:cs typeface="Times New Roman" panose="02020603050405020304" pitchFamily="18" charset="0"/>
              </a:rPr>
              <a:t>consistency</a:t>
            </a:r>
            <a:r>
              <a:rPr sz="2200" spc="35" dirty="0">
                <a:solidFill>
                  <a:srgbClr val="080808"/>
                </a:solidFill>
                <a:latin typeface="Times New Roman" panose="02020603050405020304" pitchFamily="18" charset="0"/>
                <a:cs typeface="Times New Roman" panose="02020603050405020304" pitchFamily="18" charset="0"/>
              </a:rPr>
              <a:t> </a:t>
            </a:r>
            <a:r>
              <a:rPr sz="2200" spc="60" dirty="0">
                <a:solidFill>
                  <a:srgbClr val="080808"/>
                </a:solidFill>
                <a:latin typeface="Times New Roman" panose="02020603050405020304" pitchFamily="18" charset="0"/>
                <a:cs typeface="Times New Roman" panose="02020603050405020304" pitchFamily="18" charset="0"/>
              </a:rPr>
              <a:t>check</a:t>
            </a:r>
            <a:r>
              <a:rPr sz="2200" spc="50" dirty="0">
                <a:solidFill>
                  <a:srgbClr val="080808"/>
                </a:solidFill>
                <a:latin typeface="Times New Roman" panose="02020603050405020304" pitchFamily="18" charset="0"/>
                <a:cs typeface="Times New Roman" panose="02020603050405020304" pitchFamily="18" charset="0"/>
              </a:rPr>
              <a:t> </a:t>
            </a:r>
            <a:r>
              <a:rPr sz="2200" dirty="0">
                <a:solidFill>
                  <a:srgbClr val="080808"/>
                </a:solidFill>
                <a:latin typeface="Times New Roman" panose="02020603050405020304" pitchFamily="18" charset="0"/>
                <a:cs typeface="Times New Roman" panose="02020603050405020304" pitchFamily="18" charset="0"/>
              </a:rPr>
              <a:t>preserves</a:t>
            </a:r>
            <a:r>
              <a:rPr sz="2200" spc="-10" dirty="0">
                <a:solidFill>
                  <a:srgbClr val="080808"/>
                </a:solidFill>
                <a:latin typeface="Times New Roman" panose="02020603050405020304" pitchFamily="18" charset="0"/>
                <a:cs typeface="Times New Roman" panose="02020603050405020304" pitchFamily="18" charset="0"/>
              </a:rPr>
              <a:t> </a:t>
            </a:r>
            <a:r>
              <a:rPr sz="2200" spc="55" dirty="0">
                <a:solidFill>
                  <a:srgbClr val="080808"/>
                </a:solidFill>
                <a:latin typeface="Times New Roman" panose="02020603050405020304" pitchFamily="18" charset="0"/>
                <a:cs typeface="Times New Roman" panose="02020603050405020304" pitchFamily="18" charset="0"/>
              </a:rPr>
              <a:t>contrastive</a:t>
            </a:r>
            <a:r>
              <a:rPr sz="2200" spc="-10" dirty="0">
                <a:solidFill>
                  <a:srgbClr val="080808"/>
                </a:solidFill>
                <a:latin typeface="Times New Roman" panose="02020603050405020304" pitchFamily="18" charset="0"/>
                <a:cs typeface="Times New Roman" panose="02020603050405020304" pitchFamily="18" charset="0"/>
              </a:rPr>
              <a:t> learning </a:t>
            </a:r>
            <a:r>
              <a:rPr sz="2200" spc="55" dirty="0">
                <a:solidFill>
                  <a:srgbClr val="080808"/>
                </a:solidFill>
                <a:latin typeface="Times New Roman" panose="02020603050405020304" pitchFamily="18" charset="0"/>
                <a:cs typeface="Times New Roman" panose="02020603050405020304" pitchFamily="18" charset="0"/>
              </a:rPr>
              <a:t>quality</a:t>
            </a:r>
          </a:p>
          <a:p>
            <a:pPr marL="298450" indent="-222250">
              <a:lnSpc>
                <a:spcPct val="100000"/>
              </a:lnSpc>
              <a:spcBef>
                <a:spcPts val="980"/>
              </a:spcBef>
              <a:buChar char="•"/>
              <a:tabLst>
                <a:tab pos="298450" algn="l"/>
              </a:tabLst>
            </a:pPr>
            <a:r>
              <a:rPr sz="2200" dirty="0">
                <a:solidFill>
                  <a:srgbClr val="080808"/>
                </a:solidFill>
                <a:latin typeface="Times New Roman" panose="02020603050405020304" pitchFamily="18" charset="0"/>
                <a:cs typeface="Times New Roman" panose="02020603050405020304" pitchFamily="18" charset="0"/>
              </a:rPr>
              <a:t>Fact</a:t>
            </a:r>
            <a:r>
              <a:rPr sz="2200" spc="-30" dirty="0">
                <a:solidFill>
                  <a:srgbClr val="080808"/>
                </a:solidFill>
                <a:latin typeface="Times New Roman" panose="02020603050405020304" pitchFamily="18" charset="0"/>
                <a:cs typeface="Times New Roman" panose="02020603050405020304" pitchFamily="18" charset="0"/>
              </a:rPr>
              <a:t> </a:t>
            </a:r>
            <a:r>
              <a:rPr sz="2200" spc="70" dirty="0">
                <a:solidFill>
                  <a:srgbClr val="080808"/>
                </a:solidFill>
                <a:latin typeface="Times New Roman" panose="02020603050405020304" pitchFamily="18" charset="0"/>
                <a:cs typeface="Times New Roman" panose="02020603050405020304" pitchFamily="18" charset="0"/>
              </a:rPr>
              <a:t>grounding</a:t>
            </a:r>
            <a:r>
              <a:rPr sz="2200" spc="90" dirty="0">
                <a:solidFill>
                  <a:srgbClr val="080808"/>
                </a:solidFill>
                <a:latin typeface="Times New Roman" panose="02020603050405020304" pitchFamily="18" charset="0"/>
                <a:cs typeface="Times New Roman" panose="02020603050405020304" pitchFamily="18" charset="0"/>
              </a:rPr>
              <a:t> </a:t>
            </a:r>
            <a:r>
              <a:rPr sz="2200" spc="60" dirty="0">
                <a:solidFill>
                  <a:srgbClr val="080808"/>
                </a:solidFill>
                <a:latin typeface="Times New Roman" panose="02020603050405020304" pitchFamily="18" charset="0"/>
                <a:cs typeface="Times New Roman" panose="02020603050405020304" pitchFamily="18" charset="0"/>
              </a:rPr>
              <a:t>at</a:t>
            </a:r>
            <a:r>
              <a:rPr sz="2200" dirty="0">
                <a:solidFill>
                  <a:srgbClr val="080808"/>
                </a:solidFill>
                <a:latin typeface="Times New Roman" panose="02020603050405020304" pitchFamily="18" charset="0"/>
                <a:cs typeface="Times New Roman" panose="02020603050405020304" pitchFamily="18" charset="0"/>
              </a:rPr>
              <a:t> </a:t>
            </a:r>
            <a:r>
              <a:rPr sz="2200" spc="50" dirty="0">
                <a:solidFill>
                  <a:srgbClr val="080808"/>
                </a:solidFill>
                <a:latin typeface="Times New Roman" panose="02020603050405020304" pitchFamily="18" charset="0"/>
                <a:cs typeface="Times New Roman" panose="02020603050405020304" pitchFamily="18" charset="0"/>
              </a:rPr>
              <a:t>inference</a:t>
            </a:r>
            <a:r>
              <a:rPr sz="2200" spc="75" dirty="0">
                <a:solidFill>
                  <a:srgbClr val="080808"/>
                </a:solidFill>
                <a:latin typeface="Times New Roman" panose="02020603050405020304" pitchFamily="18" charset="0"/>
                <a:cs typeface="Times New Roman" panose="02020603050405020304" pitchFamily="18" charset="0"/>
              </a:rPr>
              <a:t> </a:t>
            </a:r>
            <a:r>
              <a:rPr sz="2200" dirty="0">
                <a:solidFill>
                  <a:srgbClr val="080808"/>
                </a:solidFill>
                <a:latin typeface="Times New Roman" panose="02020603050405020304" pitchFamily="18" charset="0"/>
                <a:cs typeface="Times New Roman" panose="02020603050405020304" pitchFamily="18" charset="0"/>
              </a:rPr>
              <a:t>guards</a:t>
            </a:r>
            <a:r>
              <a:rPr sz="2200" spc="-15" dirty="0">
                <a:solidFill>
                  <a:srgbClr val="080808"/>
                </a:solidFill>
                <a:latin typeface="Times New Roman" panose="02020603050405020304" pitchFamily="18" charset="0"/>
                <a:cs typeface="Times New Roman" panose="02020603050405020304" pitchFamily="18" charset="0"/>
              </a:rPr>
              <a:t> </a:t>
            </a:r>
            <a:r>
              <a:rPr sz="2200" dirty="0">
                <a:solidFill>
                  <a:srgbClr val="080808"/>
                </a:solidFill>
                <a:latin typeface="Times New Roman" panose="02020603050405020304" pitchFamily="18" charset="0"/>
                <a:cs typeface="Times New Roman" panose="02020603050405020304" pitchFamily="18" charset="0"/>
              </a:rPr>
              <a:t>against</a:t>
            </a:r>
            <a:r>
              <a:rPr sz="2200" spc="130" dirty="0">
                <a:solidFill>
                  <a:srgbClr val="080808"/>
                </a:solidFill>
                <a:latin typeface="Times New Roman" panose="02020603050405020304" pitchFamily="18" charset="0"/>
                <a:cs typeface="Times New Roman" panose="02020603050405020304" pitchFamily="18" charset="0"/>
              </a:rPr>
              <a:t> </a:t>
            </a:r>
            <a:r>
              <a:rPr sz="2200" spc="50" dirty="0">
                <a:solidFill>
                  <a:srgbClr val="080808"/>
                </a:solidFill>
                <a:latin typeface="Times New Roman" panose="02020603050405020304" pitchFamily="18" charset="0"/>
                <a:cs typeface="Times New Roman" panose="02020603050405020304" pitchFamily="18" charset="0"/>
              </a:rPr>
              <a:t>hallucinations</a:t>
            </a:r>
          </a:p>
          <a:p>
            <a:pPr marL="295910" marR="5080" indent="-219710">
              <a:lnSpc>
                <a:spcPct val="100000"/>
              </a:lnSpc>
              <a:spcBef>
                <a:spcPts val="985"/>
              </a:spcBef>
              <a:buChar char="•"/>
              <a:tabLst>
                <a:tab pos="302260" algn="l"/>
              </a:tabLst>
            </a:pPr>
            <a:r>
              <a:rPr sz="2200" spc="50" dirty="0">
                <a:solidFill>
                  <a:srgbClr val="080808"/>
                </a:solidFill>
                <a:latin typeface="Times New Roman" panose="02020603050405020304" pitchFamily="18" charset="0"/>
                <a:cs typeface="Times New Roman" panose="02020603050405020304" pitchFamily="18" charset="0"/>
              </a:rPr>
              <a:t>Classification</a:t>
            </a:r>
            <a:r>
              <a:rPr sz="2200" spc="-75" dirty="0">
                <a:solidFill>
                  <a:srgbClr val="080808"/>
                </a:solidFill>
                <a:latin typeface="Times New Roman" panose="02020603050405020304" pitchFamily="18" charset="0"/>
                <a:cs typeface="Times New Roman" panose="02020603050405020304" pitchFamily="18" charset="0"/>
              </a:rPr>
              <a:t> </a:t>
            </a:r>
            <a:r>
              <a:rPr sz="2200" dirty="0">
                <a:solidFill>
                  <a:srgbClr val="080808"/>
                </a:solidFill>
                <a:latin typeface="Times New Roman" panose="02020603050405020304" pitchFamily="18" charset="0"/>
                <a:cs typeface="Times New Roman" panose="02020603050405020304" pitchFamily="18" charset="0"/>
              </a:rPr>
              <a:t>head</a:t>
            </a:r>
            <a:r>
              <a:rPr sz="2200" spc="-55" dirty="0">
                <a:solidFill>
                  <a:srgbClr val="080808"/>
                </a:solidFill>
                <a:latin typeface="Times New Roman" panose="02020603050405020304" pitchFamily="18" charset="0"/>
                <a:cs typeface="Times New Roman" panose="02020603050405020304" pitchFamily="18" charset="0"/>
              </a:rPr>
              <a:t> </a:t>
            </a:r>
            <a:r>
              <a:rPr sz="2200" spc="65" dirty="0">
                <a:solidFill>
                  <a:srgbClr val="080808"/>
                </a:solidFill>
                <a:latin typeface="Times New Roman" panose="02020603050405020304" pitchFamily="18" charset="0"/>
                <a:cs typeface="Times New Roman" panose="02020603050405020304" pitchFamily="18" charset="0"/>
              </a:rPr>
              <a:t>predicts</a:t>
            </a:r>
            <a:r>
              <a:rPr sz="2200" spc="-50" dirty="0">
                <a:solidFill>
                  <a:srgbClr val="080808"/>
                </a:solidFill>
                <a:latin typeface="Times New Roman" panose="02020603050405020304" pitchFamily="18" charset="0"/>
                <a:cs typeface="Times New Roman" panose="02020603050405020304" pitchFamily="18" charset="0"/>
              </a:rPr>
              <a:t> </a:t>
            </a:r>
            <a:r>
              <a:rPr sz="2200" spc="65" dirty="0">
                <a:solidFill>
                  <a:srgbClr val="080808"/>
                </a:solidFill>
                <a:latin typeface="Times New Roman" panose="02020603050405020304" pitchFamily="18" charset="0"/>
                <a:cs typeface="Times New Roman" panose="02020603050405020304" pitchFamily="18" charset="0"/>
              </a:rPr>
              <a:t>four</a:t>
            </a:r>
            <a:r>
              <a:rPr sz="2200" spc="40" dirty="0">
                <a:solidFill>
                  <a:srgbClr val="080808"/>
                </a:solidFill>
                <a:latin typeface="Times New Roman" panose="02020603050405020304" pitchFamily="18" charset="0"/>
                <a:cs typeface="Times New Roman" panose="02020603050405020304" pitchFamily="18" charset="0"/>
              </a:rPr>
              <a:t> </a:t>
            </a:r>
            <a:r>
              <a:rPr sz="2200" dirty="0">
                <a:solidFill>
                  <a:srgbClr val="080808"/>
                </a:solidFill>
                <a:latin typeface="Times New Roman" panose="02020603050405020304" pitchFamily="18" charset="0"/>
                <a:cs typeface="Times New Roman" panose="02020603050405020304" pitchFamily="18" charset="0"/>
              </a:rPr>
              <a:t>labels:</a:t>
            </a:r>
            <a:r>
              <a:rPr sz="2200" spc="-60" dirty="0">
                <a:solidFill>
                  <a:srgbClr val="080808"/>
                </a:solidFill>
                <a:latin typeface="Times New Roman" panose="02020603050405020304" pitchFamily="18" charset="0"/>
                <a:cs typeface="Times New Roman" panose="02020603050405020304" pitchFamily="18" charset="0"/>
              </a:rPr>
              <a:t> </a:t>
            </a:r>
            <a:r>
              <a:rPr sz="2200" dirty="0">
                <a:solidFill>
                  <a:srgbClr val="080808"/>
                </a:solidFill>
                <a:latin typeface="Times New Roman" panose="02020603050405020304" pitchFamily="18" charset="0"/>
                <a:cs typeface="Times New Roman" panose="02020603050405020304" pitchFamily="18" charset="0"/>
              </a:rPr>
              <a:t>false,</a:t>
            </a:r>
            <a:r>
              <a:rPr sz="2200" spc="-85" dirty="0">
                <a:solidFill>
                  <a:srgbClr val="080808"/>
                </a:solidFill>
                <a:latin typeface="Times New Roman" panose="02020603050405020304" pitchFamily="18" charset="0"/>
                <a:cs typeface="Times New Roman" panose="02020603050405020304" pitchFamily="18" charset="0"/>
              </a:rPr>
              <a:t> </a:t>
            </a:r>
            <a:r>
              <a:rPr sz="2200" spc="55" dirty="0">
                <a:solidFill>
                  <a:srgbClr val="080808"/>
                </a:solidFill>
                <a:latin typeface="Times New Roman" panose="02020603050405020304" pitchFamily="18" charset="0"/>
                <a:cs typeface="Times New Roman" panose="02020603050405020304" pitchFamily="18" charset="0"/>
              </a:rPr>
              <a:t>true,</a:t>
            </a:r>
            <a:r>
              <a:rPr sz="2200" spc="-85" dirty="0">
                <a:solidFill>
                  <a:srgbClr val="080808"/>
                </a:solidFill>
                <a:latin typeface="Times New Roman" panose="02020603050405020304" pitchFamily="18" charset="0"/>
                <a:cs typeface="Times New Roman" panose="02020603050405020304" pitchFamily="18" charset="0"/>
              </a:rPr>
              <a:t> </a:t>
            </a:r>
            <a:r>
              <a:rPr sz="2200" spc="50" dirty="0">
                <a:solidFill>
                  <a:srgbClr val="080808"/>
                </a:solidFill>
                <a:latin typeface="Times New Roman" panose="02020603050405020304" pitchFamily="18" charset="0"/>
                <a:cs typeface="Times New Roman" panose="02020603050405020304" pitchFamily="18" charset="0"/>
              </a:rPr>
              <a:t>unverified, 	</a:t>
            </a:r>
            <a:r>
              <a:rPr sz="2200" spc="85" dirty="0">
                <a:solidFill>
                  <a:srgbClr val="080808"/>
                </a:solidFill>
                <a:latin typeface="Times New Roman" panose="02020603050405020304" pitchFamily="18" charset="0"/>
                <a:cs typeface="Times New Roman" panose="02020603050405020304" pitchFamily="18" charset="0"/>
              </a:rPr>
              <a:t>non-</a:t>
            </a:r>
            <a:r>
              <a:rPr sz="2200" spc="80" dirty="0">
                <a:solidFill>
                  <a:srgbClr val="080808"/>
                </a:solidFill>
                <a:latin typeface="Times New Roman" panose="02020603050405020304" pitchFamily="18" charset="0"/>
                <a:cs typeface="Times New Roman" panose="02020603050405020304" pitchFamily="18" charset="0"/>
              </a:rPr>
              <a:t>rumor</a:t>
            </a:r>
          </a:p>
          <a:p>
            <a:pPr marL="298450" indent="-222250">
              <a:lnSpc>
                <a:spcPct val="100000"/>
              </a:lnSpc>
              <a:spcBef>
                <a:spcPts val="985"/>
              </a:spcBef>
              <a:buChar char="•"/>
              <a:tabLst>
                <a:tab pos="298450" algn="l"/>
              </a:tabLst>
            </a:pPr>
            <a:r>
              <a:rPr sz="2200" dirty="0">
                <a:solidFill>
                  <a:srgbClr val="080808"/>
                </a:solidFill>
                <a:latin typeface="Times New Roman" panose="02020603050405020304" pitchFamily="18" charset="0"/>
                <a:cs typeface="Times New Roman" panose="02020603050405020304" pitchFamily="18" charset="0"/>
              </a:rPr>
              <a:t>Final</a:t>
            </a:r>
            <a:r>
              <a:rPr sz="2200" spc="30" dirty="0">
                <a:solidFill>
                  <a:srgbClr val="080808"/>
                </a:solidFill>
                <a:latin typeface="Times New Roman" panose="02020603050405020304" pitchFamily="18" charset="0"/>
                <a:cs typeface="Times New Roman" panose="02020603050405020304" pitchFamily="18" charset="0"/>
              </a:rPr>
              <a:t> </a:t>
            </a:r>
            <a:r>
              <a:rPr sz="2200" dirty="0">
                <a:solidFill>
                  <a:srgbClr val="080808"/>
                </a:solidFill>
                <a:latin typeface="Times New Roman" panose="02020603050405020304" pitchFamily="18" charset="0"/>
                <a:cs typeface="Times New Roman" panose="02020603050405020304" pitchFamily="18" charset="0"/>
              </a:rPr>
              <a:t>evaluation</a:t>
            </a:r>
            <a:r>
              <a:rPr sz="2200" spc="170" dirty="0">
                <a:solidFill>
                  <a:srgbClr val="080808"/>
                </a:solidFill>
                <a:latin typeface="Times New Roman" panose="02020603050405020304" pitchFamily="18" charset="0"/>
                <a:cs typeface="Times New Roman" panose="02020603050405020304" pitchFamily="18" charset="0"/>
              </a:rPr>
              <a:t> </a:t>
            </a:r>
            <a:r>
              <a:rPr sz="2200" dirty="0">
                <a:solidFill>
                  <a:srgbClr val="080808"/>
                </a:solidFill>
                <a:latin typeface="Times New Roman" panose="02020603050405020304" pitchFamily="18" charset="0"/>
                <a:cs typeface="Times New Roman" panose="02020603050405020304" pitchFamily="18" charset="0"/>
              </a:rPr>
              <a:t>validates</a:t>
            </a:r>
            <a:r>
              <a:rPr sz="2200" spc="65" dirty="0">
                <a:solidFill>
                  <a:srgbClr val="080808"/>
                </a:solidFill>
                <a:latin typeface="Times New Roman" panose="02020603050405020304" pitchFamily="18" charset="0"/>
                <a:cs typeface="Times New Roman" panose="02020603050405020304" pitchFamily="18" charset="0"/>
              </a:rPr>
              <a:t> </a:t>
            </a:r>
            <a:r>
              <a:rPr sz="2200" spc="85" dirty="0">
                <a:solidFill>
                  <a:srgbClr val="080808"/>
                </a:solidFill>
                <a:latin typeface="Times New Roman" panose="02020603050405020304" pitchFamily="18" charset="0"/>
                <a:cs typeface="Times New Roman" panose="02020603050405020304" pitchFamily="18" charset="0"/>
              </a:rPr>
              <a:t>fact</a:t>
            </a:r>
            <a:r>
              <a:rPr sz="2200" dirty="0">
                <a:solidFill>
                  <a:srgbClr val="080808"/>
                </a:solidFill>
                <a:latin typeface="Times New Roman" panose="02020603050405020304" pitchFamily="18" charset="0"/>
                <a:cs typeface="Times New Roman" panose="02020603050405020304" pitchFamily="18" charset="0"/>
              </a:rPr>
              <a:t> </a:t>
            </a:r>
            <a:r>
              <a:rPr sz="2200" spc="50" dirty="0">
                <a:solidFill>
                  <a:srgbClr val="080808"/>
                </a:solidFill>
                <a:latin typeface="Times New Roman" panose="02020603050405020304" pitchFamily="18" charset="0"/>
                <a:cs typeface="Times New Roman" panose="02020603050405020304" pitchFamily="18" charset="0"/>
              </a:rPr>
              <a:t>verification</a:t>
            </a:r>
            <a:r>
              <a:rPr sz="2200" spc="165" dirty="0">
                <a:solidFill>
                  <a:srgbClr val="080808"/>
                </a:solidFill>
                <a:latin typeface="Times New Roman" panose="02020603050405020304" pitchFamily="18" charset="0"/>
                <a:cs typeface="Times New Roman" panose="02020603050405020304" pitchFamily="18" charset="0"/>
              </a:rPr>
              <a:t> </a:t>
            </a:r>
            <a:r>
              <a:rPr sz="2200" spc="70" dirty="0">
                <a:solidFill>
                  <a:srgbClr val="080808"/>
                </a:solidFill>
                <a:latin typeface="Times New Roman" panose="02020603050405020304" pitchFamily="18" charset="0"/>
                <a:cs typeface="Times New Roman" panose="02020603050405020304" pitchFamily="18" charset="0"/>
              </a:rPr>
              <a:t>module</a:t>
            </a:r>
            <a:r>
              <a:rPr sz="2200" spc="40" dirty="0">
                <a:solidFill>
                  <a:srgbClr val="080808"/>
                </a:solidFill>
                <a:latin typeface="Times New Roman" panose="02020603050405020304" pitchFamily="18" charset="0"/>
                <a:cs typeface="Times New Roman" panose="02020603050405020304" pitchFamily="18" charset="0"/>
              </a:rPr>
              <a:t> </a:t>
            </a:r>
            <a:r>
              <a:rPr sz="2200" spc="70" dirty="0">
                <a:solidFill>
                  <a:srgbClr val="080808"/>
                </a:solidFill>
                <a:latin typeface="Times New Roman" panose="02020603050405020304" pitchFamily="18" charset="0"/>
                <a:cs typeface="Times New Roman" panose="02020603050405020304" pitchFamily="18" charset="0"/>
              </a:rPr>
              <a:t>impact</a:t>
            </a:r>
          </a:p>
        </p:txBody>
      </p:sp>
      <p:pic>
        <p:nvPicPr>
          <p:cNvPr id="47" name="Picture 46" descr="A diagram of a technical structure&#10;&#10;AI-generated content may be incorrect.">
            <a:extLst>
              <a:ext uri="{FF2B5EF4-FFF2-40B4-BE49-F238E27FC236}">
                <a16:creationId xmlns:a16="http://schemas.microsoft.com/office/drawing/2014/main" id="{56DFDE55-3955-635A-CDED-F8C4F343C8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06918" y="500062"/>
            <a:ext cx="5994882" cy="709612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0" y="0"/>
            <a:ext cx="5186680" cy="8091805"/>
          </a:xfrm>
          <a:custGeom>
            <a:avLst/>
            <a:gdLst/>
            <a:ahLst/>
            <a:cxnLst/>
            <a:rect l="l" t="t" r="r" b="b"/>
            <a:pathLst>
              <a:path w="5186680" h="8091805">
                <a:moveTo>
                  <a:pt x="5186364" y="8091489"/>
                </a:moveTo>
                <a:lnTo>
                  <a:pt x="0" y="8091489"/>
                </a:lnTo>
                <a:lnTo>
                  <a:pt x="0" y="0"/>
                </a:lnTo>
                <a:lnTo>
                  <a:pt x="5186364" y="0"/>
                </a:lnTo>
                <a:lnTo>
                  <a:pt x="5186364" y="8091489"/>
                </a:lnTo>
                <a:close/>
              </a:path>
            </a:pathLst>
          </a:custGeom>
          <a:solidFill>
            <a:srgbClr val="131313"/>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4" name="object 4"/>
          <p:cNvSpPr txBox="1">
            <a:spLocks noGrp="1"/>
          </p:cNvSpPr>
          <p:nvPr>
            <p:ph type="title"/>
          </p:nvPr>
        </p:nvSpPr>
        <p:spPr>
          <a:xfrm>
            <a:off x="486913" y="2655272"/>
            <a:ext cx="4177665" cy="1006475"/>
          </a:xfrm>
          <a:prstGeom prst="rect">
            <a:avLst/>
          </a:prstGeom>
        </p:spPr>
        <p:txBody>
          <a:bodyPr vert="horz" wrap="square" lIns="0" tIns="83185" rIns="0" bIns="0" rtlCol="0">
            <a:spAutoFit/>
          </a:bodyPr>
          <a:lstStyle/>
          <a:p>
            <a:pPr marL="12700" marR="5080" indent="5080">
              <a:lnSpc>
                <a:spcPts val="3600"/>
              </a:lnSpc>
              <a:spcBef>
                <a:spcPts val="655"/>
              </a:spcBef>
            </a:pPr>
            <a:r>
              <a:rPr sz="3400" spc="-85" dirty="0">
                <a:solidFill>
                  <a:srgbClr val="FFFFFF"/>
                </a:solidFill>
                <a:latin typeface="Times New Roman" panose="02020603050405020304" pitchFamily="18" charset="0"/>
                <a:cs typeface="Times New Roman" panose="02020603050405020304" pitchFamily="18" charset="0"/>
              </a:rPr>
              <a:t>Class</a:t>
            </a:r>
            <a:r>
              <a:rPr sz="3400" spc="-55" dirty="0">
                <a:solidFill>
                  <a:srgbClr val="FFFFFF"/>
                </a:solidFill>
                <a:latin typeface="Times New Roman" panose="02020603050405020304" pitchFamily="18" charset="0"/>
                <a:cs typeface="Times New Roman" panose="02020603050405020304" pitchFamily="18" charset="0"/>
              </a:rPr>
              <a:t> </a:t>
            </a:r>
            <a:r>
              <a:rPr sz="3400" dirty="0">
                <a:solidFill>
                  <a:srgbClr val="FFFFFF"/>
                </a:solidFill>
                <a:latin typeface="Times New Roman" panose="02020603050405020304" pitchFamily="18" charset="0"/>
                <a:cs typeface="Times New Roman" panose="02020603050405020304" pitchFamily="18" charset="0"/>
              </a:rPr>
              <a:t>distribution</a:t>
            </a:r>
            <a:r>
              <a:rPr sz="3400" spc="210" dirty="0">
                <a:solidFill>
                  <a:srgbClr val="FFFFFF"/>
                </a:solidFill>
                <a:latin typeface="Times New Roman" panose="02020603050405020304" pitchFamily="18" charset="0"/>
                <a:cs typeface="Times New Roman" panose="02020603050405020304" pitchFamily="18" charset="0"/>
              </a:rPr>
              <a:t> </a:t>
            </a:r>
            <a:r>
              <a:rPr sz="3400" spc="-75" dirty="0">
                <a:solidFill>
                  <a:srgbClr val="FFFFFF"/>
                </a:solidFill>
                <a:latin typeface="Times New Roman" panose="02020603050405020304" pitchFamily="18" charset="0"/>
                <a:cs typeface="Times New Roman" panose="02020603050405020304" pitchFamily="18" charset="0"/>
              </a:rPr>
              <a:t>across </a:t>
            </a:r>
            <a:r>
              <a:rPr sz="3400" spc="-35" dirty="0">
                <a:solidFill>
                  <a:srgbClr val="FFFFFF"/>
                </a:solidFill>
                <a:latin typeface="Times New Roman" panose="02020603050405020304" pitchFamily="18" charset="0"/>
                <a:cs typeface="Times New Roman" panose="02020603050405020304" pitchFamily="18" charset="0"/>
              </a:rPr>
              <a:t>evaluation</a:t>
            </a:r>
            <a:r>
              <a:rPr sz="3400" spc="-120" dirty="0">
                <a:solidFill>
                  <a:srgbClr val="FFFFFF"/>
                </a:solidFill>
                <a:latin typeface="Times New Roman" panose="02020603050405020304" pitchFamily="18" charset="0"/>
                <a:cs typeface="Times New Roman" panose="02020603050405020304" pitchFamily="18" charset="0"/>
              </a:rPr>
              <a:t> </a:t>
            </a:r>
            <a:r>
              <a:rPr sz="3400" spc="-25" dirty="0">
                <a:solidFill>
                  <a:srgbClr val="FFFFFF"/>
                </a:solidFill>
                <a:latin typeface="Times New Roman" panose="02020603050405020304" pitchFamily="18" charset="0"/>
                <a:cs typeface="Times New Roman" panose="02020603050405020304" pitchFamily="18" charset="0"/>
              </a:rPr>
              <a:t>set</a:t>
            </a:r>
            <a:endParaRPr sz="3400" dirty="0">
              <a:latin typeface="Times New Roman" panose="02020603050405020304" pitchFamily="18" charset="0"/>
              <a:cs typeface="Times New Roman" panose="02020603050405020304" pitchFamily="18" charset="0"/>
            </a:endParaRPr>
          </a:p>
        </p:txBody>
      </p:sp>
      <p:sp>
        <p:nvSpPr>
          <p:cNvPr id="5" name="object 5"/>
          <p:cNvSpPr txBox="1"/>
          <p:nvPr/>
        </p:nvSpPr>
        <p:spPr>
          <a:xfrm>
            <a:off x="486913" y="4937740"/>
            <a:ext cx="4095115" cy="1437381"/>
          </a:xfrm>
          <a:prstGeom prst="rect">
            <a:avLst/>
          </a:prstGeom>
        </p:spPr>
        <p:txBody>
          <a:bodyPr vert="horz" wrap="square" lIns="0" tIns="3810" rIns="0" bIns="0" rtlCol="0">
            <a:spAutoFit/>
          </a:bodyPr>
          <a:lstStyle/>
          <a:p>
            <a:pPr marL="18415" marR="5080" indent="-6350">
              <a:lnSpc>
                <a:spcPct val="118800"/>
              </a:lnSpc>
              <a:spcBef>
                <a:spcPts val="30"/>
              </a:spcBef>
            </a:pPr>
            <a:r>
              <a:rPr lang="en-US" sz="2000" dirty="0">
                <a:solidFill>
                  <a:schemeClr val="bg1"/>
                </a:solidFill>
                <a:latin typeface="Times New Roman" panose="02020603050405020304" pitchFamily="18" charset="0"/>
                <a:cs typeface="Times New Roman" panose="02020603050405020304" pitchFamily="18" charset="0"/>
              </a:rPr>
              <a:t>Natural imbalance means accuracy alone is insufficient. Macro F1 is the critical benchmark, weighting all classes equally regardless of support.</a:t>
            </a:r>
          </a:p>
        </p:txBody>
      </p:sp>
      <p:sp>
        <p:nvSpPr>
          <p:cNvPr id="11" name="object 11"/>
          <p:cNvSpPr txBox="1"/>
          <p:nvPr/>
        </p:nvSpPr>
        <p:spPr>
          <a:xfrm>
            <a:off x="5981700" y="1811337"/>
            <a:ext cx="6347460" cy="311150"/>
          </a:xfrm>
          <a:prstGeom prst="rect">
            <a:avLst/>
          </a:prstGeom>
        </p:spPr>
        <p:txBody>
          <a:bodyPr vert="horz" wrap="square" lIns="0" tIns="15875" rIns="0" bIns="0" rtlCol="0">
            <a:spAutoFit/>
          </a:bodyPr>
          <a:lstStyle/>
          <a:p>
            <a:pPr marL="12700">
              <a:lnSpc>
                <a:spcPct val="100000"/>
              </a:lnSpc>
              <a:spcBef>
                <a:spcPts val="125"/>
              </a:spcBef>
            </a:pPr>
            <a:r>
              <a:rPr sz="1850" spc="-145" dirty="0">
                <a:solidFill>
                  <a:srgbClr val="6E6E6E"/>
                </a:solidFill>
                <a:latin typeface="Times New Roman" panose="02020603050405020304" pitchFamily="18" charset="0"/>
                <a:cs typeface="Times New Roman" panose="02020603050405020304" pitchFamily="18" charset="0"/>
              </a:rPr>
              <a:t>1,763</a:t>
            </a:r>
            <a:r>
              <a:rPr sz="1850" spc="15" dirty="0">
                <a:solidFill>
                  <a:srgbClr val="6E6E6E"/>
                </a:solidFill>
                <a:latin typeface="Times New Roman" panose="02020603050405020304" pitchFamily="18" charset="0"/>
                <a:cs typeface="Times New Roman" panose="02020603050405020304" pitchFamily="18" charset="0"/>
              </a:rPr>
              <a:t> </a:t>
            </a:r>
            <a:r>
              <a:rPr sz="1850" dirty="0">
                <a:solidFill>
                  <a:srgbClr val="6E6E6E"/>
                </a:solidFill>
                <a:latin typeface="Times New Roman" panose="02020603050405020304" pitchFamily="18" charset="0"/>
                <a:cs typeface="Times New Roman" panose="02020603050405020304" pitchFamily="18" charset="0"/>
              </a:rPr>
              <a:t>samples</a:t>
            </a:r>
            <a:r>
              <a:rPr sz="1850" spc="140" dirty="0">
                <a:solidFill>
                  <a:srgbClr val="6E6E6E"/>
                </a:solidFill>
                <a:latin typeface="Times New Roman" panose="02020603050405020304" pitchFamily="18" charset="0"/>
                <a:cs typeface="Times New Roman" panose="02020603050405020304" pitchFamily="18" charset="0"/>
              </a:rPr>
              <a:t> </a:t>
            </a:r>
            <a:r>
              <a:rPr sz="1850" spc="-630" dirty="0">
                <a:solidFill>
                  <a:srgbClr val="707070"/>
                </a:solidFill>
                <a:latin typeface="Times New Roman" panose="02020603050405020304" pitchFamily="18" charset="0"/>
                <a:cs typeface="Times New Roman" panose="02020603050405020304" pitchFamily="18" charset="0"/>
              </a:rPr>
              <a:t>—</a:t>
            </a:r>
            <a:r>
              <a:rPr sz="1850" spc="75" dirty="0">
                <a:solidFill>
                  <a:srgbClr val="707070"/>
                </a:solidFill>
                <a:latin typeface="Times New Roman" panose="02020603050405020304" pitchFamily="18" charset="0"/>
                <a:cs typeface="Times New Roman" panose="02020603050405020304" pitchFamily="18" charset="0"/>
              </a:rPr>
              <a:t> </a:t>
            </a:r>
            <a:r>
              <a:rPr sz="1850" dirty="0">
                <a:solidFill>
                  <a:srgbClr val="6E6E6E"/>
                </a:solidFill>
                <a:latin typeface="Times New Roman" panose="02020603050405020304" pitchFamily="18" charset="0"/>
                <a:cs typeface="Times New Roman" panose="02020603050405020304" pitchFamily="18" charset="0"/>
              </a:rPr>
              <a:t>reflecting</a:t>
            </a:r>
            <a:r>
              <a:rPr sz="1850" spc="40" dirty="0">
                <a:solidFill>
                  <a:srgbClr val="6E6E6E"/>
                </a:solidFill>
                <a:latin typeface="Times New Roman" panose="02020603050405020304" pitchFamily="18" charset="0"/>
                <a:cs typeface="Times New Roman" panose="02020603050405020304" pitchFamily="18" charset="0"/>
              </a:rPr>
              <a:t> </a:t>
            </a:r>
            <a:r>
              <a:rPr sz="1850" dirty="0">
                <a:solidFill>
                  <a:srgbClr val="6E6E6E"/>
                </a:solidFill>
                <a:latin typeface="Times New Roman" panose="02020603050405020304" pitchFamily="18" charset="0"/>
                <a:cs typeface="Times New Roman" panose="02020603050405020304" pitchFamily="18" charset="0"/>
              </a:rPr>
              <a:t>real-world</a:t>
            </a:r>
            <a:r>
              <a:rPr sz="1850" spc="5" dirty="0">
                <a:solidFill>
                  <a:srgbClr val="6E6E6E"/>
                </a:solidFill>
                <a:latin typeface="Times New Roman" panose="02020603050405020304" pitchFamily="18" charset="0"/>
                <a:cs typeface="Times New Roman" panose="02020603050405020304" pitchFamily="18" charset="0"/>
              </a:rPr>
              <a:t> </a:t>
            </a:r>
            <a:r>
              <a:rPr sz="1850" spc="-30" dirty="0">
                <a:solidFill>
                  <a:srgbClr val="6E6E6E"/>
                </a:solidFill>
                <a:latin typeface="Times New Roman" panose="02020603050405020304" pitchFamily="18" charset="0"/>
                <a:cs typeface="Times New Roman" panose="02020603050405020304" pitchFamily="18" charset="0"/>
              </a:rPr>
              <a:t>social</a:t>
            </a:r>
            <a:r>
              <a:rPr sz="1850" spc="-40" dirty="0">
                <a:solidFill>
                  <a:srgbClr val="6E6E6E"/>
                </a:solidFill>
                <a:latin typeface="Times New Roman" panose="02020603050405020304" pitchFamily="18" charset="0"/>
                <a:cs typeface="Times New Roman" panose="02020603050405020304" pitchFamily="18" charset="0"/>
              </a:rPr>
              <a:t> </a:t>
            </a:r>
            <a:r>
              <a:rPr sz="1850" dirty="0">
                <a:solidFill>
                  <a:srgbClr val="707070"/>
                </a:solidFill>
                <a:latin typeface="Times New Roman" panose="02020603050405020304" pitchFamily="18" charset="0"/>
                <a:cs typeface="Times New Roman" panose="02020603050405020304" pitchFamily="18" charset="0"/>
              </a:rPr>
              <a:t>media</a:t>
            </a:r>
            <a:r>
              <a:rPr sz="1850" spc="40" dirty="0">
                <a:solidFill>
                  <a:srgbClr val="707070"/>
                </a:solidFill>
                <a:latin typeface="Times New Roman" panose="02020603050405020304" pitchFamily="18" charset="0"/>
                <a:cs typeface="Times New Roman" panose="02020603050405020304" pitchFamily="18" charset="0"/>
              </a:rPr>
              <a:t> </a:t>
            </a:r>
            <a:r>
              <a:rPr sz="1850" spc="-10" dirty="0">
                <a:solidFill>
                  <a:srgbClr val="6B6B6B"/>
                </a:solidFill>
                <a:latin typeface="Times New Roman" panose="02020603050405020304" pitchFamily="18" charset="0"/>
                <a:cs typeface="Times New Roman" panose="02020603050405020304" pitchFamily="18" charset="0"/>
              </a:rPr>
              <a:t>imbalance</a:t>
            </a:r>
            <a:endParaRPr sz="185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A5FDFB71-539D-0BFF-2553-6E073945C63A}"/>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981700" y="2371725"/>
            <a:ext cx="7746200" cy="5497280"/>
          </a:xfrm>
          <a:prstGeom prst="rect">
            <a:avLst/>
          </a:prstGeom>
          <a:noFill/>
          <a:ln>
            <a:noFill/>
          </a:ln>
        </p:spPr>
      </p:pic>
      <p:sp>
        <p:nvSpPr>
          <p:cNvPr id="7" name="Rectangle: Rounded Corners 6">
            <a:extLst>
              <a:ext uri="{FF2B5EF4-FFF2-40B4-BE49-F238E27FC236}">
                <a16:creationId xmlns:a16="http://schemas.microsoft.com/office/drawing/2014/main" id="{2145C1B8-FC7C-4FFB-5108-CA8E2FA3D9CC}"/>
              </a:ext>
            </a:extLst>
          </p:cNvPr>
          <p:cNvSpPr/>
          <p:nvPr/>
        </p:nvSpPr>
        <p:spPr>
          <a:xfrm>
            <a:off x="1681480" y="268414"/>
            <a:ext cx="8567420" cy="121920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b="1" dirty="0">
                <a:solidFill>
                  <a:srgbClr val="080808"/>
                </a:solidFill>
                <a:latin typeface="Times New Roman" panose="02020603050405020304" pitchFamily="18" charset="0"/>
                <a:cs typeface="Times New Roman" panose="02020603050405020304" pitchFamily="18" charset="0"/>
              </a:rPr>
              <a:t>RESULT &amp; ANALYSIS</a:t>
            </a:r>
            <a:endParaRPr lang="en-IN" sz="6000" b="1" dirty="0">
              <a:solidFill>
                <a:srgbClr val="080808"/>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6AC8C3AE-725E-8470-D39A-E839B46541DA}"/>
              </a:ext>
            </a:extLst>
          </p:cNvPr>
          <p:cNvSpPr/>
          <p:nvPr/>
        </p:nvSpPr>
        <p:spPr>
          <a:xfrm>
            <a:off x="8343900" y="1778663"/>
            <a:ext cx="5029200" cy="4443246"/>
          </a:xfrm>
          <a:prstGeom prst="roundRect">
            <a:avLst>
              <a:gd name="adj" fmla="val 7183"/>
            </a:avLst>
          </a:prstGeom>
          <a:solidFill>
            <a:srgbClr val="EBEEE0"/>
          </a:solidFill>
          <a:ln w="12700">
            <a:solidFill>
              <a:srgbClr val="08080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sp>
        <p:nvSpPr>
          <p:cNvPr id="9" name="TextBox 8">
            <a:extLst>
              <a:ext uri="{FF2B5EF4-FFF2-40B4-BE49-F238E27FC236}">
                <a16:creationId xmlns:a16="http://schemas.microsoft.com/office/drawing/2014/main" id="{7EBF2A25-DB81-A43C-F26E-894F362CA19B}"/>
              </a:ext>
            </a:extLst>
          </p:cNvPr>
          <p:cNvSpPr txBox="1"/>
          <p:nvPr/>
        </p:nvSpPr>
        <p:spPr>
          <a:xfrm>
            <a:off x="647700" y="314325"/>
            <a:ext cx="9144000" cy="1446550"/>
          </a:xfrm>
          <a:prstGeom prst="rect">
            <a:avLst/>
          </a:prstGeom>
          <a:noFill/>
        </p:spPr>
        <p:txBody>
          <a:bodyPr wrap="square" rtlCol="0">
            <a:spAutoFit/>
          </a:bodyPr>
          <a:lstStyle/>
          <a:p>
            <a:r>
              <a:rPr lang="en-US" sz="4400" b="1" dirty="0">
                <a:solidFill>
                  <a:srgbClr val="080808"/>
                </a:solidFill>
              </a:rPr>
              <a:t>Overall Summary Performance Metrics</a:t>
            </a:r>
            <a:endParaRPr lang="en-IN" sz="4400" b="1" dirty="0">
              <a:solidFill>
                <a:srgbClr val="080808"/>
              </a:solidFill>
            </a:endParaRPr>
          </a:p>
        </p:txBody>
      </p:sp>
      <p:pic>
        <p:nvPicPr>
          <p:cNvPr id="19" name="Picture 18">
            <a:extLst>
              <a:ext uri="{FF2B5EF4-FFF2-40B4-BE49-F238E27FC236}">
                <a16:creationId xmlns:a16="http://schemas.microsoft.com/office/drawing/2014/main" id="{CF784282-B643-F3DC-1B31-43A4C89AAA57}"/>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7700" y="2066925"/>
            <a:ext cx="7391400" cy="5843980"/>
          </a:xfrm>
          <a:prstGeom prst="rect">
            <a:avLst/>
          </a:prstGeom>
          <a:noFill/>
          <a:ln>
            <a:noFill/>
          </a:ln>
        </p:spPr>
      </p:pic>
      <p:sp>
        <p:nvSpPr>
          <p:cNvPr id="20" name="TextBox 19">
            <a:extLst>
              <a:ext uri="{FF2B5EF4-FFF2-40B4-BE49-F238E27FC236}">
                <a16:creationId xmlns:a16="http://schemas.microsoft.com/office/drawing/2014/main" id="{B537A294-11A1-5118-D676-9D9EC92CE740}"/>
              </a:ext>
            </a:extLst>
          </p:cNvPr>
          <p:cNvSpPr txBox="1"/>
          <p:nvPr/>
        </p:nvSpPr>
        <p:spPr>
          <a:xfrm>
            <a:off x="8572500" y="2066925"/>
            <a:ext cx="4495800" cy="4154984"/>
          </a:xfrm>
          <a:prstGeom prst="rect">
            <a:avLst/>
          </a:prstGeom>
          <a:noFill/>
        </p:spPr>
        <p:txBody>
          <a:bodyPr wrap="square" rtlCol="0">
            <a:spAutoFit/>
          </a:bodyPr>
          <a:lstStyle/>
          <a:p>
            <a:pPr algn="just"/>
            <a:r>
              <a:rPr lang="en-US" sz="2400" dirty="0">
                <a:solidFill>
                  <a:srgbClr val="080808"/>
                </a:solidFill>
                <a:latin typeface="Times New Roman" panose="02020603050405020304" pitchFamily="18" charset="0"/>
                <a:cs typeface="Times New Roman" panose="02020603050405020304" pitchFamily="18" charset="0"/>
              </a:rPr>
              <a:t>EAFG-LACL achieves strong, balanced performance - handling minority rumor classes as effectively as the majority class.</a:t>
            </a:r>
          </a:p>
          <a:p>
            <a:pPr algn="just"/>
            <a:endParaRPr lang="en-US" sz="2400" dirty="0">
              <a:solidFill>
                <a:srgbClr val="080808"/>
              </a:solidFill>
              <a:latin typeface="Times New Roman" panose="02020603050405020304" pitchFamily="18" charset="0"/>
              <a:cs typeface="Times New Roman" panose="02020603050405020304" pitchFamily="18" charset="0"/>
            </a:endParaRPr>
          </a:p>
          <a:p>
            <a:pPr algn="just"/>
            <a:r>
              <a:rPr lang="en-IN" sz="2400" dirty="0">
                <a:solidFill>
                  <a:srgbClr val="080808"/>
                </a:solidFill>
                <a:latin typeface="Times New Roman" panose="02020603050405020304" pitchFamily="18" charset="0"/>
                <a:cs typeface="Times New Roman" panose="02020603050405020304" pitchFamily="18" charset="0"/>
              </a:rPr>
              <a:t>Test Accuracy: 86.78%</a:t>
            </a:r>
          </a:p>
          <a:p>
            <a:pPr algn="just"/>
            <a:endParaRPr lang="en-IN" sz="2400" dirty="0">
              <a:solidFill>
                <a:srgbClr val="080808"/>
              </a:solidFill>
              <a:latin typeface="Times New Roman" panose="02020603050405020304" pitchFamily="18" charset="0"/>
              <a:cs typeface="Times New Roman" panose="02020603050405020304" pitchFamily="18" charset="0"/>
            </a:endParaRPr>
          </a:p>
          <a:p>
            <a:pPr algn="just"/>
            <a:r>
              <a:rPr lang="en-IN" sz="2400" dirty="0">
                <a:solidFill>
                  <a:srgbClr val="080808"/>
                </a:solidFill>
                <a:latin typeface="Times New Roman" panose="02020603050405020304" pitchFamily="18" charset="0"/>
                <a:cs typeface="Times New Roman" panose="02020603050405020304" pitchFamily="18" charset="0"/>
              </a:rPr>
              <a:t>Weighted F1 Score: 0.8665</a:t>
            </a:r>
          </a:p>
          <a:p>
            <a:pPr algn="just"/>
            <a:endParaRPr lang="en-IN" sz="2400" dirty="0">
              <a:solidFill>
                <a:srgbClr val="080808"/>
              </a:solidFill>
              <a:latin typeface="Times New Roman" panose="02020603050405020304" pitchFamily="18" charset="0"/>
              <a:cs typeface="Times New Roman" panose="02020603050405020304" pitchFamily="18" charset="0"/>
            </a:endParaRPr>
          </a:p>
          <a:p>
            <a:pPr algn="just"/>
            <a:r>
              <a:rPr lang="en-IN" sz="2400" dirty="0">
                <a:solidFill>
                  <a:srgbClr val="080808"/>
                </a:solidFill>
                <a:latin typeface="Times New Roman" panose="02020603050405020304" pitchFamily="18" charset="0"/>
                <a:cs typeface="Times New Roman" panose="02020603050405020304" pitchFamily="18" charset="0"/>
              </a:rPr>
              <a:t>Micro F1 Score: 0.8441</a:t>
            </a:r>
          </a:p>
          <a:p>
            <a:pPr algn="just"/>
            <a:endParaRPr lang="en-IN" sz="2400" dirty="0">
              <a:solidFill>
                <a:srgbClr val="080808"/>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491796" y="986895"/>
            <a:ext cx="3844925" cy="981038"/>
          </a:xfrm>
          <a:prstGeom prst="rect">
            <a:avLst/>
          </a:prstGeom>
        </p:spPr>
        <p:txBody>
          <a:bodyPr vert="horz" wrap="square" lIns="0" tIns="57150" rIns="0" bIns="0" rtlCol="0">
            <a:spAutoFit/>
          </a:bodyPr>
          <a:lstStyle/>
          <a:p>
            <a:pPr marL="12700" marR="5080">
              <a:lnSpc>
                <a:spcPts val="3600"/>
              </a:lnSpc>
              <a:spcBef>
                <a:spcPts val="450"/>
              </a:spcBef>
            </a:pPr>
            <a:r>
              <a:rPr sz="3200" spc="-10" dirty="0">
                <a:solidFill>
                  <a:srgbClr val="080808"/>
                </a:solidFill>
              </a:rPr>
              <a:t>Classification </a:t>
            </a:r>
            <a:r>
              <a:rPr sz="3200" spc="-60" dirty="0">
                <a:solidFill>
                  <a:srgbClr val="080808"/>
                </a:solidFill>
              </a:rPr>
              <a:t>performance</a:t>
            </a:r>
            <a:r>
              <a:rPr lang="en-US" sz="3200" spc="75" dirty="0">
                <a:solidFill>
                  <a:srgbClr val="080808"/>
                </a:solidFill>
              </a:rPr>
              <a:t> </a:t>
            </a:r>
            <a:r>
              <a:rPr lang="en-US" sz="3200" spc="-40" dirty="0">
                <a:solidFill>
                  <a:srgbClr val="080808"/>
                </a:solidFill>
              </a:rPr>
              <a:t>H</a:t>
            </a:r>
            <a:r>
              <a:rPr sz="3200" spc="-40" dirty="0">
                <a:solidFill>
                  <a:srgbClr val="080808"/>
                </a:solidFill>
              </a:rPr>
              <a:t>eatmap</a:t>
            </a:r>
            <a:endParaRPr sz="3200" dirty="0">
              <a:solidFill>
                <a:srgbClr val="080808"/>
              </a:solidFill>
            </a:endParaRPr>
          </a:p>
        </p:txBody>
      </p:sp>
      <p:sp>
        <p:nvSpPr>
          <p:cNvPr id="6" name="object 6"/>
          <p:cNvSpPr txBox="1"/>
          <p:nvPr/>
        </p:nvSpPr>
        <p:spPr>
          <a:xfrm>
            <a:off x="496103" y="2581275"/>
            <a:ext cx="3844925" cy="2984663"/>
          </a:xfrm>
          <a:prstGeom prst="rect">
            <a:avLst/>
          </a:prstGeom>
        </p:spPr>
        <p:txBody>
          <a:bodyPr vert="horz" wrap="square" lIns="0" tIns="11430" rIns="0" bIns="0" rtlCol="0">
            <a:spAutoFit/>
          </a:bodyPr>
          <a:lstStyle/>
          <a:p>
            <a:pPr marL="13335" marR="63500" indent="8255">
              <a:lnSpc>
                <a:spcPct val="110500"/>
              </a:lnSpc>
              <a:spcBef>
                <a:spcPts val="90"/>
              </a:spcBef>
              <a:tabLst>
                <a:tab pos="2974340" algn="l"/>
              </a:tabLst>
            </a:pPr>
            <a:r>
              <a:rPr sz="2150" spc="95" dirty="0">
                <a:solidFill>
                  <a:srgbClr val="080808"/>
                </a:solidFill>
                <a:latin typeface="Times New Roman"/>
                <a:cs typeface="Times New Roman"/>
              </a:rPr>
              <a:t>Non-</a:t>
            </a:r>
            <a:r>
              <a:rPr sz="2150" spc="105" dirty="0">
                <a:solidFill>
                  <a:srgbClr val="080808"/>
                </a:solidFill>
                <a:latin typeface="Times New Roman"/>
                <a:cs typeface="Times New Roman"/>
              </a:rPr>
              <a:t>Rumor</a:t>
            </a:r>
            <a:r>
              <a:rPr sz="2150" spc="145" dirty="0">
                <a:solidFill>
                  <a:srgbClr val="080808"/>
                </a:solidFill>
                <a:latin typeface="Times New Roman"/>
                <a:cs typeface="Times New Roman"/>
              </a:rPr>
              <a:t> </a:t>
            </a:r>
            <a:r>
              <a:rPr sz="2150" dirty="0">
                <a:solidFill>
                  <a:srgbClr val="080808"/>
                </a:solidFill>
                <a:latin typeface="Times New Roman"/>
                <a:cs typeface="Times New Roman"/>
              </a:rPr>
              <a:t>F1:</a:t>
            </a:r>
            <a:r>
              <a:rPr sz="2150" spc="-20" dirty="0">
                <a:solidFill>
                  <a:srgbClr val="080808"/>
                </a:solidFill>
                <a:latin typeface="Times New Roman"/>
                <a:cs typeface="Times New Roman"/>
              </a:rPr>
              <a:t> </a:t>
            </a:r>
            <a:r>
              <a:rPr sz="2150" spc="-10" dirty="0">
                <a:solidFill>
                  <a:srgbClr val="080808"/>
                </a:solidFill>
                <a:latin typeface="Times New Roman"/>
                <a:cs typeface="Times New Roman"/>
              </a:rPr>
              <a:t>0.9231</a:t>
            </a:r>
            <a:r>
              <a:rPr sz="2150" dirty="0">
                <a:solidFill>
                  <a:srgbClr val="080808"/>
                </a:solidFill>
                <a:latin typeface="Times New Roman"/>
                <a:cs typeface="Times New Roman"/>
              </a:rPr>
              <a:t>	</a:t>
            </a:r>
            <a:r>
              <a:rPr sz="2150" spc="-35" dirty="0">
                <a:solidFill>
                  <a:srgbClr val="080808"/>
                </a:solidFill>
                <a:latin typeface="Times New Roman"/>
                <a:cs typeface="Times New Roman"/>
              </a:rPr>
              <a:t>Largest </a:t>
            </a:r>
            <a:r>
              <a:rPr sz="2150" spc="-40" dirty="0">
                <a:solidFill>
                  <a:srgbClr val="080808"/>
                </a:solidFill>
                <a:latin typeface="Times New Roman"/>
                <a:cs typeface="Times New Roman"/>
              </a:rPr>
              <a:t>class,</a:t>
            </a:r>
            <a:r>
              <a:rPr sz="2150" spc="-70" dirty="0">
                <a:solidFill>
                  <a:srgbClr val="080808"/>
                </a:solidFill>
                <a:latin typeface="Times New Roman"/>
                <a:cs typeface="Times New Roman"/>
              </a:rPr>
              <a:t> </a:t>
            </a:r>
            <a:r>
              <a:rPr sz="2150" spc="-110" dirty="0">
                <a:solidFill>
                  <a:srgbClr val="080808"/>
                </a:solidFill>
                <a:latin typeface="Times New Roman"/>
                <a:cs typeface="Times New Roman"/>
              </a:rPr>
              <a:t>lTlost</a:t>
            </a:r>
            <a:r>
              <a:rPr sz="2150" spc="-20" dirty="0">
                <a:solidFill>
                  <a:srgbClr val="080808"/>
                </a:solidFill>
                <a:latin typeface="Times New Roman"/>
                <a:cs typeface="Times New Roman"/>
              </a:rPr>
              <a:t> </a:t>
            </a:r>
            <a:r>
              <a:rPr sz="2150" dirty="0">
                <a:solidFill>
                  <a:srgbClr val="080808"/>
                </a:solidFill>
                <a:latin typeface="Times New Roman"/>
                <a:cs typeface="Times New Roman"/>
              </a:rPr>
              <a:t>stable</a:t>
            </a:r>
            <a:r>
              <a:rPr sz="2150" spc="-15" dirty="0">
                <a:solidFill>
                  <a:srgbClr val="080808"/>
                </a:solidFill>
                <a:latin typeface="Times New Roman"/>
                <a:cs typeface="Times New Roman"/>
              </a:rPr>
              <a:t> </a:t>
            </a:r>
            <a:r>
              <a:rPr sz="2150" spc="-10" dirty="0">
                <a:solidFill>
                  <a:srgbClr val="080808"/>
                </a:solidFill>
                <a:latin typeface="Times New Roman"/>
                <a:cs typeface="Times New Roman"/>
              </a:rPr>
              <a:t>cluster.</a:t>
            </a:r>
            <a:endParaRPr sz="2150" dirty="0">
              <a:solidFill>
                <a:srgbClr val="080808"/>
              </a:solidFill>
              <a:latin typeface="Times New Roman"/>
              <a:cs typeface="Times New Roman"/>
            </a:endParaRPr>
          </a:p>
          <a:p>
            <a:pPr marL="20955" marR="5080" indent="-6985">
              <a:lnSpc>
                <a:spcPct val="110500"/>
              </a:lnSpc>
              <a:spcBef>
                <a:spcPts val="75"/>
              </a:spcBef>
              <a:tabLst>
                <a:tab pos="2712720" algn="l"/>
              </a:tabLst>
            </a:pPr>
            <a:r>
              <a:rPr sz="2150" dirty="0">
                <a:solidFill>
                  <a:srgbClr val="080808"/>
                </a:solidFill>
                <a:latin typeface="Times New Roman"/>
                <a:cs typeface="Times New Roman"/>
              </a:rPr>
              <a:t>True</a:t>
            </a:r>
            <a:r>
              <a:rPr sz="2150" spc="35" dirty="0">
                <a:solidFill>
                  <a:srgbClr val="080808"/>
                </a:solidFill>
                <a:latin typeface="Times New Roman"/>
                <a:cs typeface="Times New Roman"/>
              </a:rPr>
              <a:t> </a:t>
            </a:r>
            <a:r>
              <a:rPr sz="2150" dirty="0">
                <a:solidFill>
                  <a:srgbClr val="080808"/>
                </a:solidFill>
                <a:latin typeface="Times New Roman"/>
                <a:cs typeface="Times New Roman"/>
              </a:rPr>
              <a:t>F1:</a:t>
            </a:r>
            <a:r>
              <a:rPr sz="2150" spc="-15" dirty="0">
                <a:solidFill>
                  <a:srgbClr val="080808"/>
                </a:solidFill>
                <a:latin typeface="Times New Roman"/>
                <a:cs typeface="Times New Roman"/>
              </a:rPr>
              <a:t> </a:t>
            </a:r>
            <a:r>
              <a:rPr sz="2150" dirty="0">
                <a:solidFill>
                  <a:srgbClr val="080808"/>
                </a:solidFill>
                <a:latin typeface="Times New Roman"/>
                <a:cs typeface="Times New Roman"/>
              </a:rPr>
              <a:t>0.8270</a:t>
            </a:r>
            <a:r>
              <a:rPr sz="2150" spc="60" dirty="0">
                <a:solidFill>
                  <a:srgbClr val="080808"/>
                </a:solidFill>
                <a:latin typeface="Times New Roman"/>
                <a:cs typeface="Times New Roman"/>
              </a:rPr>
              <a:t> </a:t>
            </a:r>
            <a:r>
              <a:rPr sz="2150" dirty="0">
                <a:solidFill>
                  <a:srgbClr val="080808"/>
                </a:solidFill>
                <a:latin typeface="Times New Roman"/>
                <a:cs typeface="Times New Roman"/>
              </a:rPr>
              <a:t>-</a:t>
            </a:r>
            <a:r>
              <a:rPr sz="2150" spc="15" dirty="0">
                <a:solidFill>
                  <a:srgbClr val="080808"/>
                </a:solidFill>
                <a:latin typeface="Times New Roman"/>
                <a:cs typeface="Times New Roman"/>
              </a:rPr>
              <a:t> </a:t>
            </a:r>
            <a:r>
              <a:rPr sz="2150" spc="-10" dirty="0">
                <a:solidFill>
                  <a:srgbClr val="080808"/>
                </a:solidFill>
                <a:latin typeface="Times New Roman"/>
                <a:cs typeface="Times New Roman"/>
              </a:rPr>
              <a:t>Fact-</a:t>
            </a:r>
            <a:r>
              <a:rPr sz="2150" dirty="0">
                <a:solidFill>
                  <a:srgbClr val="080808"/>
                </a:solidFill>
                <a:latin typeface="Times New Roman"/>
                <a:cs typeface="Times New Roman"/>
              </a:rPr>
              <a:t>	</a:t>
            </a:r>
            <a:r>
              <a:rPr sz="2150" spc="-10" dirty="0">
                <a:solidFill>
                  <a:srgbClr val="080808"/>
                </a:solidFill>
                <a:latin typeface="Times New Roman"/>
                <a:cs typeface="Times New Roman"/>
              </a:rPr>
              <a:t>erification </a:t>
            </a:r>
            <a:r>
              <a:rPr sz="2150" dirty="0">
                <a:solidFill>
                  <a:srgbClr val="080808"/>
                </a:solidFill>
                <a:latin typeface="Times New Roman"/>
                <a:cs typeface="Times New Roman"/>
              </a:rPr>
              <a:t>reinforces</a:t>
            </a:r>
            <a:r>
              <a:rPr sz="2150" spc="45" dirty="0">
                <a:solidFill>
                  <a:srgbClr val="080808"/>
                </a:solidFill>
                <a:latin typeface="Times New Roman"/>
                <a:cs typeface="Times New Roman"/>
              </a:rPr>
              <a:t> </a:t>
            </a:r>
            <a:r>
              <a:rPr sz="2150" dirty="0">
                <a:solidFill>
                  <a:srgbClr val="080808"/>
                </a:solidFill>
                <a:latin typeface="Times New Roman"/>
                <a:cs typeface="Times New Roman"/>
              </a:rPr>
              <a:t>correct</a:t>
            </a:r>
            <a:r>
              <a:rPr sz="2150" spc="85" dirty="0">
                <a:solidFill>
                  <a:srgbClr val="080808"/>
                </a:solidFill>
                <a:latin typeface="Times New Roman"/>
                <a:cs typeface="Times New Roman"/>
              </a:rPr>
              <a:t> </a:t>
            </a:r>
            <a:r>
              <a:rPr sz="2150" spc="-10" dirty="0">
                <a:solidFill>
                  <a:srgbClr val="080808"/>
                </a:solidFill>
                <a:latin typeface="Times New Roman"/>
                <a:cs typeface="Times New Roman"/>
              </a:rPr>
              <a:t>predictions.</a:t>
            </a:r>
            <a:endParaRPr sz="2150" dirty="0">
              <a:solidFill>
                <a:srgbClr val="080808"/>
              </a:solidFill>
              <a:latin typeface="Times New Roman"/>
              <a:cs typeface="Times New Roman"/>
            </a:endParaRPr>
          </a:p>
          <a:p>
            <a:pPr marL="12700" marR="53975" indent="5715">
              <a:lnSpc>
                <a:spcPct val="110500"/>
              </a:lnSpc>
              <a:spcBef>
                <a:spcPts val="75"/>
              </a:spcBef>
            </a:pPr>
            <a:r>
              <a:rPr sz="2150" spc="-55" dirty="0">
                <a:solidFill>
                  <a:srgbClr val="080808"/>
                </a:solidFill>
                <a:latin typeface="Times New Roman"/>
                <a:cs typeface="Times New Roman"/>
              </a:rPr>
              <a:t>False</a:t>
            </a:r>
            <a:r>
              <a:rPr sz="2150" spc="35" dirty="0">
                <a:solidFill>
                  <a:srgbClr val="080808"/>
                </a:solidFill>
                <a:latin typeface="Times New Roman"/>
                <a:cs typeface="Times New Roman"/>
              </a:rPr>
              <a:t> </a:t>
            </a:r>
            <a:r>
              <a:rPr sz="2150" dirty="0">
                <a:solidFill>
                  <a:srgbClr val="080808"/>
                </a:solidFill>
                <a:latin typeface="Times New Roman"/>
                <a:cs typeface="Times New Roman"/>
              </a:rPr>
              <a:t>F1:</a:t>
            </a:r>
            <a:r>
              <a:rPr sz="2150" spc="-5" dirty="0">
                <a:solidFill>
                  <a:srgbClr val="080808"/>
                </a:solidFill>
                <a:latin typeface="Times New Roman"/>
                <a:cs typeface="Times New Roman"/>
              </a:rPr>
              <a:t> </a:t>
            </a:r>
            <a:r>
              <a:rPr sz="2150" dirty="0">
                <a:solidFill>
                  <a:srgbClr val="080808"/>
                </a:solidFill>
                <a:latin typeface="Times New Roman"/>
                <a:cs typeface="Times New Roman"/>
              </a:rPr>
              <a:t>0.8213</a:t>
            </a:r>
            <a:r>
              <a:rPr sz="2150" spc="-75" dirty="0">
                <a:solidFill>
                  <a:srgbClr val="080808"/>
                </a:solidFill>
                <a:latin typeface="Times New Roman"/>
                <a:cs typeface="Times New Roman"/>
              </a:rPr>
              <a:t> </a:t>
            </a:r>
            <a:r>
              <a:rPr sz="2150" dirty="0">
                <a:solidFill>
                  <a:srgbClr val="080808"/>
                </a:solidFill>
                <a:latin typeface="Times New Roman"/>
                <a:cs typeface="Times New Roman"/>
              </a:rPr>
              <a:t>-</a:t>
            </a:r>
            <a:r>
              <a:rPr sz="2150" spc="-15" dirty="0">
                <a:solidFill>
                  <a:srgbClr val="080808"/>
                </a:solidFill>
                <a:latin typeface="Times New Roman"/>
                <a:cs typeface="Times New Roman"/>
              </a:rPr>
              <a:t> </a:t>
            </a:r>
            <a:r>
              <a:rPr sz="2150" spc="50" dirty="0">
                <a:solidFill>
                  <a:srgbClr val="080808"/>
                </a:solidFill>
                <a:latin typeface="Times New Roman"/>
                <a:cs typeface="Times New Roman"/>
              </a:rPr>
              <a:t>High</a:t>
            </a:r>
            <a:r>
              <a:rPr sz="2150" spc="60" dirty="0">
                <a:solidFill>
                  <a:srgbClr val="080808"/>
                </a:solidFill>
                <a:latin typeface="Times New Roman"/>
                <a:cs typeface="Times New Roman"/>
              </a:rPr>
              <a:t> </a:t>
            </a:r>
            <a:r>
              <a:rPr sz="2150" spc="-10" dirty="0">
                <a:solidFill>
                  <a:srgbClr val="080808"/>
                </a:solidFill>
                <a:latin typeface="Times New Roman"/>
                <a:cs typeface="Times New Roman"/>
              </a:rPr>
              <a:t>precision; </a:t>
            </a:r>
            <a:r>
              <a:rPr sz="2150" spc="50" dirty="0">
                <a:solidFill>
                  <a:srgbClr val="080808"/>
                </a:solidFill>
                <a:latin typeface="Times New Roman"/>
                <a:cs typeface="Times New Roman"/>
              </a:rPr>
              <a:t>emotion</a:t>
            </a:r>
            <a:r>
              <a:rPr sz="2150" spc="70" dirty="0">
                <a:solidFill>
                  <a:srgbClr val="080808"/>
                </a:solidFill>
                <a:latin typeface="Times New Roman"/>
                <a:cs typeface="Times New Roman"/>
              </a:rPr>
              <a:t> </a:t>
            </a:r>
            <a:r>
              <a:rPr sz="2150" dirty="0">
                <a:solidFill>
                  <a:srgbClr val="080808"/>
                </a:solidFill>
                <a:latin typeface="Times New Roman"/>
                <a:cs typeface="Times New Roman"/>
              </a:rPr>
              <a:t>filtering</a:t>
            </a:r>
            <a:r>
              <a:rPr sz="2150" spc="10" dirty="0">
                <a:solidFill>
                  <a:srgbClr val="080808"/>
                </a:solidFill>
                <a:latin typeface="Times New Roman"/>
                <a:cs typeface="Times New Roman"/>
              </a:rPr>
              <a:t> </a:t>
            </a:r>
            <a:r>
              <a:rPr sz="2150" spc="-50" dirty="0">
                <a:solidFill>
                  <a:srgbClr val="080808"/>
                </a:solidFill>
                <a:latin typeface="Times New Roman"/>
                <a:cs typeface="Times New Roman"/>
              </a:rPr>
              <a:t>is</a:t>
            </a:r>
            <a:r>
              <a:rPr sz="2150" spc="-15" dirty="0">
                <a:solidFill>
                  <a:srgbClr val="080808"/>
                </a:solidFill>
                <a:latin typeface="Times New Roman"/>
                <a:cs typeface="Times New Roman"/>
              </a:rPr>
              <a:t> </a:t>
            </a:r>
            <a:r>
              <a:rPr sz="2150" spc="-20" dirty="0">
                <a:solidFill>
                  <a:srgbClr val="080808"/>
                </a:solidFill>
                <a:latin typeface="Times New Roman"/>
                <a:cs typeface="Times New Roman"/>
              </a:rPr>
              <a:t>ke}.</a:t>
            </a:r>
            <a:endParaRPr sz="2150" dirty="0">
              <a:solidFill>
                <a:srgbClr val="080808"/>
              </a:solidFill>
              <a:latin typeface="Times New Roman"/>
              <a:cs typeface="Times New Roman"/>
            </a:endParaRPr>
          </a:p>
          <a:p>
            <a:pPr marL="20955">
              <a:lnSpc>
                <a:spcPct val="100000"/>
              </a:lnSpc>
              <a:spcBef>
                <a:spcPts val="270"/>
              </a:spcBef>
              <a:tabLst>
                <a:tab pos="2686685" algn="l"/>
              </a:tabLst>
            </a:pPr>
            <a:r>
              <a:rPr sz="2150" dirty="0">
                <a:solidFill>
                  <a:srgbClr val="080808"/>
                </a:solidFill>
                <a:latin typeface="Times New Roman"/>
                <a:cs typeface="Times New Roman"/>
              </a:rPr>
              <a:t>Unverified</a:t>
            </a:r>
            <a:r>
              <a:rPr sz="2150" spc="70" dirty="0">
                <a:solidFill>
                  <a:srgbClr val="080808"/>
                </a:solidFill>
                <a:latin typeface="Times New Roman"/>
                <a:cs typeface="Times New Roman"/>
              </a:rPr>
              <a:t> </a:t>
            </a:r>
            <a:r>
              <a:rPr sz="2150" dirty="0">
                <a:solidFill>
                  <a:srgbClr val="080808"/>
                </a:solidFill>
                <a:latin typeface="Times New Roman"/>
                <a:cs typeface="Times New Roman"/>
              </a:rPr>
              <a:t>F1:</a:t>
            </a:r>
            <a:r>
              <a:rPr sz="2150" spc="-105" dirty="0">
                <a:solidFill>
                  <a:srgbClr val="080808"/>
                </a:solidFill>
                <a:latin typeface="Times New Roman"/>
                <a:cs typeface="Times New Roman"/>
              </a:rPr>
              <a:t> </a:t>
            </a:r>
            <a:r>
              <a:rPr sz="2150" spc="-10" dirty="0">
                <a:solidFill>
                  <a:srgbClr val="080808"/>
                </a:solidFill>
                <a:latin typeface="Times New Roman"/>
                <a:cs typeface="Times New Roman"/>
              </a:rPr>
              <a:t>0</a:t>
            </a:r>
            <a:r>
              <a:rPr lang="en-US" sz="2150" spc="-10" dirty="0">
                <a:solidFill>
                  <a:srgbClr val="080808"/>
                </a:solidFill>
                <a:latin typeface="Times New Roman"/>
                <a:cs typeface="Times New Roman"/>
              </a:rPr>
              <a:t>08049</a:t>
            </a:r>
            <a:r>
              <a:rPr sz="2150" dirty="0">
                <a:solidFill>
                  <a:srgbClr val="080808"/>
                </a:solidFill>
                <a:latin typeface="Times New Roman"/>
                <a:cs typeface="Times New Roman"/>
              </a:rPr>
              <a:t>	</a:t>
            </a:r>
            <a:r>
              <a:rPr sz="2150" spc="-10" dirty="0">
                <a:solidFill>
                  <a:srgbClr val="080808"/>
                </a:solidFill>
                <a:latin typeface="Times New Roman"/>
                <a:cs typeface="Times New Roman"/>
              </a:rPr>
              <a:t>Strong</a:t>
            </a:r>
            <a:endParaRPr sz="2150" dirty="0">
              <a:solidFill>
                <a:srgbClr val="080808"/>
              </a:solidFill>
              <a:latin typeface="Times New Roman"/>
              <a:cs typeface="Times New Roman"/>
            </a:endParaRPr>
          </a:p>
          <a:p>
            <a:pPr marL="18415">
              <a:lnSpc>
                <a:spcPct val="100000"/>
              </a:lnSpc>
              <a:spcBef>
                <a:spcPts val="395"/>
              </a:spcBef>
            </a:pPr>
            <a:r>
              <a:rPr sz="2100" dirty="0">
                <a:solidFill>
                  <a:srgbClr val="080808"/>
                </a:solidFill>
                <a:latin typeface="Times New Roman"/>
                <a:cs typeface="Times New Roman"/>
              </a:rPr>
              <a:t>despite</a:t>
            </a:r>
            <a:r>
              <a:rPr sz="2100" spc="140" dirty="0">
                <a:solidFill>
                  <a:srgbClr val="080808"/>
                </a:solidFill>
                <a:latin typeface="Times New Roman"/>
                <a:cs typeface="Times New Roman"/>
              </a:rPr>
              <a:t> </a:t>
            </a:r>
            <a:r>
              <a:rPr sz="2100" spc="55" dirty="0">
                <a:solidFill>
                  <a:srgbClr val="080808"/>
                </a:solidFill>
                <a:latin typeface="Times New Roman"/>
                <a:cs typeface="Times New Roman"/>
              </a:rPr>
              <a:t>inherent</a:t>
            </a:r>
            <a:r>
              <a:rPr sz="2100" spc="240" dirty="0">
                <a:solidFill>
                  <a:srgbClr val="080808"/>
                </a:solidFill>
                <a:latin typeface="Times New Roman"/>
                <a:cs typeface="Times New Roman"/>
              </a:rPr>
              <a:t> </a:t>
            </a:r>
            <a:r>
              <a:rPr sz="2100" spc="-10" dirty="0">
                <a:solidFill>
                  <a:srgbClr val="080808"/>
                </a:solidFill>
                <a:latin typeface="Times New Roman"/>
                <a:cs typeface="Times New Roman"/>
              </a:rPr>
              <a:t>ambiguit</a:t>
            </a:r>
            <a:r>
              <a:rPr lang="en-US" sz="2100" spc="-10" dirty="0">
                <a:solidFill>
                  <a:srgbClr val="080808"/>
                </a:solidFill>
                <a:latin typeface="Times New Roman"/>
                <a:cs typeface="Times New Roman"/>
              </a:rPr>
              <a:t>y</a:t>
            </a:r>
            <a:r>
              <a:rPr sz="2100" spc="-10" dirty="0">
                <a:solidFill>
                  <a:srgbClr val="080808"/>
                </a:solidFill>
                <a:latin typeface="Times New Roman"/>
                <a:cs typeface="Times New Roman"/>
              </a:rPr>
              <a:t>}.</a:t>
            </a:r>
            <a:endParaRPr sz="2100" dirty="0">
              <a:solidFill>
                <a:srgbClr val="080808"/>
              </a:solidFill>
              <a:latin typeface="Times New Roman"/>
              <a:cs typeface="Times New Roman"/>
            </a:endParaRPr>
          </a:p>
        </p:txBody>
      </p:sp>
      <p:sp>
        <p:nvSpPr>
          <p:cNvPr id="7" name="object 7"/>
          <p:cNvSpPr txBox="1"/>
          <p:nvPr/>
        </p:nvSpPr>
        <p:spPr>
          <a:xfrm>
            <a:off x="492847" y="6043612"/>
            <a:ext cx="4060190" cy="1125855"/>
          </a:xfrm>
          <a:prstGeom prst="rect">
            <a:avLst/>
          </a:prstGeom>
        </p:spPr>
        <p:txBody>
          <a:bodyPr vert="horz" wrap="square" lIns="0" tIns="50800" rIns="0" bIns="0" rtlCol="0">
            <a:spAutoFit/>
          </a:bodyPr>
          <a:lstStyle/>
          <a:p>
            <a:pPr marL="13970">
              <a:lnSpc>
                <a:spcPct val="100000"/>
              </a:lnSpc>
              <a:spcBef>
                <a:spcPts val="400"/>
              </a:spcBef>
            </a:pPr>
            <a:r>
              <a:rPr sz="2150" dirty="0">
                <a:solidFill>
                  <a:srgbClr val="080808"/>
                </a:solidFill>
                <a:latin typeface="Times New Roman"/>
                <a:cs typeface="Times New Roman"/>
              </a:rPr>
              <a:t>All</a:t>
            </a:r>
            <a:r>
              <a:rPr sz="2150" spc="40" dirty="0">
                <a:solidFill>
                  <a:srgbClr val="080808"/>
                </a:solidFill>
                <a:latin typeface="Times New Roman"/>
                <a:cs typeface="Times New Roman"/>
              </a:rPr>
              <a:t> </a:t>
            </a:r>
            <a:r>
              <a:rPr sz="2150" dirty="0">
                <a:solidFill>
                  <a:srgbClr val="080808"/>
                </a:solidFill>
                <a:latin typeface="Times New Roman"/>
                <a:cs typeface="Times New Roman"/>
              </a:rPr>
              <a:t>minority</a:t>
            </a:r>
            <a:r>
              <a:rPr sz="2150" spc="145" dirty="0">
                <a:solidFill>
                  <a:srgbClr val="080808"/>
                </a:solidFill>
                <a:latin typeface="Times New Roman"/>
                <a:cs typeface="Times New Roman"/>
              </a:rPr>
              <a:t> </a:t>
            </a:r>
            <a:r>
              <a:rPr sz="2150" spc="-50" dirty="0">
                <a:solidFill>
                  <a:srgbClr val="080808"/>
                </a:solidFill>
                <a:latin typeface="Times New Roman"/>
                <a:cs typeface="Times New Roman"/>
              </a:rPr>
              <a:t>class</a:t>
            </a:r>
            <a:r>
              <a:rPr sz="2150" spc="50" dirty="0">
                <a:solidFill>
                  <a:srgbClr val="080808"/>
                </a:solidFill>
                <a:latin typeface="Times New Roman"/>
                <a:cs typeface="Times New Roman"/>
              </a:rPr>
              <a:t> </a:t>
            </a:r>
            <a:r>
              <a:rPr sz="2150" dirty="0">
                <a:solidFill>
                  <a:srgbClr val="080808"/>
                </a:solidFill>
                <a:latin typeface="Times New Roman"/>
                <a:cs typeface="Times New Roman"/>
              </a:rPr>
              <a:t>F1</a:t>
            </a:r>
            <a:r>
              <a:rPr sz="2150" spc="45" dirty="0">
                <a:solidFill>
                  <a:srgbClr val="080808"/>
                </a:solidFill>
                <a:latin typeface="Times New Roman"/>
                <a:cs typeface="Times New Roman"/>
              </a:rPr>
              <a:t> </a:t>
            </a:r>
            <a:r>
              <a:rPr sz="2150" spc="-25" dirty="0">
                <a:solidFill>
                  <a:srgbClr val="080808"/>
                </a:solidFill>
                <a:latin typeface="Times New Roman"/>
                <a:cs typeface="Times New Roman"/>
              </a:rPr>
              <a:t>scores</a:t>
            </a:r>
            <a:r>
              <a:rPr sz="2150" spc="40" dirty="0">
                <a:solidFill>
                  <a:srgbClr val="080808"/>
                </a:solidFill>
                <a:latin typeface="Times New Roman"/>
                <a:cs typeface="Times New Roman"/>
              </a:rPr>
              <a:t> </a:t>
            </a:r>
            <a:r>
              <a:rPr sz="2150" spc="-10" dirty="0">
                <a:solidFill>
                  <a:srgbClr val="080808"/>
                </a:solidFill>
                <a:latin typeface="Times New Roman"/>
                <a:cs typeface="Times New Roman"/>
              </a:rPr>
              <a:t>exceed</a:t>
            </a:r>
            <a:endParaRPr sz="2150" dirty="0">
              <a:solidFill>
                <a:srgbClr val="080808"/>
              </a:solidFill>
              <a:latin typeface="Times New Roman"/>
              <a:cs typeface="Times New Roman"/>
            </a:endParaRPr>
          </a:p>
          <a:p>
            <a:pPr marL="12700" marR="5080" indent="8255">
              <a:lnSpc>
                <a:spcPct val="111900"/>
              </a:lnSpc>
              <a:tabLst>
                <a:tab pos="3408045" algn="l"/>
              </a:tabLst>
            </a:pPr>
            <a:r>
              <a:rPr sz="2150" dirty="0">
                <a:solidFill>
                  <a:srgbClr val="080808"/>
                </a:solidFill>
                <a:latin typeface="Times New Roman"/>
                <a:cs typeface="Times New Roman"/>
              </a:rPr>
              <a:t>0.80.</a:t>
            </a:r>
            <a:r>
              <a:rPr sz="2150" spc="-30" dirty="0">
                <a:solidFill>
                  <a:srgbClr val="080808"/>
                </a:solidFill>
                <a:latin typeface="Times New Roman"/>
                <a:cs typeface="Times New Roman"/>
              </a:rPr>
              <a:t> </a:t>
            </a:r>
            <a:r>
              <a:rPr sz="2150" dirty="0">
                <a:solidFill>
                  <a:srgbClr val="080808"/>
                </a:solidFill>
                <a:latin typeface="Times New Roman"/>
                <a:cs typeface="Times New Roman"/>
              </a:rPr>
              <a:t>Test</a:t>
            </a:r>
            <a:r>
              <a:rPr sz="2150" spc="-55" dirty="0">
                <a:solidFill>
                  <a:srgbClr val="080808"/>
                </a:solidFill>
                <a:latin typeface="Times New Roman"/>
                <a:cs typeface="Times New Roman"/>
              </a:rPr>
              <a:t> </a:t>
            </a:r>
            <a:r>
              <a:rPr sz="2150" dirty="0">
                <a:solidFill>
                  <a:srgbClr val="080808"/>
                </a:solidFill>
                <a:latin typeface="Times New Roman"/>
                <a:cs typeface="Times New Roman"/>
              </a:rPr>
              <a:t>Accuracy:</a:t>
            </a:r>
            <a:r>
              <a:rPr sz="2150" spc="55" dirty="0">
                <a:solidFill>
                  <a:srgbClr val="080808"/>
                </a:solidFill>
                <a:latin typeface="Times New Roman"/>
                <a:cs typeface="Times New Roman"/>
              </a:rPr>
              <a:t> </a:t>
            </a:r>
            <a:r>
              <a:rPr sz="2150" spc="-10" dirty="0">
                <a:solidFill>
                  <a:srgbClr val="080808"/>
                </a:solidFill>
                <a:latin typeface="Times New Roman"/>
                <a:cs typeface="Times New Roman"/>
              </a:rPr>
              <a:t>86.78%</a:t>
            </a:r>
            <a:r>
              <a:rPr sz="2150" dirty="0">
                <a:solidFill>
                  <a:srgbClr val="080808"/>
                </a:solidFill>
                <a:latin typeface="Times New Roman"/>
                <a:cs typeface="Times New Roman"/>
              </a:rPr>
              <a:t>	</a:t>
            </a:r>
            <a:r>
              <a:rPr sz="2150" spc="-70" dirty="0">
                <a:solidFill>
                  <a:srgbClr val="080808"/>
                </a:solidFill>
                <a:latin typeface="Times New Roman"/>
                <a:cs typeface="Times New Roman"/>
              </a:rPr>
              <a:t>1,7</a:t>
            </a:r>
            <a:r>
              <a:rPr lang="en-US" sz="2150" spc="-70" dirty="0">
                <a:solidFill>
                  <a:srgbClr val="080808"/>
                </a:solidFill>
                <a:latin typeface="Times New Roman"/>
                <a:cs typeface="Times New Roman"/>
              </a:rPr>
              <a:t>6</a:t>
            </a:r>
            <a:r>
              <a:rPr sz="2150" spc="-70" dirty="0">
                <a:solidFill>
                  <a:srgbClr val="080808"/>
                </a:solidFill>
                <a:latin typeface="Times New Roman"/>
                <a:cs typeface="Times New Roman"/>
              </a:rPr>
              <a:t>3 </a:t>
            </a:r>
            <a:r>
              <a:rPr sz="2150" spc="-10" dirty="0">
                <a:solidFill>
                  <a:srgbClr val="080808"/>
                </a:solidFill>
                <a:latin typeface="Times New Roman"/>
                <a:cs typeface="Times New Roman"/>
              </a:rPr>
              <a:t>samples.</a:t>
            </a:r>
            <a:endParaRPr sz="2150" dirty="0">
              <a:solidFill>
                <a:srgbClr val="080808"/>
              </a:solidFill>
              <a:latin typeface="Times New Roman"/>
              <a:cs typeface="Times New Roman"/>
            </a:endParaRPr>
          </a:p>
        </p:txBody>
      </p:sp>
      <p:sp>
        <p:nvSpPr>
          <p:cNvPr id="10" name="object 10"/>
          <p:cNvSpPr txBox="1"/>
          <p:nvPr/>
        </p:nvSpPr>
        <p:spPr>
          <a:xfrm>
            <a:off x="7176571" y="542925"/>
            <a:ext cx="4286250" cy="351155"/>
          </a:xfrm>
          <a:prstGeom prst="rect">
            <a:avLst/>
          </a:prstGeom>
        </p:spPr>
        <p:txBody>
          <a:bodyPr vert="horz" wrap="square" lIns="0" tIns="17145" rIns="0" bIns="0" rtlCol="0">
            <a:spAutoFit/>
          </a:bodyPr>
          <a:lstStyle/>
          <a:p>
            <a:pPr marL="12700">
              <a:lnSpc>
                <a:spcPct val="100000"/>
              </a:lnSpc>
              <a:spcBef>
                <a:spcPts val="135"/>
              </a:spcBef>
            </a:pPr>
            <a:r>
              <a:rPr sz="2100" spc="-95" dirty="0">
                <a:solidFill>
                  <a:srgbClr val="080808"/>
                </a:solidFill>
                <a:latin typeface="Cambria"/>
                <a:cs typeface="Cambria"/>
              </a:rPr>
              <a:t>Per-</a:t>
            </a:r>
            <a:r>
              <a:rPr sz="2100" spc="-60" dirty="0">
                <a:solidFill>
                  <a:srgbClr val="080808"/>
                </a:solidFill>
                <a:latin typeface="Cambria"/>
                <a:cs typeface="Cambria"/>
              </a:rPr>
              <a:t>class</a:t>
            </a:r>
            <a:r>
              <a:rPr sz="2100" spc="-20" dirty="0">
                <a:solidFill>
                  <a:srgbClr val="080808"/>
                </a:solidFill>
                <a:latin typeface="Cambria"/>
                <a:cs typeface="Cambria"/>
              </a:rPr>
              <a:t> </a:t>
            </a:r>
            <a:r>
              <a:rPr sz="2100" spc="-10" dirty="0">
                <a:solidFill>
                  <a:srgbClr val="080808"/>
                </a:solidFill>
                <a:latin typeface="Cambria"/>
                <a:cs typeface="Cambria"/>
              </a:rPr>
              <a:t>precision,</a:t>
            </a:r>
            <a:r>
              <a:rPr sz="2100" spc="45" dirty="0">
                <a:solidFill>
                  <a:srgbClr val="080808"/>
                </a:solidFill>
                <a:latin typeface="Cambria"/>
                <a:cs typeface="Cambria"/>
              </a:rPr>
              <a:t> </a:t>
            </a:r>
            <a:r>
              <a:rPr sz="2100" spc="-55" dirty="0">
                <a:solidFill>
                  <a:srgbClr val="080808"/>
                </a:solidFill>
                <a:latin typeface="Cambria"/>
                <a:cs typeface="Cambria"/>
              </a:rPr>
              <a:t>recall</a:t>
            </a:r>
            <a:r>
              <a:rPr sz="2100" spc="-15" dirty="0">
                <a:solidFill>
                  <a:srgbClr val="080808"/>
                </a:solidFill>
                <a:latin typeface="Cambria"/>
                <a:cs typeface="Cambria"/>
              </a:rPr>
              <a:t> </a:t>
            </a:r>
            <a:r>
              <a:rPr sz="2100" dirty="0">
                <a:solidFill>
                  <a:srgbClr val="080808"/>
                </a:solidFill>
                <a:latin typeface="Cambria"/>
                <a:cs typeface="Cambria"/>
              </a:rPr>
              <a:t>and</a:t>
            </a:r>
            <a:r>
              <a:rPr sz="2100" spc="-114" dirty="0">
                <a:solidFill>
                  <a:srgbClr val="080808"/>
                </a:solidFill>
                <a:latin typeface="Cambria"/>
                <a:cs typeface="Cambria"/>
              </a:rPr>
              <a:t> </a:t>
            </a:r>
            <a:r>
              <a:rPr sz="2100" dirty="0">
                <a:solidFill>
                  <a:srgbClr val="080808"/>
                </a:solidFill>
                <a:latin typeface="Cambria"/>
                <a:cs typeface="Cambria"/>
              </a:rPr>
              <a:t>Fl-</a:t>
            </a:r>
            <a:r>
              <a:rPr sz="2100" spc="-10" dirty="0">
                <a:solidFill>
                  <a:srgbClr val="080808"/>
                </a:solidFill>
                <a:latin typeface="Cambria"/>
                <a:cs typeface="Cambria"/>
              </a:rPr>
              <a:t>score</a:t>
            </a:r>
            <a:endParaRPr sz="2100" dirty="0">
              <a:solidFill>
                <a:srgbClr val="080808"/>
              </a:solidFill>
              <a:latin typeface="Cambria"/>
              <a:cs typeface="Cambria"/>
            </a:endParaRPr>
          </a:p>
        </p:txBody>
      </p:sp>
      <p:pic>
        <p:nvPicPr>
          <p:cNvPr id="9" name="Picture 8">
            <a:extLst>
              <a:ext uri="{FF2B5EF4-FFF2-40B4-BE49-F238E27FC236}">
                <a16:creationId xmlns:a16="http://schemas.microsoft.com/office/drawing/2014/main" id="{1CCFFF75-0609-C268-5BD9-FEA47CE111A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91100" y="1319845"/>
            <a:ext cx="8914597" cy="572611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762" y="2209800"/>
            <a:ext cx="7986712" cy="5886450"/>
          </a:xfrm>
          <a:prstGeom prst="rect">
            <a:avLst/>
          </a:prstGeom>
        </p:spPr>
      </p:pic>
      <p:sp>
        <p:nvSpPr>
          <p:cNvPr id="3" name="object 3"/>
          <p:cNvSpPr txBox="1">
            <a:spLocks noGrp="1"/>
          </p:cNvSpPr>
          <p:nvPr>
            <p:ph type="title"/>
          </p:nvPr>
        </p:nvSpPr>
        <p:spPr>
          <a:xfrm>
            <a:off x="266700" y="619125"/>
            <a:ext cx="4419600" cy="756617"/>
          </a:xfrm>
          <a:prstGeom prst="rect">
            <a:avLst/>
          </a:prstGeom>
        </p:spPr>
        <p:txBody>
          <a:bodyPr vert="horz" wrap="square" lIns="0" tIns="17780" rIns="0" bIns="0" rtlCol="0">
            <a:spAutoFit/>
          </a:bodyPr>
          <a:lstStyle/>
          <a:p>
            <a:pPr marL="12700">
              <a:lnSpc>
                <a:spcPct val="100000"/>
              </a:lnSpc>
              <a:spcBef>
                <a:spcPts val="140"/>
              </a:spcBef>
            </a:pPr>
            <a:r>
              <a:rPr lang="en-IN" sz="4800" b="1" dirty="0">
                <a:solidFill>
                  <a:srgbClr val="080808"/>
                </a:solidFill>
              </a:rPr>
              <a:t>CONCLUSION</a:t>
            </a:r>
            <a:endParaRPr lang="en-IN" sz="8800" b="1" dirty="0">
              <a:solidFill>
                <a:srgbClr val="080808"/>
              </a:solidFill>
              <a:latin typeface="Times New Roman"/>
              <a:cs typeface="Times New Roman"/>
            </a:endParaRPr>
          </a:p>
        </p:txBody>
      </p:sp>
      <p:sp>
        <p:nvSpPr>
          <p:cNvPr id="4" name="object 4"/>
          <p:cNvSpPr txBox="1"/>
          <p:nvPr/>
        </p:nvSpPr>
        <p:spPr>
          <a:xfrm>
            <a:off x="8434333" y="2278944"/>
            <a:ext cx="5414645" cy="4039235"/>
          </a:xfrm>
          <a:prstGeom prst="rect">
            <a:avLst/>
          </a:prstGeom>
        </p:spPr>
        <p:txBody>
          <a:bodyPr vert="horz" wrap="square" lIns="0" tIns="38735" rIns="0" bIns="0" rtlCol="0">
            <a:spAutoFit/>
          </a:bodyPr>
          <a:lstStyle/>
          <a:p>
            <a:pPr marL="300990" indent="-283845">
              <a:lnSpc>
                <a:spcPct val="100000"/>
              </a:lnSpc>
              <a:spcBef>
                <a:spcPts val="305"/>
              </a:spcBef>
              <a:buChar char="•"/>
              <a:tabLst>
                <a:tab pos="300990" algn="l"/>
              </a:tabLst>
            </a:pPr>
            <a:r>
              <a:rPr sz="2300" spc="-110" dirty="0">
                <a:solidFill>
                  <a:srgbClr val="080808"/>
                </a:solidFill>
                <a:latin typeface="Times New Roman"/>
                <a:cs typeface="Times New Roman"/>
              </a:rPr>
              <a:t>86.78%</a:t>
            </a:r>
            <a:r>
              <a:rPr sz="2300" spc="-45" dirty="0">
                <a:solidFill>
                  <a:srgbClr val="080808"/>
                </a:solidFill>
                <a:latin typeface="Times New Roman"/>
                <a:cs typeface="Times New Roman"/>
              </a:rPr>
              <a:t> </a:t>
            </a:r>
            <a:r>
              <a:rPr sz="2300" spc="-70" dirty="0">
                <a:solidFill>
                  <a:srgbClr val="080808"/>
                </a:solidFill>
                <a:latin typeface="Times New Roman"/>
                <a:cs typeface="Times New Roman"/>
              </a:rPr>
              <a:t>accuracy:</a:t>
            </a:r>
            <a:r>
              <a:rPr sz="2300" spc="-75" dirty="0">
                <a:solidFill>
                  <a:srgbClr val="080808"/>
                </a:solidFill>
                <a:latin typeface="Times New Roman"/>
                <a:cs typeface="Times New Roman"/>
              </a:rPr>
              <a:t> </a:t>
            </a:r>
            <a:r>
              <a:rPr sz="2300" spc="-35" dirty="0">
                <a:solidFill>
                  <a:srgbClr val="080808"/>
                </a:solidFill>
                <a:latin typeface="Times New Roman"/>
                <a:cs typeface="Times New Roman"/>
              </a:rPr>
              <a:t>0.8665</a:t>
            </a:r>
            <a:r>
              <a:rPr sz="2300" spc="-95" dirty="0">
                <a:solidFill>
                  <a:srgbClr val="080808"/>
                </a:solidFill>
                <a:latin typeface="Times New Roman"/>
                <a:cs typeface="Times New Roman"/>
              </a:rPr>
              <a:t> </a:t>
            </a:r>
            <a:r>
              <a:rPr sz="2300" spc="-40" dirty="0">
                <a:solidFill>
                  <a:srgbClr val="080808"/>
                </a:solidFill>
                <a:latin typeface="Times New Roman"/>
                <a:cs typeface="Times New Roman"/>
              </a:rPr>
              <a:t>weighted</a:t>
            </a:r>
            <a:r>
              <a:rPr sz="2300" spc="15" dirty="0">
                <a:solidFill>
                  <a:srgbClr val="080808"/>
                </a:solidFill>
                <a:latin typeface="Times New Roman"/>
                <a:cs typeface="Times New Roman"/>
              </a:rPr>
              <a:t> </a:t>
            </a:r>
            <a:r>
              <a:rPr sz="2300" spc="-20" dirty="0">
                <a:solidFill>
                  <a:srgbClr val="080808"/>
                </a:solidFill>
                <a:latin typeface="Times New Roman"/>
                <a:cs typeface="Times New Roman"/>
              </a:rPr>
              <a:t>F1</a:t>
            </a:r>
            <a:r>
              <a:rPr sz="2300" spc="-225" dirty="0">
                <a:solidFill>
                  <a:srgbClr val="080808"/>
                </a:solidFill>
                <a:latin typeface="Times New Roman"/>
                <a:cs typeface="Times New Roman"/>
              </a:rPr>
              <a:t> </a:t>
            </a:r>
            <a:r>
              <a:rPr sz="2300" dirty="0">
                <a:solidFill>
                  <a:srgbClr val="080808"/>
                </a:solidFill>
                <a:latin typeface="Times New Roman"/>
                <a:cs typeface="Times New Roman"/>
              </a:rPr>
              <a:t>on</a:t>
            </a:r>
            <a:r>
              <a:rPr sz="2300" spc="-125" dirty="0">
                <a:solidFill>
                  <a:srgbClr val="080808"/>
                </a:solidFill>
                <a:latin typeface="Times New Roman"/>
                <a:cs typeface="Times New Roman"/>
              </a:rPr>
              <a:t> </a:t>
            </a:r>
            <a:r>
              <a:rPr sz="2300" spc="-50" dirty="0">
                <a:solidFill>
                  <a:srgbClr val="080808"/>
                </a:solidFill>
                <a:latin typeface="Times New Roman"/>
                <a:cs typeface="Times New Roman"/>
              </a:rPr>
              <a:t>a</a:t>
            </a:r>
            <a:endParaRPr sz="2300" dirty="0">
              <a:solidFill>
                <a:srgbClr val="080808"/>
              </a:solidFill>
              <a:latin typeface="Times New Roman"/>
              <a:cs typeface="Times New Roman"/>
            </a:endParaRPr>
          </a:p>
          <a:p>
            <a:pPr marL="299720">
              <a:lnSpc>
                <a:spcPct val="100000"/>
              </a:lnSpc>
              <a:spcBef>
                <a:spcPts val="240"/>
              </a:spcBef>
            </a:pPr>
            <a:r>
              <a:rPr sz="2150" spc="-80" dirty="0">
                <a:solidFill>
                  <a:srgbClr val="080808"/>
                </a:solidFill>
                <a:latin typeface="Cambria"/>
                <a:cs typeface="Cambria"/>
              </a:rPr>
              <a:t>1,763-</a:t>
            </a:r>
            <a:r>
              <a:rPr sz="2150" spc="-55" dirty="0">
                <a:solidFill>
                  <a:srgbClr val="080808"/>
                </a:solidFill>
                <a:latin typeface="Cambria"/>
                <a:cs typeface="Cambria"/>
              </a:rPr>
              <a:t>sample</a:t>
            </a:r>
            <a:r>
              <a:rPr sz="2150" spc="10" dirty="0">
                <a:solidFill>
                  <a:srgbClr val="080808"/>
                </a:solidFill>
                <a:latin typeface="Cambria"/>
                <a:cs typeface="Cambria"/>
              </a:rPr>
              <a:t> </a:t>
            </a:r>
            <a:r>
              <a:rPr sz="2150" spc="-40" dirty="0">
                <a:solidFill>
                  <a:srgbClr val="080808"/>
                </a:solidFill>
                <a:latin typeface="Cambria"/>
                <a:cs typeface="Cambria"/>
              </a:rPr>
              <a:t>evaluation</a:t>
            </a:r>
            <a:r>
              <a:rPr sz="2150" spc="-45" dirty="0">
                <a:solidFill>
                  <a:srgbClr val="080808"/>
                </a:solidFill>
                <a:latin typeface="Cambria"/>
                <a:cs typeface="Cambria"/>
              </a:rPr>
              <a:t> </a:t>
            </a:r>
            <a:r>
              <a:rPr sz="2150" spc="-20" dirty="0">
                <a:solidFill>
                  <a:srgbClr val="080808"/>
                </a:solidFill>
                <a:latin typeface="Cambria"/>
                <a:cs typeface="Cambria"/>
              </a:rPr>
              <a:t>set.</a:t>
            </a:r>
            <a:endParaRPr sz="2150" dirty="0">
              <a:solidFill>
                <a:srgbClr val="080808"/>
              </a:solidFill>
              <a:latin typeface="Cambria"/>
              <a:cs typeface="Cambria"/>
            </a:endParaRPr>
          </a:p>
          <a:p>
            <a:pPr marL="288290" marR="34290" indent="-276225">
              <a:lnSpc>
                <a:spcPct val="108000"/>
              </a:lnSpc>
              <a:spcBef>
                <a:spcPts val="985"/>
              </a:spcBef>
              <a:buChar char="•"/>
              <a:tabLst>
                <a:tab pos="292735" algn="l"/>
              </a:tabLst>
            </a:pPr>
            <a:r>
              <a:rPr sz="2200" dirty="0">
                <a:solidFill>
                  <a:srgbClr val="080808"/>
                </a:solidFill>
                <a:latin typeface="Cambria"/>
                <a:cs typeface="Cambria"/>
              </a:rPr>
              <a:t>Minority</a:t>
            </a:r>
            <a:r>
              <a:rPr sz="2200" spc="-15" dirty="0">
                <a:solidFill>
                  <a:srgbClr val="080808"/>
                </a:solidFill>
                <a:latin typeface="Cambria"/>
                <a:cs typeface="Cambria"/>
              </a:rPr>
              <a:t> </a:t>
            </a:r>
            <a:r>
              <a:rPr sz="2200" spc="-135" dirty="0">
                <a:solidFill>
                  <a:srgbClr val="080808"/>
                </a:solidFill>
                <a:latin typeface="Cambria"/>
                <a:cs typeface="Cambria"/>
              </a:rPr>
              <a:t>class</a:t>
            </a:r>
            <a:r>
              <a:rPr sz="2200" spc="5" dirty="0">
                <a:solidFill>
                  <a:srgbClr val="080808"/>
                </a:solidFill>
                <a:latin typeface="Cambria"/>
                <a:cs typeface="Cambria"/>
              </a:rPr>
              <a:t> </a:t>
            </a:r>
            <a:r>
              <a:rPr sz="2200" dirty="0">
                <a:solidFill>
                  <a:srgbClr val="080808"/>
                </a:solidFill>
                <a:latin typeface="Cambria"/>
                <a:cs typeface="Cambria"/>
              </a:rPr>
              <a:t>F1</a:t>
            </a:r>
            <a:r>
              <a:rPr sz="2200" spc="-50" dirty="0">
                <a:solidFill>
                  <a:srgbClr val="080808"/>
                </a:solidFill>
                <a:latin typeface="Cambria"/>
                <a:cs typeface="Cambria"/>
              </a:rPr>
              <a:t> </a:t>
            </a:r>
            <a:r>
              <a:rPr sz="2200" spc="-10" dirty="0">
                <a:solidFill>
                  <a:srgbClr val="080808"/>
                </a:solidFill>
                <a:latin typeface="Cambria"/>
                <a:cs typeface="Cambria"/>
              </a:rPr>
              <a:t>&gt;0.80:</a:t>
            </a:r>
            <a:r>
              <a:rPr sz="2200" spc="-45" dirty="0">
                <a:solidFill>
                  <a:srgbClr val="080808"/>
                </a:solidFill>
                <a:latin typeface="Cambria"/>
                <a:cs typeface="Cambria"/>
              </a:rPr>
              <a:t> </a:t>
            </a:r>
            <a:r>
              <a:rPr sz="2200" dirty="0">
                <a:solidFill>
                  <a:srgbClr val="080808"/>
                </a:solidFill>
                <a:latin typeface="Cambria"/>
                <a:cs typeface="Cambria"/>
              </a:rPr>
              <a:t>Robust</a:t>
            </a:r>
            <a:r>
              <a:rPr sz="2200" spc="60" dirty="0">
                <a:solidFill>
                  <a:srgbClr val="080808"/>
                </a:solidFill>
                <a:latin typeface="Cambria"/>
                <a:cs typeface="Cambria"/>
              </a:rPr>
              <a:t> </a:t>
            </a:r>
            <a:r>
              <a:rPr sz="2200" spc="-45" dirty="0">
                <a:solidFill>
                  <a:srgbClr val="080808"/>
                </a:solidFill>
                <a:latin typeface="Cambria"/>
                <a:cs typeface="Cambria"/>
              </a:rPr>
              <a:t>handling</a:t>
            </a:r>
            <a:r>
              <a:rPr sz="2200" spc="15" dirty="0">
                <a:solidFill>
                  <a:srgbClr val="080808"/>
                </a:solidFill>
                <a:latin typeface="Cambria"/>
                <a:cs typeface="Cambria"/>
              </a:rPr>
              <a:t> </a:t>
            </a:r>
            <a:r>
              <a:rPr sz="2200" spc="70" dirty="0">
                <a:solidFill>
                  <a:srgbClr val="080808"/>
                </a:solidFill>
                <a:latin typeface="Cambria"/>
                <a:cs typeface="Cambria"/>
              </a:rPr>
              <a:t>of 	</a:t>
            </a:r>
            <a:r>
              <a:rPr sz="2200" spc="-70" dirty="0">
                <a:solidFill>
                  <a:srgbClr val="080808"/>
                </a:solidFill>
                <a:latin typeface="Cambria"/>
                <a:cs typeface="Cambria"/>
              </a:rPr>
              <a:t>natural</a:t>
            </a:r>
            <a:r>
              <a:rPr sz="2200" spc="-55" dirty="0">
                <a:solidFill>
                  <a:srgbClr val="080808"/>
                </a:solidFill>
                <a:latin typeface="Cambria"/>
                <a:cs typeface="Cambria"/>
              </a:rPr>
              <a:t> </a:t>
            </a:r>
            <a:r>
              <a:rPr sz="2200" spc="-135" dirty="0">
                <a:solidFill>
                  <a:srgbClr val="080808"/>
                </a:solidFill>
                <a:latin typeface="Cambria"/>
                <a:cs typeface="Cambria"/>
              </a:rPr>
              <a:t>class</a:t>
            </a:r>
            <a:r>
              <a:rPr sz="2200" spc="10" dirty="0">
                <a:solidFill>
                  <a:srgbClr val="080808"/>
                </a:solidFill>
                <a:latin typeface="Cambria"/>
                <a:cs typeface="Cambria"/>
              </a:rPr>
              <a:t> </a:t>
            </a:r>
            <a:r>
              <a:rPr sz="2200" spc="-65" dirty="0">
                <a:solidFill>
                  <a:srgbClr val="080808"/>
                </a:solidFill>
                <a:latin typeface="Cambria"/>
                <a:cs typeface="Cambria"/>
              </a:rPr>
              <a:t>imbalance</a:t>
            </a:r>
            <a:r>
              <a:rPr sz="2200" spc="70" dirty="0">
                <a:solidFill>
                  <a:srgbClr val="080808"/>
                </a:solidFill>
                <a:latin typeface="Cambria"/>
                <a:cs typeface="Cambria"/>
              </a:rPr>
              <a:t> </a:t>
            </a:r>
            <a:r>
              <a:rPr sz="2200" spc="-10" dirty="0">
                <a:solidFill>
                  <a:srgbClr val="080808"/>
                </a:solidFill>
                <a:latin typeface="Cambria"/>
                <a:cs typeface="Cambria"/>
              </a:rPr>
              <a:t>throughout.</a:t>
            </a:r>
            <a:endParaRPr sz="2200" dirty="0">
              <a:solidFill>
                <a:srgbClr val="080808"/>
              </a:solidFill>
              <a:latin typeface="Cambria"/>
              <a:cs typeface="Cambria"/>
            </a:endParaRPr>
          </a:p>
          <a:p>
            <a:pPr marL="292735" marR="27305" indent="-280035">
              <a:lnSpc>
                <a:spcPct val="109700"/>
              </a:lnSpc>
              <a:spcBef>
                <a:spcPts val="985"/>
              </a:spcBef>
              <a:buChar char="•"/>
              <a:tabLst>
                <a:tab pos="295275" algn="l"/>
              </a:tabLst>
            </a:pPr>
            <a:r>
              <a:rPr sz="2150" spc="-45" dirty="0">
                <a:solidFill>
                  <a:srgbClr val="080808"/>
                </a:solidFill>
                <a:latin typeface="Cambria"/>
                <a:cs typeface="Cambria"/>
              </a:rPr>
              <a:t>Emotion-</a:t>
            </a:r>
            <a:r>
              <a:rPr sz="2150" spc="-35" dirty="0">
                <a:solidFill>
                  <a:srgbClr val="080808"/>
                </a:solidFill>
                <a:latin typeface="Cambria"/>
                <a:cs typeface="Cambria"/>
              </a:rPr>
              <a:t>preserving</a:t>
            </a:r>
            <a:r>
              <a:rPr sz="2150" spc="-85" dirty="0">
                <a:solidFill>
                  <a:srgbClr val="080808"/>
                </a:solidFill>
                <a:latin typeface="Cambria"/>
                <a:cs typeface="Cambria"/>
              </a:rPr>
              <a:t> </a:t>
            </a:r>
            <a:r>
              <a:rPr sz="2150" spc="-40" dirty="0">
                <a:solidFill>
                  <a:srgbClr val="080808"/>
                </a:solidFill>
                <a:latin typeface="Cambria"/>
                <a:cs typeface="Cambria"/>
              </a:rPr>
              <a:t>filter:</a:t>
            </a:r>
            <a:r>
              <a:rPr sz="2150" spc="-35" dirty="0">
                <a:solidFill>
                  <a:srgbClr val="080808"/>
                </a:solidFill>
                <a:latin typeface="Cambria"/>
                <a:cs typeface="Cambria"/>
              </a:rPr>
              <a:t> </a:t>
            </a:r>
            <a:r>
              <a:rPr sz="2150" spc="-10" dirty="0">
                <a:solidFill>
                  <a:srgbClr val="080808"/>
                </a:solidFill>
                <a:latin typeface="Cambria"/>
                <a:cs typeface="Cambria"/>
              </a:rPr>
              <a:t>Retains</a:t>
            </a:r>
            <a:r>
              <a:rPr sz="2150" spc="-15" dirty="0">
                <a:solidFill>
                  <a:srgbClr val="080808"/>
                </a:solidFill>
                <a:latin typeface="Cambria"/>
                <a:cs typeface="Cambria"/>
              </a:rPr>
              <a:t> </a:t>
            </a:r>
            <a:r>
              <a:rPr sz="2150" spc="-10" dirty="0">
                <a:solidFill>
                  <a:srgbClr val="080808"/>
                </a:solidFill>
                <a:latin typeface="Cambria"/>
                <a:cs typeface="Cambria"/>
              </a:rPr>
              <a:t>emotional 	</a:t>
            </a:r>
            <a:r>
              <a:rPr sz="2150" spc="-70" dirty="0">
                <a:solidFill>
                  <a:srgbClr val="080808"/>
                </a:solidFill>
                <a:latin typeface="Cambria"/>
                <a:cs typeface="Cambria"/>
              </a:rPr>
              <a:t>characteristics</a:t>
            </a:r>
            <a:r>
              <a:rPr sz="2150" spc="-20" dirty="0">
                <a:solidFill>
                  <a:srgbClr val="080808"/>
                </a:solidFill>
                <a:latin typeface="Cambria"/>
                <a:cs typeface="Cambria"/>
              </a:rPr>
              <a:t> </a:t>
            </a:r>
            <a:r>
              <a:rPr sz="2150" dirty="0">
                <a:solidFill>
                  <a:srgbClr val="080808"/>
                </a:solidFill>
                <a:latin typeface="Cambria"/>
                <a:cs typeface="Cambria"/>
              </a:rPr>
              <a:t>in</a:t>
            </a:r>
            <a:r>
              <a:rPr sz="2150" spc="-50" dirty="0">
                <a:solidFill>
                  <a:srgbClr val="080808"/>
                </a:solidFill>
                <a:latin typeface="Cambria"/>
                <a:cs typeface="Cambria"/>
              </a:rPr>
              <a:t> </a:t>
            </a:r>
            <a:r>
              <a:rPr sz="2150" spc="-40" dirty="0">
                <a:solidFill>
                  <a:srgbClr val="080808"/>
                </a:solidFill>
                <a:latin typeface="Cambria"/>
                <a:cs typeface="Cambria"/>
              </a:rPr>
              <a:t>augmented</a:t>
            </a:r>
            <a:r>
              <a:rPr sz="2150" spc="50" dirty="0">
                <a:solidFill>
                  <a:srgbClr val="080808"/>
                </a:solidFill>
                <a:latin typeface="Cambria"/>
                <a:cs typeface="Cambria"/>
              </a:rPr>
              <a:t> </a:t>
            </a:r>
            <a:r>
              <a:rPr sz="2150" spc="-50" dirty="0">
                <a:solidFill>
                  <a:srgbClr val="080808"/>
                </a:solidFill>
                <a:latin typeface="Cambria"/>
                <a:cs typeface="Cambria"/>
              </a:rPr>
              <a:t>data</a:t>
            </a:r>
            <a:r>
              <a:rPr sz="2150" spc="-25" dirty="0">
                <a:solidFill>
                  <a:srgbClr val="080808"/>
                </a:solidFill>
                <a:latin typeface="Cambria"/>
                <a:cs typeface="Cambria"/>
              </a:rPr>
              <a:t> </a:t>
            </a:r>
            <a:r>
              <a:rPr sz="2150" spc="-65" dirty="0">
                <a:solidFill>
                  <a:srgbClr val="080808"/>
                </a:solidFill>
                <a:latin typeface="Cambria"/>
                <a:cs typeface="Cambria"/>
              </a:rPr>
              <a:t>via</a:t>
            </a:r>
            <a:r>
              <a:rPr sz="2150" spc="-80" dirty="0">
                <a:solidFill>
                  <a:srgbClr val="080808"/>
                </a:solidFill>
                <a:latin typeface="Cambria"/>
                <a:cs typeface="Cambria"/>
              </a:rPr>
              <a:t> </a:t>
            </a:r>
            <a:r>
              <a:rPr sz="2150" spc="-10" dirty="0">
                <a:solidFill>
                  <a:srgbClr val="080808"/>
                </a:solidFill>
                <a:latin typeface="Cambria"/>
                <a:cs typeface="Cambria"/>
              </a:rPr>
              <a:t>cosine 	similarity.</a:t>
            </a:r>
            <a:endParaRPr sz="2150" dirty="0">
              <a:solidFill>
                <a:srgbClr val="080808"/>
              </a:solidFill>
              <a:latin typeface="Cambria"/>
              <a:cs typeface="Cambria"/>
            </a:endParaRPr>
          </a:p>
          <a:p>
            <a:pPr marL="287655" marR="5080" indent="-275590">
              <a:lnSpc>
                <a:spcPct val="109400"/>
              </a:lnSpc>
              <a:spcBef>
                <a:spcPts val="980"/>
              </a:spcBef>
              <a:buChar char="•"/>
              <a:tabLst>
                <a:tab pos="293370" algn="l"/>
              </a:tabLst>
            </a:pPr>
            <a:r>
              <a:rPr sz="2200" spc="-25" dirty="0">
                <a:solidFill>
                  <a:srgbClr val="080808"/>
                </a:solidFill>
                <a:latin typeface="Cambria"/>
                <a:cs typeface="Cambria"/>
              </a:rPr>
              <a:t>Fact</a:t>
            </a:r>
            <a:r>
              <a:rPr sz="2200" spc="-65" dirty="0">
                <a:solidFill>
                  <a:srgbClr val="080808"/>
                </a:solidFill>
                <a:latin typeface="Cambria"/>
                <a:cs typeface="Cambria"/>
              </a:rPr>
              <a:t> </a:t>
            </a:r>
            <a:r>
              <a:rPr sz="2200" spc="-75" dirty="0">
                <a:solidFill>
                  <a:srgbClr val="080808"/>
                </a:solidFill>
                <a:latin typeface="Cambria"/>
                <a:cs typeface="Cambria"/>
              </a:rPr>
              <a:t>verification:</a:t>
            </a:r>
            <a:r>
              <a:rPr sz="2200" spc="65" dirty="0">
                <a:solidFill>
                  <a:srgbClr val="080808"/>
                </a:solidFill>
                <a:latin typeface="Cambria"/>
                <a:cs typeface="Cambria"/>
              </a:rPr>
              <a:t> </a:t>
            </a:r>
            <a:r>
              <a:rPr sz="2200" dirty="0">
                <a:solidFill>
                  <a:srgbClr val="080808"/>
                </a:solidFill>
                <a:latin typeface="Cambria"/>
                <a:cs typeface="Cambria"/>
              </a:rPr>
              <a:t>Grounds</a:t>
            </a:r>
            <a:r>
              <a:rPr sz="2200" spc="-25" dirty="0">
                <a:solidFill>
                  <a:srgbClr val="080808"/>
                </a:solidFill>
                <a:latin typeface="Cambria"/>
                <a:cs typeface="Cambria"/>
              </a:rPr>
              <a:t> </a:t>
            </a:r>
            <a:r>
              <a:rPr sz="2200" spc="-65" dirty="0">
                <a:solidFill>
                  <a:srgbClr val="080808"/>
                </a:solidFill>
                <a:latin typeface="Cambria"/>
                <a:cs typeface="Cambria"/>
              </a:rPr>
              <a:t>predictions</a:t>
            </a:r>
            <a:r>
              <a:rPr sz="2200" spc="-35" dirty="0">
                <a:solidFill>
                  <a:srgbClr val="080808"/>
                </a:solidFill>
                <a:latin typeface="Cambria"/>
                <a:cs typeface="Cambria"/>
              </a:rPr>
              <a:t> </a:t>
            </a:r>
            <a:r>
              <a:rPr sz="2200" spc="-25" dirty="0">
                <a:solidFill>
                  <a:srgbClr val="080808"/>
                </a:solidFill>
                <a:latin typeface="Cambria"/>
                <a:cs typeface="Cambria"/>
              </a:rPr>
              <a:t>in 	</a:t>
            </a:r>
            <a:r>
              <a:rPr sz="2200" spc="-55" dirty="0">
                <a:solidFill>
                  <a:srgbClr val="080808"/>
                </a:solidFill>
                <a:latin typeface="Cambria"/>
                <a:cs typeface="Cambria"/>
              </a:rPr>
              <a:t>Wikipedia </a:t>
            </a:r>
            <a:r>
              <a:rPr sz="2200" spc="-65" dirty="0">
                <a:solidFill>
                  <a:srgbClr val="080808"/>
                </a:solidFill>
                <a:latin typeface="Cambria"/>
                <a:cs typeface="Cambria"/>
              </a:rPr>
              <a:t>knowledge,</a:t>
            </a:r>
            <a:r>
              <a:rPr sz="2200" spc="15" dirty="0">
                <a:solidFill>
                  <a:srgbClr val="080808"/>
                </a:solidFill>
                <a:latin typeface="Cambria"/>
                <a:cs typeface="Cambria"/>
              </a:rPr>
              <a:t> </a:t>
            </a:r>
            <a:r>
              <a:rPr sz="2200" spc="-60" dirty="0">
                <a:solidFill>
                  <a:srgbClr val="080808"/>
                </a:solidFill>
                <a:latin typeface="Cambria"/>
                <a:cs typeface="Cambria"/>
              </a:rPr>
              <a:t>reducing</a:t>
            </a:r>
            <a:r>
              <a:rPr sz="2200" spc="-20" dirty="0">
                <a:solidFill>
                  <a:srgbClr val="080808"/>
                </a:solidFill>
                <a:latin typeface="Cambria"/>
                <a:cs typeface="Cambria"/>
              </a:rPr>
              <a:t> </a:t>
            </a:r>
            <a:r>
              <a:rPr sz="2200" spc="-90" dirty="0">
                <a:solidFill>
                  <a:srgbClr val="080808"/>
                </a:solidFill>
                <a:latin typeface="Cambria"/>
                <a:cs typeface="Cambria"/>
              </a:rPr>
              <a:t>false-</a:t>
            </a:r>
            <a:r>
              <a:rPr sz="2200" spc="-50" dirty="0">
                <a:solidFill>
                  <a:srgbClr val="080808"/>
                </a:solidFill>
                <a:latin typeface="Cambria"/>
                <a:cs typeface="Cambria"/>
              </a:rPr>
              <a:t>positive 	</a:t>
            </a:r>
            <a:r>
              <a:rPr sz="2200" spc="-10" dirty="0">
                <a:solidFill>
                  <a:srgbClr val="080808"/>
                </a:solidFill>
                <a:latin typeface="Cambria"/>
                <a:cs typeface="Cambria"/>
              </a:rPr>
              <a:t>flags.</a:t>
            </a:r>
            <a:endParaRPr sz="2200" dirty="0">
              <a:solidFill>
                <a:srgbClr val="080808"/>
              </a:solidFill>
              <a:latin typeface="Cambria"/>
              <a:cs typeface="Cambri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BA82723D-746C-A323-DEC3-D979E43133D5}"/>
              </a:ext>
            </a:extLst>
          </p:cNvPr>
          <p:cNvSpPr/>
          <p:nvPr/>
        </p:nvSpPr>
        <p:spPr>
          <a:xfrm>
            <a:off x="9334500" y="5349404"/>
            <a:ext cx="3364340" cy="1981201"/>
          </a:xfrm>
          <a:prstGeom prst="roundRect">
            <a:avLst>
              <a:gd name="adj" fmla="val 7183"/>
            </a:avLst>
          </a:prstGeom>
          <a:solidFill>
            <a:srgbClr val="EBEE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080808"/>
              </a:solidFill>
            </a:endParaRPr>
          </a:p>
        </p:txBody>
      </p:sp>
      <p:sp>
        <p:nvSpPr>
          <p:cNvPr id="13" name="Rectangle: Rounded Corners 12">
            <a:extLst>
              <a:ext uri="{FF2B5EF4-FFF2-40B4-BE49-F238E27FC236}">
                <a16:creationId xmlns:a16="http://schemas.microsoft.com/office/drawing/2014/main" id="{D6414C1D-7A4D-B867-320C-9177D206E5CF}"/>
              </a:ext>
            </a:extLst>
          </p:cNvPr>
          <p:cNvSpPr/>
          <p:nvPr/>
        </p:nvSpPr>
        <p:spPr>
          <a:xfrm>
            <a:off x="5398622" y="5197004"/>
            <a:ext cx="3364340" cy="1981201"/>
          </a:xfrm>
          <a:prstGeom prst="roundRect">
            <a:avLst>
              <a:gd name="adj" fmla="val 7183"/>
            </a:avLst>
          </a:prstGeom>
          <a:solidFill>
            <a:srgbClr val="EBEE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080808"/>
              </a:solidFill>
            </a:endParaRPr>
          </a:p>
        </p:txBody>
      </p:sp>
      <p:sp>
        <p:nvSpPr>
          <p:cNvPr id="12" name="Rectangle: Rounded Corners 11">
            <a:extLst>
              <a:ext uri="{FF2B5EF4-FFF2-40B4-BE49-F238E27FC236}">
                <a16:creationId xmlns:a16="http://schemas.microsoft.com/office/drawing/2014/main" id="{AC787295-31A6-EA7C-F928-BFAD5BA43308}"/>
              </a:ext>
            </a:extLst>
          </p:cNvPr>
          <p:cNvSpPr/>
          <p:nvPr/>
        </p:nvSpPr>
        <p:spPr>
          <a:xfrm>
            <a:off x="1313408" y="5197004"/>
            <a:ext cx="3364340" cy="1981201"/>
          </a:xfrm>
          <a:prstGeom prst="roundRect">
            <a:avLst>
              <a:gd name="adj" fmla="val 7183"/>
            </a:avLst>
          </a:prstGeom>
          <a:solidFill>
            <a:srgbClr val="EBEE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080808"/>
              </a:solidFill>
            </a:endParaRPr>
          </a:p>
        </p:txBody>
      </p:sp>
      <p:sp>
        <p:nvSpPr>
          <p:cNvPr id="11" name="Rectangle: Rounded Corners 10">
            <a:extLst>
              <a:ext uri="{FF2B5EF4-FFF2-40B4-BE49-F238E27FC236}">
                <a16:creationId xmlns:a16="http://schemas.microsoft.com/office/drawing/2014/main" id="{9DD95CA0-8407-CB94-2E38-2865B89C8997}"/>
              </a:ext>
            </a:extLst>
          </p:cNvPr>
          <p:cNvSpPr/>
          <p:nvPr/>
        </p:nvSpPr>
        <p:spPr>
          <a:xfrm>
            <a:off x="9334500" y="2954618"/>
            <a:ext cx="3364340" cy="1981201"/>
          </a:xfrm>
          <a:prstGeom prst="roundRect">
            <a:avLst>
              <a:gd name="adj" fmla="val 7183"/>
            </a:avLst>
          </a:prstGeom>
          <a:solidFill>
            <a:srgbClr val="EBEE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080808"/>
              </a:solidFill>
            </a:endParaRPr>
          </a:p>
        </p:txBody>
      </p:sp>
      <p:sp>
        <p:nvSpPr>
          <p:cNvPr id="10" name="Rectangle: Rounded Corners 9">
            <a:extLst>
              <a:ext uri="{FF2B5EF4-FFF2-40B4-BE49-F238E27FC236}">
                <a16:creationId xmlns:a16="http://schemas.microsoft.com/office/drawing/2014/main" id="{A980B15F-4316-6754-1C57-EF5A271D8452}"/>
              </a:ext>
            </a:extLst>
          </p:cNvPr>
          <p:cNvSpPr/>
          <p:nvPr/>
        </p:nvSpPr>
        <p:spPr>
          <a:xfrm>
            <a:off x="5398622" y="2905125"/>
            <a:ext cx="3364340" cy="1981201"/>
          </a:xfrm>
          <a:prstGeom prst="roundRect">
            <a:avLst>
              <a:gd name="adj" fmla="val 7183"/>
            </a:avLst>
          </a:prstGeom>
          <a:solidFill>
            <a:srgbClr val="EBEE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080808"/>
              </a:solidFill>
            </a:endParaRPr>
          </a:p>
        </p:txBody>
      </p:sp>
      <p:sp>
        <p:nvSpPr>
          <p:cNvPr id="2" name="Rectangle: Rounded Corners 1">
            <a:extLst>
              <a:ext uri="{FF2B5EF4-FFF2-40B4-BE49-F238E27FC236}">
                <a16:creationId xmlns:a16="http://schemas.microsoft.com/office/drawing/2014/main" id="{7B0FB64B-F3BC-3BA6-D5B1-FC8CCB2D8429}"/>
              </a:ext>
            </a:extLst>
          </p:cNvPr>
          <p:cNvSpPr/>
          <p:nvPr/>
        </p:nvSpPr>
        <p:spPr>
          <a:xfrm>
            <a:off x="1313408" y="2954619"/>
            <a:ext cx="3364340" cy="1981201"/>
          </a:xfrm>
          <a:prstGeom prst="roundRect">
            <a:avLst>
              <a:gd name="adj" fmla="val 7183"/>
            </a:avLst>
          </a:prstGeom>
          <a:solidFill>
            <a:srgbClr val="EBEE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080808"/>
              </a:solidFill>
            </a:endParaRPr>
          </a:p>
        </p:txBody>
      </p:sp>
      <p:sp>
        <p:nvSpPr>
          <p:cNvPr id="3" name="object 3"/>
          <p:cNvSpPr txBox="1">
            <a:spLocks noGrp="1"/>
          </p:cNvSpPr>
          <p:nvPr>
            <p:ph type="title"/>
          </p:nvPr>
        </p:nvSpPr>
        <p:spPr>
          <a:xfrm>
            <a:off x="1313408" y="883443"/>
            <a:ext cx="8764905" cy="1320800"/>
          </a:xfrm>
          <a:prstGeom prst="rect">
            <a:avLst/>
          </a:prstGeom>
        </p:spPr>
        <p:txBody>
          <a:bodyPr vert="horz" wrap="square" lIns="0" tIns="16510" rIns="0" bIns="0" rtlCol="0">
            <a:spAutoFit/>
          </a:bodyPr>
          <a:lstStyle/>
          <a:p>
            <a:pPr marL="34290">
              <a:lnSpc>
                <a:spcPts val="5080"/>
              </a:lnSpc>
              <a:spcBef>
                <a:spcPts val="130"/>
              </a:spcBef>
            </a:pPr>
            <a:r>
              <a:rPr sz="4500" dirty="0">
                <a:solidFill>
                  <a:srgbClr val="080808"/>
                </a:solidFill>
                <a:latin typeface="Times New Roman"/>
                <a:cs typeface="Times New Roman"/>
              </a:rPr>
              <a:t>Future</a:t>
            </a:r>
            <a:r>
              <a:rPr sz="4500" spc="-65" dirty="0">
                <a:solidFill>
                  <a:srgbClr val="080808"/>
                </a:solidFill>
                <a:latin typeface="Times New Roman"/>
                <a:cs typeface="Times New Roman"/>
              </a:rPr>
              <a:t> </a:t>
            </a:r>
            <a:r>
              <a:rPr sz="4500" spc="-10" dirty="0">
                <a:solidFill>
                  <a:srgbClr val="080808"/>
                </a:solidFill>
                <a:latin typeface="Times New Roman"/>
                <a:cs typeface="Times New Roman"/>
              </a:rPr>
              <a:t>scope</a:t>
            </a:r>
            <a:endParaRPr sz="4500" dirty="0">
              <a:solidFill>
                <a:srgbClr val="080808"/>
              </a:solidFill>
              <a:latin typeface="Times New Roman"/>
              <a:cs typeface="Times New Roman"/>
            </a:endParaRPr>
          </a:p>
          <a:p>
            <a:pPr marL="12700">
              <a:lnSpc>
                <a:spcPts val="5080"/>
              </a:lnSpc>
            </a:pPr>
            <a:r>
              <a:rPr sz="4500" spc="-240" dirty="0">
                <a:solidFill>
                  <a:srgbClr val="080808"/>
                </a:solidFill>
                <a:latin typeface="Times New Roman"/>
                <a:cs typeface="Times New Roman"/>
              </a:rPr>
              <a:t>Six</a:t>
            </a:r>
            <a:r>
              <a:rPr sz="4500" spc="-125" dirty="0">
                <a:solidFill>
                  <a:srgbClr val="080808"/>
                </a:solidFill>
                <a:latin typeface="Times New Roman"/>
                <a:cs typeface="Times New Roman"/>
              </a:rPr>
              <a:t> </a:t>
            </a:r>
            <a:r>
              <a:rPr sz="4500" spc="-25" dirty="0">
                <a:solidFill>
                  <a:srgbClr val="080808"/>
                </a:solidFill>
                <a:latin typeface="Times New Roman"/>
                <a:cs typeface="Times New Roman"/>
              </a:rPr>
              <a:t>directions</a:t>
            </a:r>
            <a:r>
              <a:rPr sz="4500" spc="-260" dirty="0">
                <a:solidFill>
                  <a:srgbClr val="080808"/>
                </a:solidFill>
                <a:latin typeface="Times New Roman"/>
                <a:cs typeface="Times New Roman"/>
              </a:rPr>
              <a:t> </a:t>
            </a:r>
            <a:r>
              <a:rPr sz="4500" spc="50" dirty="0">
                <a:solidFill>
                  <a:srgbClr val="080808"/>
                </a:solidFill>
                <a:latin typeface="Times New Roman"/>
                <a:cs typeface="Times New Roman"/>
              </a:rPr>
              <a:t>to</a:t>
            </a:r>
            <a:r>
              <a:rPr sz="4500" spc="-280" dirty="0">
                <a:solidFill>
                  <a:srgbClr val="080808"/>
                </a:solidFill>
                <a:latin typeface="Times New Roman"/>
                <a:cs typeface="Times New Roman"/>
              </a:rPr>
              <a:t> </a:t>
            </a:r>
            <a:r>
              <a:rPr sz="4500" spc="-10" dirty="0">
                <a:solidFill>
                  <a:srgbClr val="080808"/>
                </a:solidFill>
                <a:latin typeface="Times New Roman"/>
                <a:cs typeface="Times New Roman"/>
              </a:rPr>
              <a:t>extend</a:t>
            </a:r>
            <a:r>
              <a:rPr sz="4500" spc="-130" dirty="0">
                <a:solidFill>
                  <a:srgbClr val="080808"/>
                </a:solidFill>
                <a:latin typeface="Times New Roman"/>
                <a:cs typeface="Times New Roman"/>
              </a:rPr>
              <a:t> </a:t>
            </a:r>
            <a:r>
              <a:rPr sz="4500" spc="-65" dirty="0">
                <a:solidFill>
                  <a:srgbClr val="080808"/>
                </a:solidFill>
                <a:latin typeface="Times New Roman"/>
                <a:cs typeface="Times New Roman"/>
              </a:rPr>
              <a:t>this</a:t>
            </a:r>
            <a:r>
              <a:rPr sz="4500" spc="-215" dirty="0">
                <a:solidFill>
                  <a:srgbClr val="080808"/>
                </a:solidFill>
                <a:latin typeface="Times New Roman"/>
                <a:cs typeface="Times New Roman"/>
              </a:rPr>
              <a:t> </a:t>
            </a:r>
            <a:r>
              <a:rPr sz="4500" spc="-10" dirty="0">
                <a:solidFill>
                  <a:srgbClr val="080808"/>
                </a:solidFill>
                <a:latin typeface="Times New Roman"/>
                <a:cs typeface="Times New Roman"/>
              </a:rPr>
              <a:t>framework</a:t>
            </a:r>
            <a:endParaRPr sz="4500" dirty="0">
              <a:solidFill>
                <a:srgbClr val="080808"/>
              </a:solidFill>
              <a:latin typeface="Times New Roman"/>
              <a:cs typeface="Times New Roman"/>
            </a:endParaRPr>
          </a:p>
        </p:txBody>
      </p:sp>
      <p:sp>
        <p:nvSpPr>
          <p:cNvPr id="4" name="object 4"/>
          <p:cNvSpPr txBox="1"/>
          <p:nvPr/>
        </p:nvSpPr>
        <p:spPr>
          <a:xfrm>
            <a:off x="1486599" y="3058092"/>
            <a:ext cx="3028315" cy="1688924"/>
          </a:xfrm>
          <a:prstGeom prst="rect">
            <a:avLst/>
          </a:prstGeom>
        </p:spPr>
        <p:txBody>
          <a:bodyPr vert="horz" wrap="square" lIns="0" tIns="120650" rIns="0" bIns="0" rtlCol="0">
            <a:spAutoFit/>
          </a:bodyPr>
          <a:lstStyle/>
          <a:p>
            <a:pPr marL="14604">
              <a:lnSpc>
                <a:spcPct val="100000"/>
              </a:lnSpc>
              <a:spcBef>
                <a:spcPts val="950"/>
              </a:spcBef>
            </a:pPr>
            <a:r>
              <a:rPr sz="2400" b="1" dirty="0">
                <a:solidFill>
                  <a:srgbClr val="080808"/>
                </a:solidFill>
                <a:latin typeface="Times New Roman" panose="02020603050405020304" pitchFamily="18" charset="0"/>
                <a:cs typeface="Times New Roman" panose="02020603050405020304" pitchFamily="18" charset="0"/>
              </a:rPr>
              <a:t>Multi-lingual</a:t>
            </a:r>
            <a:r>
              <a:rPr sz="2400" b="1" spc="405" dirty="0">
                <a:solidFill>
                  <a:srgbClr val="080808"/>
                </a:solidFill>
                <a:latin typeface="Times New Roman" panose="02020603050405020304" pitchFamily="18" charset="0"/>
                <a:cs typeface="Times New Roman" panose="02020603050405020304" pitchFamily="18" charset="0"/>
              </a:rPr>
              <a:t> </a:t>
            </a:r>
            <a:r>
              <a:rPr sz="2400" b="1" spc="-10" dirty="0">
                <a:solidFill>
                  <a:srgbClr val="080808"/>
                </a:solidFill>
                <a:latin typeface="Times New Roman" panose="02020603050405020304" pitchFamily="18" charset="0"/>
                <a:cs typeface="Times New Roman" panose="02020603050405020304" pitchFamily="18" charset="0"/>
              </a:rPr>
              <a:t>models</a:t>
            </a:r>
            <a:r>
              <a:rPr lang="en-US" sz="2400" b="1" spc="-10" dirty="0">
                <a:solidFill>
                  <a:srgbClr val="080808"/>
                </a:solidFill>
                <a:latin typeface="Times New Roman" panose="02020603050405020304" pitchFamily="18" charset="0"/>
                <a:cs typeface="Times New Roman" panose="02020603050405020304" pitchFamily="18" charset="0"/>
              </a:rPr>
              <a:t> </a:t>
            </a:r>
            <a:endParaRPr sz="2400" b="1" dirty="0">
              <a:solidFill>
                <a:srgbClr val="080808"/>
              </a:solidFill>
              <a:latin typeface="Times New Roman" panose="02020603050405020304" pitchFamily="18" charset="0"/>
              <a:cs typeface="Times New Roman" panose="02020603050405020304" pitchFamily="18" charset="0"/>
            </a:endParaRPr>
          </a:p>
          <a:p>
            <a:pPr marL="15240" marR="5080" indent="-3175">
              <a:lnSpc>
                <a:spcPct val="100000"/>
              </a:lnSpc>
              <a:spcBef>
                <a:spcPts val="680"/>
              </a:spcBef>
            </a:pPr>
            <a:r>
              <a:rPr dirty="0">
                <a:solidFill>
                  <a:srgbClr val="080808"/>
                </a:solidFill>
                <a:latin typeface="Times New Roman" panose="02020603050405020304" pitchFamily="18" charset="0"/>
                <a:cs typeface="Times New Roman" panose="02020603050405020304" pitchFamily="18" charset="0"/>
              </a:rPr>
              <a:t>Extend to </a:t>
            </a:r>
            <a:r>
              <a:rPr lang="en-US" dirty="0">
                <a:solidFill>
                  <a:srgbClr val="080808"/>
                </a:solidFill>
                <a:latin typeface="Times New Roman" panose="02020603050405020304" pitchFamily="18" charset="0"/>
                <a:cs typeface="Times New Roman" panose="02020603050405020304" pitchFamily="18" charset="0"/>
              </a:rPr>
              <a:t>non-</a:t>
            </a:r>
            <a:r>
              <a:rPr dirty="0">
                <a:solidFill>
                  <a:srgbClr val="080808"/>
                </a:solidFill>
                <a:latin typeface="Times New Roman" panose="02020603050405020304" pitchFamily="18" charset="0"/>
                <a:cs typeface="Times New Roman" panose="02020603050405020304" pitchFamily="18" charset="0"/>
              </a:rPr>
              <a:t>English languages using multilingual BERT and cross-lingual emotion models.</a:t>
            </a:r>
          </a:p>
        </p:txBody>
      </p:sp>
      <p:sp>
        <p:nvSpPr>
          <p:cNvPr id="5" name="object 5"/>
          <p:cNvSpPr txBox="1"/>
          <p:nvPr/>
        </p:nvSpPr>
        <p:spPr>
          <a:xfrm>
            <a:off x="1483267" y="5448911"/>
            <a:ext cx="3031647" cy="1273426"/>
          </a:xfrm>
          <a:prstGeom prst="rect">
            <a:avLst/>
          </a:prstGeom>
        </p:spPr>
        <p:txBody>
          <a:bodyPr vert="horz" wrap="square" lIns="0" tIns="107950" rIns="0" bIns="0" rtlCol="0">
            <a:spAutoFit/>
          </a:bodyPr>
          <a:lstStyle/>
          <a:p>
            <a:pPr marL="16510" algn="l">
              <a:lnSpc>
                <a:spcPct val="100000"/>
              </a:lnSpc>
              <a:spcBef>
                <a:spcPts val="850"/>
              </a:spcBef>
            </a:pPr>
            <a:r>
              <a:rPr sz="2400" b="1" dirty="0">
                <a:solidFill>
                  <a:srgbClr val="080808"/>
                </a:solidFill>
                <a:latin typeface="Times New Roman" panose="02020603050405020304" pitchFamily="18" charset="0"/>
                <a:cs typeface="Times New Roman" panose="02020603050405020304" pitchFamily="18" charset="0"/>
              </a:rPr>
              <a:t>Real-</a:t>
            </a:r>
            <a:r>
              <a:rPr lang="en-IN" sz="2400" b="1" dirty="0">
                <a:solidFill>
                  <a:srgbClr val="080808"/>
                </a:solidFill>
                <a:latin typeface="Times New Roman" panose="02020603050405020304" pitchFamily="18" charset="0"/>
                <a:cs typeface="Times New Roman" panose="02020603050405020304" pitchFamily="18" charset="0"/>
              </a:rPr>
              <a:t>time </a:t>
            </a:r>
            <a:r>
              <a:rPr lang="en-US" sz="2400" b="1" dirty="0">
                <a:solidFill>
                  <a:srgbClr val="080808"/>
                </a:solidFill>
                <a:latin typeface="Times New Roman" panose="02020603050405020304" pitchFamily="18" charset="0"/>
                <a:cs typeface="Times New Roman" panose="02020603050405020304" pitchFamily="18" charset="0"/>
              </a:rPr>
              <a:t>fact checks</a:t>
            </a:r>
            <a:endParaRPr sz="2400" b="1" dirty="0">
              <a:solidFill>
                <a:srgbClr val="080808"/>
              </a:solidFill>
              <a:latin typeface="Times New Roman" panose="02020603050405020304" pitchFamily="18" charset="0"/>
              <a:cs typeface="Times New Roman" panose="02020603050405020304" pitchFamily="18" charset="0"/>
            </a:endParaRPr>
          </a:p>
          <a:p>
            <a:pPr marL="19685" marR="5080" indent="-7620" algn="l">
              <a:lnSpc>
                <a:spcPts val="1800"/>
              </a:lnSpc>
              <a:spcBef>
                <a:spcPts val="750"/>
              </a:spcBef>
            </a:pPr>
            <a:r>
              <a:rPr dirty="0">
                <a:solidFill>
                  <a:srgbClr val="080808"/>
                </a:solidFill>
                <a:latin typeface="Times New Roman" panose="02020603050405020304" pitchFamily="18" charset="0"/>
                <a:cs typeface="Times New Roman" panose="02020603050405020304" pitchFamily="18" charset="0"/>
              </a:rPr>
              <a:t>Integrate live knowledge bases and fact</a:t>
            </a:r>
            <a:r>
              <a:rPr lang="en-US" dirty="0">
                <a:solidFill>
                  <a:srgbClr val="080808"/>
                </a:solidFill>
                <a:latin typeface="Times New Roman" panose="02020603050405020304" pitchFamily="18" charset="0"/>
                <a:cs typeface="Times New Roman" panose="02020603050405020304" pitchFamily="18" charset="0"/>
              </a:rPr>
              <a:t>-</a:t>
            </a:r>
            <a:r>
              <a:rPr dirty="0">
                <a:solidFill>
                  <a:srgbClr val="080808"/>
                </a:solidFill>
                <a:latin typeface="Times New Roman" panose="02020603050405020304" pitchFamily="18" charset="0"/>
                <a:cs typeface="Times New Roman" panose="02020603050405020304" pitchFamily="18" charset="0"/>
              </a:rPr>
              <a:t>checking APIs beyond Wikipedia.</a:t>
            </a:r>
          </a:p>
        </p:txBody>
      </p:sp>
      <p:sp>
        <p:nvSpPr>
          <p:cNvPr id="6" name="object 6"/>
          <p:cNvSpPr txBox="1"/>
          <p:nvPr/>
        </p:nvSpPr>
        <p:spPr>
          <a:xfrm>
            <a:off x="5521867" y="3069522"/>
            <a:ext cx="2974433" cy="1261884"/>
          </a:xfrm>
          <a:prstGeom prst="rect">
            <a:avLst/>
          </a:prstGeom>
        </p:spPr>
        <p:txBody>
          <a:bodyPr vert="horz" wrap="square" lIns="0" tIns="109220" rIns="0" bIns="0" rtlCol="0">
            <a:spAutoFit/>
          </a:bodyPr>
          <a:lstStyle/>
          <a:p>
            <a:pPr marL="13335">
              <a:lnSpc>
                <a:spcPct val="100000"/>
              </a:lnSpc>
              <a:spcBef>
                <a:spcPts val="860"/>
              </a:spcBef>
            </a:pPr>
            <a:r>
              <a:rPr sz="2400" b="1" dirty="0">
                <a:solidFill>
                  <a:srgbClr val="080808"/>
                </a:solidFill>
                <a:latin typeface="Times New Roman" panose="02020603050405020304" pitchFamily="18" charset="0"/>
                <a:cs typeface="Times New Roman" panose="02020603050405020304" pitchFamily="18" charset="0"/>
              </a:rPr>
              <a:t>Multimodal</a:t>
            </a:r>
            <a:r>
              <a:rPr sz="2400" b="1" spc="245" dirty="0">
                <a:solidFill>
                  <a:srgbClr val="080808"/>
                </a:solidFill>
                <a:latin typeface="Times New Roman" panose="02020603050405020304" pitchFamily="18" charset="0"/>
                <a:cs typeface="Times New Roman" panose="02020603050405020304" pitchFamily="18" charset="0"/>
              </a:rPr>
              <a:t> </a:t>
            </a:r>
            <a:r>
              <a:rPr sz="2400" b="1" spc="-20" dirty="0">
                <a:solidFill>
                  <a:srgbClr val="080808"/>
                </a:solidFill>
                <a:latin typeface="Times New Roman" panose="02020603050405020304" pitchFamily="18" charset="0"/>
                <a:cs typeface="Times New Roman" panose="02020603050405020304" pitchFamily="18" charset="0"/>
              </a:rPr>
              <a:t>data</a:t>
            </a:r>
            <a:endParaRPr sz="2400" b="1" dirty="0">
              <a:solidFill>
                <a:srgbClr val="080808"/>
              </a:solidFill>
              <a:latin typeface="Times New Roman" panose="02020603050405020304" pitchFamily="18" charset="0"/>
              <a:cs typeface="Times New Roman" panose="02020603050405020304" pitchFamily="18" charset="0"/>
            </a:endParaRPr>
          </a:p>
          <a:p>
            <a:pPr marL="13335" marR="5080" indent="-1270">
              <a:lnSpc>
                <a:spcPts val="1800"/>
              </a:lnSpc>
              <a:spcBef>
                <a:spcPts val="740"/>
              </a:spcBef>
            </a:pPr>
            <a:r>
              <a:rPr lang="en-US" dirty="0">
                <a:solidFill>
                  <a:srgbClr val="080808"/>
                </a:solidFill>
                <a:latin typeface="Times New Roman" panose="02020603050405020304" pitchFamily="18" charset="0"/>
                <a:cs typeface="Times New Roman" panose="02020603050405020304" pitchFamily="18" charset="0"/>
              </a:rPr>
              <a:t>Incorporate images, video, and audio to detect misinformation in mixed-media formats.</a:t>
            </a:r>
          </a:p>
        </p:txBody>
      </p:sp>
      <p:sp>
        <p:nvSpPr>
          <p:cNvPr id="7" name="object 7"/>
          <p:cNvSpPr txBox="1"/>
          <p:nvPr/>
        </p:nvSpPr>
        <p:spPr>
          <a:xfrm>
            <a:off x="5521537" y="5441247"/>
            <a:ext cx="3050963" cy="1261884"/>
          </a:xfrm>
          <a:prstGeom prst="rect">
            <a:avLst/>
          </a:prstGeom>
        </p:spPr>
        <p:txBody>
          <a:bodyPr vert="horz" wrap="square" lIns="0" tIns="109220" rIns="0" bIns="0" rtlCol="0">
            <a:spAutoFit/>
          </a:bodyPr>
          <a:lstStyle/>
          <a:p>
            <a:pPr marL="12700">
              <a:lnSpc>
                <a:spcPct val="100000"/>
              </a:lnSpc>
              <a:spcBef>
                <a:spcPts val="860"/>
              </a:spcBef>
            </a:pPr>
            <a:r>
              <a:rPr sz="2400" b="1" dirty="0">
                <a:solidFill>
                  <a:srgbClr val="080808"/>
                </a:solidFill>
                <a:latin typeface="Times New Roman" panose="02020603050405020304" pitchFamily="18" charset="0"/>
                <a:cs typeface="Times New Roman" panose="02020603050405020304" pitchFamily="18" charset="0"/>
              </a:rPr>
              <a:t>Explainability</a:t>
            </a:r>
            <a:r>
              <a:rPr sz="2400" b="1" spc="80" dirty="0">
                <a:solidFill>
                  <a:srgbClr val="080808"/>
                </a:solidFill>
                <a:latin typeface="Times New Roman" panose="02020603050405020304" pitchFamily="18" charset="0"/>
                <a:cs typeface="Times New Roman" panose="02020603050405020304" pitchFamily="18" charset="0"/>
              </a:rPr>
              <a:t> </a:t>
            </a:r>
            <a:r>
              <a:rPr sz="2400" b="1" spc="-10" dirty="0">
                <a:solidFill>
                  <a:srgbClr val="080808"/>
                </a:solidFill>
                <a:latin typeface="Times New Roman" panose="02020603050405020304" pitchFamily="18" charset="0"/>
                <a:cs typeface="Times New Roman" panose="02020603050405020304" pitchFamily="18" charset="0"/>
              </a:rPr>
              <a:t>(XAI)</a:t>
            </a:r>
            <a:endParaRPr sz="2400" b="1" dirty="0">
              <a:solidFill>
                <a:srgbClr val="080808"/>
              </a:solidFill>
              <a:latin typeface="Times New Roman" panose="02020603050405020304" pitchFamily="18" charset="0"/>
              <a:cs typeface="Times New Roman" panose="02020603050405020304" pitchFamily="18" charset="0"/>
            </a:endParaRPr>
          </a:p>
          <a:p>
            <a:pPr marL="13970" marR="5080" indent="-1270">
              <a:lnSpc>
                <a:spcPts val="1800"/>
              </a:lnSpc>
              <a:spcBef>
                <a:spcPts val="740"/>
              </a:spcBef>
            </a:pPr>
            <a:r>
              <a:rPr dirty="0">
                <a:solidFill>
                  <a:srgbClr val="080808"/>
                </a:solidFill>
                <a:latin typeface="Times New Roman" panose="02020603050405020304" pitchFamily="18" charset="0"/>
                <a:cs typeface="Times New Roman" panose="02020603050405020304" pitchFamily="18" charset="0"/>
              </a:rPr>
              <a:t>Surface huma</a:t>
            </a:r>
            <a:r>
              <a:rPr lang="en-US" dirty="0">
                <a:solidFill>
                  <a:srgbClr val="080808"/>
                </a:solidFill>
                <a:latin typeface="Times New Roman" panose="02020603050405020304" pitchFamily="18" charset="0"/>
                <a:cs typeface="Times New Roman" panose="02020603050405020304" pitchFamily="18" charset="0"/>
              </a:rPr>
              <a:t>n </a:t>
            </a:r>
            <a:r>
              <a:rPr dirty="0">
                <a:solidFill>
                  <a:srgbClr val="080808"/>
                </a:solidFill>
                <a:latin typeface="Times New Roman" panose="02020603050405020304" pitchFamily="18" charset="0"/>
                <a:cs typeface="Times New Roman" panose="02020603050405020304" pitchFamily="18" charset="0"/>
              </a:rPr>
              <a:t>understandable reasoning to support transparent content moderation.</a:t>
            </a:r>
          </a:p>
        </p:txBody>
      </p:sp>
      <p:sp>
        <p:nvSpPr>
          <p:cNvPr id="8" name="object 8"/>
          <p:cNvSpPr txBox="1"/>
          <p:nvPr/>
        </p:nvSpPr>
        <p:spPr>
          <a:xfrm>
            <a:off x="9502886" y="3084938"/>
            <a:ext cx="3051064" cy="1271502"/>
          </a:xfrm>
          <a:prstGeom prst="rect">
            <a:avLst/>
          </a:prstGeom>
        </p:spPr>
        <p:txBody>
          <a:bodyPr vert="horz" wrap="square" lIns="0" tIns="106045" rIns="0" bIns="0" rtlCol="0">
            <a:spAutoFit/>
          </a:bodyPr>
          <a:lstStyle/>
          <a:p>
            <a:pPr marL="14604">
              <a:lnSpc>
                <a:spcPct val="100000"/>
              </a:lnSpc>
              <a:spcBef>
                <a:spcPts val="835"/>
              </a:spcBef>
            </a:pPr>
            <a:r>
              <a:rPr sz="2400" b="1" spc="55" dirty="0">
                <a:solidFill>
                  <a:srgbClr val="080808"/>
                </a:solidFill>
                <a:latin typeface="Times New Roman" panose="02020603050405020304" pitchFamily="18" charset="0"/>
                <a:cs typeface="Times New Roman" panose="02020603050405020304" pitchFamily="18" charset="0"/>
              </a:rPr>
              <a:t>LLM</a:t>
            </a:r>
            <a:r>
              <a:rPr sz="2400" b="1" dirty="0">
                <a:solidFill>
                  <a:srgbClr val="080808"/>
                </a:solidFill>
                <a:latin typeface="Times New Roman" panose="02020603050405020304" pitchFamily="18" charset="0"/>
                <a:cs typeface="Times New Roman" panose="02020603050405020304" pitchFamily="18" charset="0"/>
              </a:rPr>
              <a:t> </a:t>
            </a:r>
            <a:r>
              <a:rPr sz="2400" b="1" spc="75" dirty="0">
                <a:solidFill>
                  <a:srgbClr val="080808"/>
                </a:solidFill>
                <a:latin typeface="Times New Roman" panose="02020603050405020304" pitchFamily="18" charset="0"/>
                <a:cs typeface="Times New Roman" panose="02020603050405020304" pitchFamily="18" charset="0"/>
              </a:rPr>
              <a:t>fine-</a:t>
            </a:r>
            <a:r>
              <a:rPr sz="2400" b="1" spc="80" dirty="0">
                <a:solidFill>
                  <a:srgbClr val="080808"/>
                </a:solidFill>
                <a:latin typeface="Times New Roman" panose="02020603050405020304" pitchFamily="18" charset="0"/>
                <a:cs typeface="Times New Roman" panose="02020603050405020304" pitchFamily="18" charset="0"/>
              </a:rPr>
              <a:t>tuning</a:t>
            </a:r>
            <a:endParaRPr sz="2400" b="1" dirty="0">
              <a:solidFill>
                <a:srgbClr val="080808"/>
              </a:solidFill>
              <a:latin typeface="Times New Roman" panose="02020603050405020304" pitchFamily="18" charset="0"/>
              <a:cs typeface="Times New Roman" panose="02020603050405020304" pitchFamily="18" charset="0"/>
            </a:endParaRPr>
          </a:p>
          <a:p>
            <a:pPr marL="13335" marR="5080" indent="-1270">
              <a:lnSpc>
                <a:spcPts val="1800"/>
              </a:lnSpc>
              <a:spcBef>
                <a:spcPts val="760"/>
              </a:spcBef>
            </a:pPr>
            <a:r>
              <a:rPr spc="-60" dirty="0">
                <a:solidFill>
                  <a:srgbClr val="080808"/>
                </a:solidFill>
                <a:latin typeface="Times New Roman" panose="02020603050405020304" pitchFamily="18" charset="0"/>
                <a:cs typeface="Times New Roman" panose="02020603050405020304" pitchFamily="18" charset="0"/>
              </a:rPr>
              <a:t>Train</a:t>
            </a:r>
            <a:r>
              <a:rPr spc="-25" dirty="0">
                <a:solidFill>
                  <a:srgbClr val="080808"/>
                </a:solidFill>
                <a:latin typeface="Times New Roman" panose="02020603050405020304" pitchFamily="18" charset="0"/>
                <a:cs typeface="Times New Roman" panose="02020603050405020304" pitchFamily="18" charset="0"/>
              </a:rPr>
              <a:t> </a:t>
            </a:r>
            <a:r>
              <a:rPr dirty="0">
                <a:solidFill>
                  <a:srgbClr val="080808"/>
                </a:solidFill>
                <a:latin typeface="Times New Roman" panose="02020603050405020304" pitchFamily="18" charset="0"/>
                <a:cs typeface="Times New Roman" panose="02020603050405020304" pitchFamily="18" charset="0"/>
              </a:rPr>
              <a:t>dedicated</a:t>
            </a:r>
            <a:r>
              <a:rPr spc="-10" dirty="0">
                <a:solidFill>
                  <a:srgbClr val="080808"/>
                </a:solidFill>
                <a:latin typeface="Times New Roman" panose="02020603050405020304" pitchFamily="18" charset="0"/>
                <a:cs typeface="Times New Roman" panose="02020603050405020304" pitchFamily="18" charset="0"/>
              </a:rPr>
              <a:t> </a:t>
            </a:r>
            <a:r>
              <a:rPr spc="-20" dirty="0">
                <a:solidFill>
                  <a:srgbClr val="080808"/>
                </a:solidFill>
                <a:latin typeface="Times New Roman" panose="02020603050405020304" pitchFamily="18" charset="0"/>
                <a:cs typeface="Times New Roman" panose="02020603050405020304" pitchFamily="18" charset="0"/>
              </a:rPr>
              <a:t>LLMs</a:t>
            </a:r>
            <a:r>
              <a:rPr spc="-75" dirty="0">
                <a:solidFill>
                  <a:srgbClr val="080808"/>
                </a:solidFill>
                <a:latin typeface="Times New Roman" panose="02020603050405020304" pitchFamily="18" charset="0"/>
                <a:cs typeface="Times New Roman" panose="02020603050405020304" pitchFamily="18" charset="0"/>
              </a:rPr>
              <a:t> </a:t>
            </a:r>
            <a:r>
              <a:rPr spc="-25" dirty="0">
                <a:solidFill>
                  <a:srgbClr val="080808"/>
                </a:solidFill>
                <a:latin typeface="Times New Roman" panose="02020603050405020304" pitchFamily="18" charset="0"/>
                <a:cs typeface="Times New Roman" panose="02020603050405020304" pitchFamily="18" charset="0"/>
              </a:rPr>
              <a:t>on </a:t>
            </a:r>
            <a:r>
              <a:rPr dirty="0">
                <a:solidFill>
                  <a:srgbClr val="080808"/>
                </a:solidFill>
                <a:latin typeface="Times New Roman" panose="02020603050405020304" pitchFamily="18" charset="0"/>
                <a:cs typeface="Times New Roman" panose="02020603050405020304" pitchFamily="18" charset="0"/>
              </a:rPr>
              <a:t>misinformation</a:t>
            </a:r>
            <a:r>
              <a:rPr spc="-90" dirty="0">
                <a:solidFill>
                  <a:srgbClr val="080808"/>
                </a:solidFill>
                <a:latin typeface="Times New Roman" panose="02020603050405020304" pitchFamily="18" charset="0"/>
                <a:cs typeface="Times New Roman" panose="02020603050405020304" pitchFamily="18" charset="0"/>
              </a:rPr>
              <a:t> </a:t>
            </a:r>
            <a:r>
              <a:rPr dirty="0">
                <a:solidFill>
                  <a:srgbClr val="080808"/>
                </a:solidFill>
                <a:latin typeface="Times New Roman" panose="02020603050405020304" pitchFamily="18" charset="0"/>
                <a:cs typeface="Times New Roman" panose="02020603050405020304" pitchFamily="18" charset="0"/>
              </a:rPr>
              <a:t>corpora</a:t>
            </a:r>
            <a:r>
              <a:rPr spc="105" dirty="0">
                <a:solidFill>
                  <a:srgbClr val="080808"/>
                </a:solidFill>
                <a:latin typeface="Times New Roman" panose="02020603050405020304" pitchFamily="18" charset="0"/>
                <a:cs typeface="Times New Roman" panose="02020603050405020304" pitchFamily="18" charset="0"/>
              </a:rPr>
              <a:t> </a:t>
            </a:r>
            <a:r>
              <a:rPr dirty="0">
                <a:solidFill>
                  <a:srgbClr val="080808"/>
                </a:solidFill>
                <a:latin typeface="Times New Roman" panose="02020603050405020304" pitchFamily="18" charset="0"/>
                <a:cs typeface="Times New Roman" panose="02020603050405020304" pitchFamily="18" charset="0"/>
              </a:rPr>
              <a:t>for</a:t>
            </a:r>
            <a:r>
              <a:rPr spc="5" dirty="0">
                <a:solidFill>
                  <a:srgbClr val="080808"/>
                </a:solidFill>
                <a:latin typeface="Times New Roman" panose="02020603050405020304" pitchFamily="18" charset="0"/>
                <a:cs typeface="Times New Roman" panose="02020603050405020304" pitchFamily="18" charset="0"/>
              </a:rPr>
              <a:t> </a:t>
            </a:r>
            <a:r>
              <a:rPr spc="-10" dirty="0">
                <a:solidFill>
                  <a:srgbClr val="080808"/>
                </a:solidFill>
                <a:latin typeface="Times New Roman" panose="02020603050405020304" pitchFamily="18" charset="0"/>
                <a:cs typeface="Times New Roman" panose="02020603050405020304" pitchFamily="18" charset="0"/>
              </a:rPr>
              <a:t>healthcare </a:t>
            </a:r>
            <a:r>
              <a:rPr spc="-20" dirty="0">
                <a:solidFill>
                  <a:srgbClr val="080808"/>
                </a:solidFill>
                <a:latin typeface="Times New Roman" panose="02020603050405020304" pitchFamily="18" charset="0"/>
                <a:cs typeface="Times New Roman" panose="02020603050405020304" pitchFamily="18" charset="0"/>
              </a:rPr>
              <a:t>and</a:t>
            </a:r>
            <a:r>
              <a:rPr spc="-70" dirty="0">
                <a:solidFill>
                  <a:srgbClr val="080808"/>
                </a:solidFill>
                <a:latin typeface="Times New Roman" panose="02020603050405020304" pitchFamily="18" charset="0"/>
                <a:cs typeface="Times New Roman" panose="02020603050405020304" pitchFamily="18" charset="0"/>
              </a:rPr>
              <a:t> </a:t>
            </a:r>
            <a:r>
              <a:rPr dirty="0">
                <a:solidFill>
                  <a:srgbClr val="080808"/>
                </a:solidFill>
                <a:latin typeface="Times New Roman" panose="02020603050405020304" pitchFamily="18" charset="0"/>
                <a:cs typeface="Times New Roman" panose="02020603050405020304" pitchFamily="18" charset="0"/>
              </a:rPr>
              <a:t>political</a:t>
            </a:r>
            <a:r>
              <a:rPr spc="-50" dirty="0">
                <a:solidFill>
                  <a:srgbClr val="080808"/>
                </a:solidFill>
                <a:latin typeface="Times New Roman" panose="02020603050405020304" pitchFamily="18" charset="0"/>
                <a:cs typeface="Times New Roman" panose="02020603050405020304" pitchFamily="18" charset="0"/>
              </a:rPr>
              <a:t> </a:t>
            </a:r>
            <a:r>
              <a:rPr spc="-10" dirty="0">
                <a:solidFill>
                  <a:srgbClr val="080808"/>
                </a:solidFill>
                <a:latin typeface="Times New Roman" panose="02020603050405020304" pitchFamily="18" charset="0"/>
                <a:cs typeface="Times New Roman" panose="02020603050405020304" pitchFamily="18" charset="0"/>
              </a:rPr>
              <a:t>domains.</a:t>
            </a:r>
            <a:endParaRPr dirty="0">
              <a:solidFill>
                <a:srgbClr val="080808"/>
              </a:solidFill>
              <a:latin typeface="Times New Roman" panose="02020603050405020304" pitchFamily="18" charset="0"/>
              <a:cs typeface="Times New Roman" panose="02020603050405020304" pitchFamily="18" charset="0"/>
            </a:endParaRPr>
          </a:p>
        </p:txBody>
      </p:sp>
      <p:sp>
        <p:nvSpPr>
          <p:cNvPr id="9" name="object 9"/>
          <p:cNvSpPr txBox="1"/>
          <p:nvPr/>
        </p:nvSpPr>
        <p:spPr>
          <a:xfrm>
            <a:off x="9502886" y="5450542"/>
            <a:ext cx="2976982" cy="1273426"/>
          </a:xfrm>
          <a:prstGeom prst="rect">
            <a:avLst/>
          </a:prstGeom>
        </p:spPr>
        <p:txBody>
          <a:bodyPr vert="horz" wrap="square" lIns="0" tIns="107950" rIns="0" bIns="0" rtlCol="0">
            <a:spAutoFit/>
          </a:bodyPr>
          <a:lstStyle/>
          <a:p>
            <a:pPr marL="12700">
              <a:lnSpc>
                <a:spcPct val="100000"/>
              </a:lnSpc>
              <a:spcBef>
                <a:spcPts val="850"/>
              </a:spcBef>
            </a:pPr>
            <a:r>
              <a:rPr sz="2400" b="1" spc="70" dirty="0">
                <a:solidFill>
                  <a:srgbClr val="080808"/>
                </a:solidFill>
                <a:latin typeface="Times New Roman" panose="02020603050405020304" pitchFamily="18" charset="0"/>
                <a:cs typeface="Times New Roman" panose="02020603050405020304" pitchFamily="18" charset="0"/>
              </a:rPr>
              <a:t>Cross-</a:t>
            </a:r>
            <a:r>
              <a:rPr sz="2400" b="1" spc="65" dirty="0">
                <a:solidFill>
                  <a:srgbClr val="080808"/>
                </a:solidFill>
                <a:latin typeface="Times New Roman" panose="02020603050405020304" pitchFamily="18" charset="0"/>
                <a:cs typeface="Times New Roman" panose="02020603050405020304" pitchFamily="18" charset="0"/>
              </a:rPr>
              <a:t>platform</a:t>
            </a:r>
            <a:r>
              <a:rPr sz="2400" b="1" spc="-120" dirty="0">
                <a:solidFill>
                  <a:srgbClr val="080808"/>
                </a:solidFill>
                <a:latin typeface="Times New Roman" panose="02020603050405020304" pitchFamily="18" charset="0"/>
                <a:cs typeface="Times New Roman" panose="02020603050405020304" pitchFamily="18" charset="0"/>
              </a:rPr>
              <a:t> </a:t>
            </a:r>
            <a:r>
              <a:rPr sz="2400" b="1" spc="-10" dirty="0">
                <a:solidFill>
                  <a:srgbClr val="080808"/>
                </a:solidFill>
                <a:latin typeface="Times New Roman" panose="02020603050405020304" pitchFamily="18" charset="0"/>
                <a:cs typeface="Times New Roman" panose="02020603050405020304" pitchFamily="18" charset="0"/>
              </a:rPr>
              <a:t>reach</a:t>
            </a:r>
            <a:endParaRPr sz="2400" b="1" dirty="0">
              <a:solidFill>
                <a:srgbClr val="080808"/>
              </a:solidFill>
              <a:latin typeface="Times New Roman" panose="02020603050405020304" pitchFamily="18" charset="0"/>
              <a:cs typeface="Times New Roman" panose="02020603050405020304" pitchFamily="18" charset="0"/>
            </a:endParaRPr>
          </a:p>
          <a:p>
            <a:pPr marL="16510" marR="5080" indent="6985">
              <a:lnSpc>
                <a:spcPts val="1800"/>
              </a:lnSpc>
              <a:spcBef>
                <a:spcPts val="750"/>
              </a:spcBef>
            </a:pPr>
            <a:r>
              <a:rPr dirty="0">
                <a:solidFill>
                  <a:srgbClr val="080808"/>
                </a:solidFill>
                <a:latin typeface="Times New Roman" panose="02020603050405020304" pitchFamily="18" charset="0"/>
                <a:cs typeface="Times New Roman" panose="02020603050405020304" pitchFamily="18" charset="0"/>
              </a:rPr>
              <a:t>Adapt the framework beyond Twitter and Reddit for broader real -world generalization.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52450" y="3276600"/>
            <a:ext cx="2895600" cy="847725"/>
          </a:xfrm>
          <a:prstGeom prst="rect">
            <a:avLst/>
          </a:prstGeom>
        </p:spPr>
      </p:pic>
      <p:pic>
        <p:nvPicPr>
          <p:cNvPr id="3" name="object 3"/>
          <p:cNvPicPr/>
          <p:nvPr/>
        </p:nvPicPr>
        <p:blipFill>
          <a:blip r:embed="rId3" cstate="print"/>
          <a:stretch>
            <a:fillRect/>
          </a:stretch>
        </p:blipFill>
        <p:spPr>
          <a:xfrm>
            <a:off x="3629025" y="3609975"/>
            <a:ext cx="1609725" cy="819150"/>
          </a:xfrm>
          <a:prstGeom prst="rect">
            <a:avLst/>
          </a:prstGeom>
        </p:spPr>
      </p:pic>
      <p:pic>
        <p:nvPicPr>
          <p:cNvPr id="4" name="object 4"/>
          <p:cNvPicPr/>
          <p:nvPr/>
        </p:nvPicPr>
        <p:blipFill>
          <a:blip r:embed="rId4" cstate="print"/>
          <a:stretch>
            <a:fillRect/>
          </a:stretch>
        </p:blipFill>
        <p:spPr>
          <a:xfrm>
            <a:off x="7762875" y="757237"/>
            <a:ext cx="6281737" cy="6815137"/>
          </a:xfrm>
          <a:prstGeom prst="rect">
            <a:avLst/>
          </a:prstGeom>
        </p:spPr>
      </p:pic>
      <p:sp>
        <p:nvSpPr>
          <p:cNvPr id="5" name="object 5"/>
          <p:cNvSpPr txBox="1"/>
          <p:nvPr/>
        </p:nvSpPr>
        <p:spPr>
          <a:xfrm>
            <a:off x="524753" y="7284508"/>
            <a:ext cx="5205730" cy="327025"/>
          </a:xfrm>
          <a:prstGeom prst="rect">
            <a:avLst/>
          </a:prstGeom>
        </p:spPr>
        <p:txBody>
          <a:bodyPr vert="horz" wrap="square" lIns="0" tIns="16510" rIns="0" bIns="0" rtlCol="0">
            <a:spAutoFit/>
          </a:bodyPr>
          <a:lstStyle/>
          <a:p>
            <a:pPr marL="12700">
              <a:lnSpc>
                <a:spcPct val="100000"/>
              </a:lnSpc>
              <a:spcBef>
                <a:spcPts val="130"/>
              </a:spcBef>
            </a:pPr>
            <a:r>
              <a:rPr sz="1950" spc="-40" dirty="0">
                <a:solidFill>
                  <a:srgbClr val="080808"/>
                </a:solidFill>
                <a:latin typeface="Arial MT"/>
                <a:cs typeface="Arial MT"/>
              </a:rPr>
              <a:t>University</a:t>
            </a:r>
            <a:r>
              <a:rPr sz="1950" spc="-50" dirty="0">
                <a:solidFill>
                  <a:srgbClr val="080808"/>
                </a:solidFill>
                <a:latin typeface="Arial MT"/>
                <a:cs typeface="Arial MT"/>
              </a:rPr>
              <a:t> </a:t>
            </a:r>
            <a:r>
              <a:rPr sz="1950" spc="-45" dirty="0">
                <a:solidFill>
                  <a:srgbClr val="080808"/>
                </a:solidFill>
                <a:latin typeface="Arial MT"/>
                <a:cs typeface="Arial MT"/>
              </a:rPr>
              <a:t>of</a:t>
            </a:r>
            <a:r>
              <a:rPr sz="1950" spc="-90" dirty="0">
                <a:solidFill>
                  <a:srgbClr val="080808"/>
                </a:solidFill>
                <a:latin typeface="Arial MT"/>
                <a:cs typeface="Arial MT"/>
              </a:rPr>
              <a:t> </a:t>
            </a:r>
            <a:r>
              <a:rPr sz="1950" spc="-45" dirty="0">
                <a:solidFill>
                  <a:srgbClr val="080808"/>
                </a:solidFill>
                <a:latin typeface="Arial MT"/>
                <a:cs typeface="Arial MT"/>
              </a:rPr>
              <a:t>Engineering</a:t>
            </a:r>
            <a:r>
              <a:rPr sz="1950" spc="-55" dirty="0">
                <a:solidFill>
                  <a:srgbClr val="080808"/>
                </a:solidFill>
                <a:latin typeface="Arial MT"/>
                <a:cs typeface="Arial MT"/>
              </a:rPr>
              <a:t> </a:t>
            </a:r>
            <a:r>
              <a:rPr sz="1950" dirty="0">
                <a:solidFill>
                  <a:srgbClr val="080808"/>
                </a:solidFill>
                <a:latin typeface="Arial MT"/>
                <a:cs typeface="Arial MT"/>
              </a:rPr>
              <a:t>&amp;</a:t>
            </a:r>
            <a:r>
              <a:rPr sz="1950" spc="-130" dirty="0">
                <a:solidFill>
                  <a:srgbClr val="080808"/>
                </a:solidFill>
                <a:latin typeface="Arial MT"/>
                <a:cs typeface="Arial MT"/>
              </a:rPr>
              <a:t> </a:t>
            </a:r>
            <a:r>
              <a:rPr sz="1950" spc="-50" dirty="0">
                <a:solidFill>
                  <a:srgbClr val="080808"/>
                </a:solidFill>
                <a:latin typeface="Arial MT"/>
                <a:cs typeface="Arial MT"/>
              </a:rPr>
              <a:t>Management,</a:t>
            </a:r>
            <a:r>
              <a:rPr sz="1950" spc="-60" dirty="0">
                <a:solidFill>
                  <a:srgbClr val="080808"/>
                </a:solidFill>
                <a:latin typeface="Arial MT"/>
                <a:cs typeface="Arial MT"/>
              </a:rPr>
              <a:t> </a:t>
            </a:r>
            <a:r>
              <a:rPr sz="1950" spc="-55" dirty="0">
                <a:solidFill>
                  <a:srgbClr val="080808"/>
                </a:solidFill>
                <a:latin typeface="Arial MT"/>
                <a:cs typeface="Arial MT"/>
              </a:rPr>
              <a:t>Kolkata</a:t>
            </a:r>
            <a:endParaRPr sz="1950">
              <a:solidFill>
                <a:srgbClr val="080808"/>
              </a:solidFill>
              <a:latin typeface="Arial MT"/>
              <a:cs typeface="Arial M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E0E0E0"/>
      </a:dk1>
      <a:lt1>
        <a:sysClr val="window" lastClr="20202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198</TotalTime>
  <Words>1664</Words>
  <Application>Microsoft Office PowerPoint</Application>
  <PresentationFormat>Custom</PresentationFormat>
  <Paragraphs>210</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Arial MT</vt:lpstr>
      <vt:lpstr>Cambria</vt:lpstr>
      <vt:lpstr>Courier New</vt:lpstr>
      <vt:lpstr>Times New Roman</vt:lpstr>
      <vt:lpstr>Office Theme</vt:lpstr>
      <vt:lpstr>Emotion-Aware, Fact-Grounded LLM-Augmented Contrastive Learning for Misinformation Detection in Social Networks</vt:lpstr>
      <vt:lpstr>Table of contents</vt:lpstr>
      <vt:lpstr>Why detection matters</vt:lpstr>
      <vt:lpstr>Why misinformation detection is challenging</vt:lpstr>
      <vt:lpstr>Critical gaps in current LALC Frameworks</vt:lpstr>
      <vt:lpstr>PowerPoint Presentation</vt:lpstr>
      <vt:lpstr>PowerPoint Presentation</vt:lpstr>
      <vt:lpstr>PowerPoint Presentation</vt:lpstr>
      <vt:lpstr>PowerPoint Presentation</vt:lpstr>
      <vt:lpstr>Emotion extraction</vt:lpstr>
      <vt:lpstr>PowerPoint Presentation</vt:lpstr>
      <vt:lpstr>PowerPoint Presentation</vt:lpstr>
      <vt:lpstr>Technical Architecture</vt:lpstr>
      <vt:lpstr>Class distribution across evaluation set</vt:lpstr>
      <vt:lpstr>PowerPoint Presentation</vt:lpstr>
      <vt:lpstr>Classification performance Heatmap</vt:lpstr>
      <vt:lpstr>CONCLUSION</vt:lpstr>
      <vt:lpstr>Future scope Six directions to extend this framework</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Trident Apollo</dc:creator>
  <cp:lastModifiedBy>DEBRUP CHAKRABORTY</cp:lastModifiedBy>
  <cp:revision>11</cp:revision>
  <dcterms:created xsi:type="dcterms:W3CDTF">2026-05-12T14:26:17Z</dcterms:created>
  <dcterms:modified xsi:type="dcterms:W3CDTF">2026-05-13T15:21:35Z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2026-05-12T00:00:00Z</vt:filetime>
  </property>
  <property fmtid="{D5CDD505-2E9C-101B-9397-08002B2CF9AE}" pid="3" name="Creator">
    <vt:lpwstr>Chronicle (https://chroniclehq.com)</vt:lpwstr>
  </property>
  <property fmtid="{D5CDD505-2E9C-101B-9397-08002B2CF9AE}" pid="4" name="LastSaved">
    <vt:filetime>2026-05-12T00:00:00Z</vt:filetime>
  </property>
  <property fmtid="{D5CDD505-2E9C-101B-9397-08002B2CF9AE}" pid="5" name="Producer">
    <vt:lpwstr>iLovePDF</vt:lpwstr>
  </property>
</Properties>
</file>